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9"/>
  </p:notesMasterIdLst>
  <p:sldIdLst>
    <p:sldId id="256" r:id="rId3"/>
    <p:sldId id="268" r:id="rId4"/>
    <p:sldId id="257" r:id="rId5"/>
    <p:sldId id="269" r:id="rId6"/>
    <p:sldId id="271" r:id="rId7"/>
    <p:sldId id="272" r:id="rId8"/>
    <p:sldId id="259" r:id="rId9"/>
    <p:sldId id="280" r:id="rId10"/>
    <p:sldId id="279" r:id="rId11"/>
    <p:sldId id="260" r:id="rId12"/>
    <p:sldId id="274" r:id="rId13"/>
    <p:sldId id="273" r:id="rId14"/>
    <p:sldId id="276" r:id="rId15"/>
    <p:sldId id="277" r:id="rId16"/>
    <p:sldId id="278" r:id="rId17"/>
    <p:sldId id="267"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46" autoAdjust="0"/>
    <p:restoredTop sz="70502" autoAdjust="0"/>
  </p:normalViewPr>
  <p:slideViewPr>
    <p:cSldViewPr snapToGrid="0">
      <p:cViewPr varScale="1">
        <p:scale>
          <a:sx n="73" d="100"/>
          <a:sy n="73" d="100"/>
        </p:scale>
        <p:origin x="1254" y="3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11.05.2026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A4EAA-489F-D2A8-69E0-4C3F1A75789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E83C5F-B4FB-B067-5BE6-ABBA55D9DDD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A480AE7-5D5F-118B-18DD-7994B374FFF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4551BF2-0DB3-9D1F-194A-A337473D5E2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2ED538A-BEFA-3852-4162-D56C294F2B91}"/>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3FC05295-9790-AA61-7D03-A51FA2480FD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39AFEF7-A107-75AF-8AF4-14EA41250C9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793428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0D894-764D-7A8A-EFE7-B188139F9189}"/>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7ECEC7-AC51-EE77-A384-99D26CB1064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78B59CE-857B-2B49-975B-DED47273DFE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B95A449D-B792-6DF1-BD6C-5C9A07B2375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549D889-4703-0ECE-80A2-BE8F9244DF6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950E7EF3-CC2E-9AF9-6468-30E15B8A9F1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E5AA24F-4324-F030-DD3D-4B7E05A0685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5547221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BDA7E-2C2D-6A71-78DC-FA78573B7A4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1836B83-B388-B310-8F3D-7D6FB6E26D6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8946011-7AD7-11EF-B4EF-F5B857F7467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B77B05E4-5B1B-9E13-D017-5DECBD46329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5C82930-E83A-F0C4-6F85-69735FB18F8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419577CD-02E8-9BEA-829C-02A70D96EB7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6C07C1A-43B8-24C3-1116-4487076EFE3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806415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5FF5A-5713-4639-316E-9FA03A86A39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7D19391-DB98-3842-E785-DEBA6672452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C79727F-528B-1584-D41D-6DD1DD929BE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CCAB984-E2F0-7363-99A6-A9E9F949E95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9F04FDF-61F4-85C5-F99D-FB52F993E030}"/>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7F3149CF-42C1-4116-3664-684A4AA44AC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155AFA7-D8B0-F16C-1396-94D01BF2C2E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1558381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8F8DB-83E0-5DED-0FBE-9D9B539EA60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6EE77B0-0C4F-063D-9CD8-3238E716B0A3}"/>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4E12FAE-4EC8-E42C-6812-0E95171C783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0D72046-8FBE-2F5D-0D06-5E71094C471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3E02FA7-FC74-4A3B-713E-C6129ADD70B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rPr lang="en-US" altLang="zh-CN" sz="1400" b="1" i="0" u="none" strike="noStrike" kern="1200" dirty="0" err="1">
                <a:solidFill>
                  <a:schemeClr val="tx1"/>
                </a:solidFill>
                <a:effectLst/>
                <a:latin typeface="+mn-lt"/>
                <a:ea typeface="+mn-ea"/>
                <a:cs typeface="+mn-cs"/>
              </a:rPr>
              <a:t>创新特色概述</a:t>
            </a:r>
            <a:endParaRPr lang="zh-CN" altLang="zh-CN" sz="1400" b="1" i="0" u="none" strike="noStrike" kern="1200" dirty="0">
              <a:solidFill>
                <a:schemeClr val="tx1"/>
              </a:solidFill>
              <a:effectLst/>
              <a:latin typeface="+mn-lt"/>
              <a:ea typeface="+mn-ea"/>
              <a:cs typeface="+mn-cs"/>
            </a:endParaRPr>
          </a:p>
          <a:p>
            <a:pPr lvl="0"/>
            <a:r>
              <a:rPr lang="en-US" altLang="zh-CN" sz="1400" b="0" i="0" u="none" strike="noStrike" kern="1200" dirty="0" err="1">
                <a:solidFill>
                  <a:schemeClr val="tx1"/>
                </a:solidFill>
                <a:effectLst/>
                <a:latin typeface="+mn-lt"/>
                <a:ea typeface="+mn-ea"/>
                <a:cs typeface="+mn-cs"/>
              </a:rPr>
              <a:t>质量维度更全面：从传统缺失、重复扩展到分布偏差、鲁棒性风险和物理一致性</a:t>
            </a:r>
            <a:r>
              <a:rPr lang="en-US" altLang="zh-CN" sz="1400" b="0" i="0" u="none" strike="noStrike" kern="1200" dirty="0">
                <a:solidFill>
                  <a:schemeClr val="tx1"/>
                </a:solidFill>
                <a:effectLst/>
                <a:latin typeface="+mn-lt"/>
                <a:ea typeface="+mn-ea"/>
                <a:cs typeface="+mn-cs"/>
              </a:rPr>
              <a:t>。</a:t>
            </a:r>
            <a:endParaRPr lang="zh-CN" altLang="zh-CN" sz="1400" b="0" i="0" u="none" strike="noStrike" kern="1200" dirty="0">
              <a:solidFill>
                <a:schemeClr val="tx1"/>
              </a:solidFill>
              <a:effectLst/>
              <a:latin typeface="+mn-lt"/>
              <a:ea typeface="+mn-ea"/>
              <a:cs typeface="+mn-cs"/>
            </a:endParaRPr>
          </a:p>
          <a:p>
            <a:pPr lvl="0"/>
            <a:r>
              <a:rPr lang="en-US" altLang="zh-CN" sz="1400" b="0" i="0" u="none" strike="noStrike" kern="1200" dirty="0" err="1">
                <a:solidFill>
                  <a:schemeClr val="tx1"/>
                </a:solidFill>
                <a:effectLst/>
                <a:latin typeface="+mn-lt"/>
                <a:ea typeface="+mn-ea"/>
                <a:cs typeface="+mn-cs"/>
              </a:rPr>
              <a:t>系统设计可扩展：后端统一调度，算法服务独立接入，便于后续替换或新增检测引擎</a:t>
            </a:r>
            <a:r>
              <a:rPr lang="en-US" altLang="zh-CN" sz="1400" b="0" i="0" u="none" strike="noStrike" kern="1200" dirty="0">
                <a:solidFill>
                  <a:schemeClr val="tx1"/>
                </a:solidFill>
                <a:effectLst/>
                <a:latin typeface="+mn-lt"/>
                <a:ea typeface="+mn-ea"/>
                <a:cs typeface="+mn-cs"/>
              </a:rPr>
              <a:t>。</a:t>
            </a:r>
            <a:endParaRPr lang="zh-CN" altLang="zh-CN" sz="1400" b="0" i="0" u="none" strike="noStrike" kern="1200" dirty="0">
              <a:solidFill>
                <a:schemeClr val="tx1"/>
              </a:solidFill>
              <a:effectLst/>
              <a:latin typeface="+mn-lt"/>
              <a:ea typeface="+mn-ea"/>
              <a:cs typeface="+mn-cs"/>
            </a:endParaRPr>
          </a:p>
          <a:p>
            <a:pPr lvl="0"/>
            <a:r>
              <a:rPr lang="en-US" altLang="zh-CN" sz="1400" b="0" i="0" u="none" strike="noStrike" kern="1200" dirty="0" err="1">
                <a:solidFill>
                  <a:schemeClr val="tx1"/>
                </a:solidFill>
                <a:effectLst/>
                <a:latin typeface="+mn-lt"/>
                <a:ea typeface="+mn-ea"/>
                <a:cs typeface="+mn-cs"/>
              </a:rPr>
              <a:t>面向多模态数据：同时考虑结构化表格、文本、时序和图像数据的质量风险</a:t>
            </a:r>
            <a:r>
              <a:rPr lang="en-US" altLang="zh-CN" sz="1400" b="0" i="0" u="none" strike="noStrike" kern="1200" dirty="0">
                <a:solidFill>
                  <a:schemeClr val="tx1"/>
                </a:solidFill>
                <a:effectLst/>
                <a:latin typeface="+mn-lt"/>
                <a:ea typeface="+mn-ea"/>
                <a:cs typeface="+mn-cs"/>
              </a:rPr>
              <a:t>。</a:t>
            </a:r>
            <a:endParaRPr lang="zh-CN" altLang="zh-CN" sz="1400" b="0" i="0" u="none" strike="noStrike" kern="1200" dirty="0">
              <a:solidFill>
                <a:schemeClr val="tx1"/>
              </a:solidFill>
              <a:effectLst/>
              <a:latin typeface="+mn-lt"/>
              <a:ea typeface="+mn-ea"/>
              <a:cs typeface="+mn-cs"/>
            </a:endParaRPr>
          </a:p>
          <a:p>
            <a:pPr lvl="0"/>
            <a:r>
              <a:rPr lang="en-US" altLang="zh-CN" sz="1400" b="0" i="0" u="none" strike="noStrike" kern="1200" dirty="0" err="1">
                <a:solidFill>
                  <a:schemeClr val="tx1"/>
                </a:solidFill>
                <a:effectLst/>
                <a:latin typeface="+mn-lt"/>
                <a:ea typeface="+mn-ea"/>
                <a:cs typeface="+mn-cs"/>
              </a:rPr>
              <a:t>输出可解释：每类引擎均输出指标、问题类型、样本列表、图表数据和整改建议</a:t>
            </a:r>
            <a:r>
              <a:rPr lang="en-US" altLang="zh-CN" sz="1400" b="0" i="0" u="none" strike="noStrike" kern="1200" dirty="0">
                <a:solidFill>
                  <a:schemeClr val="tx1"/>
                </a:solidFill>
                <a:effectLst/>
                <a:latin typeface="+mn-lt"/>
                <a:ea typeface="+mn-ea"/>
                <a:cs typeface="+mn-cs"/>
              </a:rPr>
              <a:t>。</a:t>
            </a:r>
            <a:endParaRPr lang="zh-CN" altLang="zh-CN" sz="1400" b="0" i="0" u="none" strike="noStrike" kern="1200" dirty="0">
              <a:solidFill>
                <a:schemeClr val="tx1"/>
              </a:solidFill>
              <a:effectLst/>
              <a:latin typeface="+mn-lt"/>
              <a:ea typeface="+mn-ea"/>
              <a:cs typeface="+mn-cs"/>
            </a:endParaRPr>
          </a:p>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D8CAAA6F-609A-4131-E830-AA063BA46FC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67FF3CB-A7A8-3D1A-6E62-F1038CC5858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9260826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DFCD4-DE5A-9F5F-07B9-347D1D11E6E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0D0856F-4738-9EDD-F891-A1F27AF726C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0254F47-C30B-FFEC-2020-1E28AE95C9E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1F135CD-CFE0-1A34-BBBF-7150D96BCF2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8141FE0-4759-9413-827C-7D42CE82A21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我们系统的核心是四大扫描引擎，它们各司其职，共同构建了一个全方位的数据质量守护体系</a:t>
            </a:r>
            <a:r>
              <a:rPr lang="en-US" sz="1400" b="0" i="0" u="none" strike="noStrike" dirty="0">
                <a:solidFill>
                  <a:srgbClr val="000000"/>
                </a:solidFill>
              </a:rPr>
              <a:t>。</a:t>
            </a:r>
          </a:p>
        </p:txBody>
      </p:sp>
      <p:sp>
        <p:nvSpPr>
          <p:cNvPr id="6" name="Footer Placeholder 5">
            <a:extLst>
              <a:ext uri="{FF2B5EF4-FFF2-40B4-BE49-F238E27FC236}">
                <a16:creationId xmlns:a16="http://schemas.microsoft.com/office/drawing/2014/main" id="{FC84ABBB-7914-02F9-3DE1-72AFA78CDA7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D2E5E57-F2FC-777F-27F0-0E6A7FC6C63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7808373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C034E-2173-E082-7FB0-4E7CC0E8F5C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511D936-39D3-969C-94AD-FC0B2BEDFCA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1B649B7-6C47-8821-3C90-8F90BB84749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6CDEF36-5081-93CF-06F2-9A006D97A6A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54367D0-E8D7-5C9E-3C80-C09BF639012C}"/>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96398B31-E441-06FE-E239-7C45E068E1D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BC06C245-41BC-A072-EECC-34927DB08783}"/>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059272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B3667-C570-EE7E-7AF6-9ADFEA019B3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CAA6915-CAE9-1A02-F0AB-D7F0A7B88073}"/>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88FF88D-2496-9647-F2A2-A7CD7FEC3C7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6795C822-A902-ECF0-FEF5-D6B9AAB8C94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1AB435B-895E-867D-EFAA-B924206DB80C}"/>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dirty="0">
                <a:solidFill>
                  <a:srgbClr val="000000"/>
                </a:solidFill>
              </a:rPr>
              <a:t>本报告围绕项目已经设计的四类扫描引擎，梳理可支撑初期汇报的代表性论文、算法思想与工程落地方式。调研重点不是堆论文，而是把论文方法转化为可接入后端平台的指标、输入输出和优先级。</a:t>
            </a:r>
          </a:p>
          <a:p>
            <a:pPr indent="0" algn="l">
              <a:lnSpc>
                <a:spcPct val="100000"/>
              </a:lnSpc>
            </a:pPr>
            <a:r>
              <a:rPr lang="en-US" altLang="zh-CN" sz="1400" b="0" i="0" u="none" strike="noStrike" dirty="0">
                <a:solidFill>
                  <a:srgbClr val="000000"/>
                </a:solidFill>
              </a:rPr>
              <a:t>• </a:t>
            </a:r>
            <a:r>
              <a:rPr lang="zh-CN" altLang="en-US" sz="1400" b="0" i="0" u="none" strike="noStrike" dirty="0">
                <a:solidFill>
                  <a:srgbClr val="000000"/>
                </a:solidFill>
              </a:rPr>
              <a:t>分布偏差：回答数据集中是否存在类别、概念、模态或采样层面的偏斜。</a:t>
            </a:r>
          </a:p>
          <a:p>
            <a:pPr indent="0" algn="l">
              <a:lnSpc>
                <a:spcPct val="100000"/>
              </a:lnSpc>
            </a:pPr>
            <a:r>
              <a:rPr lang="en-US" altLang="zh-CN" sz="1400" b="0" i="0" u="none" strike="noStrike" dirty="0">
                <a:solidFill>
                  <a:srgbClr val="000000"/>
                </a:solidFill>
              </a:rPr>
              <a:t>• </a:t>
            </a:r>
            <a:r>
              <a:rPr lang="zh-CN" altLang="en-US" sz="1400" b="0" i="0" u="none" strike="noStrike" dirty="0">
                <a:solidFill>
                  <a:srgbClr val="000000"/>
                </a:solidFill>
              </a:rPr>
              <a:t>脏数据：回答数据是否存在缺失、重复、格式异常、标签错误和图像基础质量问题。</a:t>
            </a:r>
          </a:p>
          <a:p>
            <a:pPr indent="0" algn="l">
              <a:lnSpc>
                <a:spcPct val="100000"/>
              </a:lnSpc>
            </a:pPr>
            <a:r>
              <a:rPr lang="en-US" altLang="zh-CN" sz="1400" b="0" i="0" u="none" strike="noStrike" dirty="0">
                <a:solidFill>
                  <a:srgbClr val="000000"/>
                </a:solidFill>
              </a:rPr>
              <a:t>• </a:t>
            </a:r>
            <a:r>
              <a:rPr lang="zh-CN" altLang="en-US" sz="1400" b="0" i="0" u="none" strike="noStrike" dirty="0">
                <a:solidFill>
                  <a:srgbClr val="000000"/>
                </a:solidFill>
              </a:rPr>
              <a:t>对抗脆弱性：回答样本是否对小扰动敏感，是否可能成为影响模型安全性的风险样本。</a:t>
            </a:r>
          </a:p>
          <a:p>
            <a:pPr indent="0" algn="l">
              <a:lnSpc>
                <a:spcPct val="100000"/>
              </a:lnSpc>
            </a:pPr>
            <a:r>
              <a:rPr lang="en-US" altLang="zh-CN" sz="1400" b="0" i="0" u="none" strike="noStrike" dirty="0">
                <a:solidFill>
                  <a:srgbClr val="000000"/>
                </a:solidFill>
              </a:rPr>
              <a:t>• </a:t>
            </a:r>
            <a:r>
              <a:rPr lang="zh-CN" altLang="en-US" sz="1400" b="0" i="0" u="none" strike="noStrike" dirty="0">
                <a:solidFill>
                  <a:srgbClr val="000000"/>
                </a:solidFill>
              </a:rPr>
              <a:t>物理保真度：回答样本是否违反物理规律、时序因果、单位范围和业务逻辑约束。</a:t>
            </a:r>
          </a:p>
        </p:txBody>
      </p:sp>
      <p:sp>
        <p:nvSpPr>
          <p:cNvPr id="6" name="Footer Placeholder 5">
            <a:extLst>
              <a:ext uri="{FF2B5EF4-FFF2-40B4-BE49-F238E27FC236}">
                <a16:creationId xmlns:a16="http://schemas.microsoft.com/office/drawing/2014/main" id="{4F95B13D-CD74-C53C-264A-FEFA2917906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91E2140-A6D3-590D-DCC9-741A8C04E75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318987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09273-2215-E107-2F4B-9F37E21FA7B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BE8FF66-994F-A0E0-36AA-528C3069311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D561FFA-ADED-C560-2134-5D5FF0BB7B8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B3C2244-891B-0012-DC47-7D612B1778D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5E44C43-E67A-3B84-AD5F-8D309EB3CBF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dirty="0">
                <a:solidFill>
                  <a:srgbClr val="000000"/>
                </a:solidFill>
              </a:rPr>
              <a:t>本报告围绕项目已经设计的四类扫描引擎，梳理可支撑初期汇报的代表性论文、算法思想与工程落地方式。调研重点不是堆论文，而是把论文方法转化为可接入后端平台的指标、输入输出和优先级。</a:t>
            </a:r>
          </a:p>
          <a:p>
            <a:pPr indent="0" algn="l">
              <a:lnSpc>
                <a:spcPct val="100000"/>
              </a:lnSpc>
            </a:pPr>
            <a:r>
              <a:rPr lang="en-US" altLang="zh-CN" sz="1400" b="0" i="0" u="none" strike="noStrike" dirty="0">
                <a:solidFill>
                  <a:srgbClr val="000000"/>
                </a:solidFill>
              </a:rPr>
              <a:t>• </a:t>
            </a:r>
            <a:r>
              <a:rPr lang="zh-CN" altLang="en-US" sz="1400" b="0" i="0" u="none" strike="noStrike" dirty="0">
                <a:solidFill>
                  <a:srgbClr val="000000"/>
                </a:solidFill>
              </a:rPr>
              <a:t>分布偏差：回答数据集中是否存在类别、概念、模态或采样层面的偏斜。</a:t>
            </a:r>
          </a:p>
          <a:p>
            <a:pPr indent="0" algn="l">
              <a:lnSpc>
                <a:spcPct val="100000"/>
              </a:lnSpc>
            </a:pPr>
            <a:r>
              <a:rPr lang="en-US" altLang="zh-CN" sz="1400" b="0" i="0" u="none" strike="noStrike" dirty="0">
                <a:solidFill>
                  <a:srgbClr val="000000"/>
                </a:solidFill>
              </a:rPr>
              <a:t>• </a:t>
            </a:r>
            <a:r>
              <a:rPr lang="zh-CN" altLang="en-US" sz="1400" b="0" i="0" u="none" strike="noStrike" dirty="0">
                <a:solidFill>
                  <a:srgbClr val="000000"/>
                </a:solidFill>
              </a:rPr>
              <a:t>脏数据：回答数据是否存在缺失、重复、格式异常、标签错误和图像基础质量问题。</a:t>
            </a:r>
          </a:p>
          <a:p>
            <a:pPr indent="0" algn="l">
              <a:lnSpc>
                <a:spcPct val="100000"/>
              </a:lnSpc>
            </a:pPr>
            <a:r>
              <a:rPr lang="en-US" altLang="zh-CN" sz="1400" b="0" i="0" u="none" strike="noStrike" dirty="0">
                <a:solidFill>
                  <a:srgbClr val="000000"/>
                </a:solidFill>
              </a:rPr>
              <a:t>• </a:t>
            </a:r>
            <a:r>
              <a:rPr lang="zh-CN" altLang="en-US" sz="1400" b="0" i="0" u="none" strike="noStrike" dirty="0">
                <a:solidFill>
                  <a:srgbClr val="000000"/>
                </a:solidFill>
              </a:rPr>
              <a:t>对抗脆弱性：回答样本是否对小扰动敏感，是否可能成为影响模型安全性的风险样本。</a:t>
            </a:r>
          </a:p>
          <a:p>
            <a:pPr indent="0" algn="l">
              <a:lnSpc>
                <a:spcPct val="100000"/>
              </a:lnSpc>
            </a:pPr>
            <a:r>
              <a:rPr lang="en-US" altLang="zh-CN" sz="1400" b="0" i="0" u="none" strike="noStrike" dirty="0">
                <a:solidFill>
                  <a:srgbClr val="000000"/>
                </a:solidFill>
              </a:rPr>
              <a:t>• </a:t>
            </a:r>
            <a:r>
              <a:rPr lang="zh-CN" altLang="en-US" sz="1400" b="0" i="0" u="none" strike="noStrike" dirty="0">
                <a:solidFill>
                  <a:srgbClr val="000000"/>
                </a:solidFill>
              </a:rPr>
              <a:t>物理保真度：回答样本是否违反物理规律、时序因果、单位范围和业务逻辑约束。</a:t>
            </a:r>
          </a:p>
        </p:txBody>
      </p:sp>
      <p:sp>
        <p:nvSpPr>
          <p:cNvPr id="6" name="Footer Placeholder 5">
            <a:extLst>
              <a:ext uri="{FF2B5EF4-FFF2-40B4-BE49-F238E27FC236}">
                <a16:creationId xmlns:a16="http://schemas.microsoft.com/office/drawing/2014/main" id="{7C82D3D9-B5B3-D3F1-1F6C-642A16CB76D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2BB9661-FE81-B04A-56C1-AAB5BACDF62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2383671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4A963-D7FB-BC83-BEC6-6072F428B48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F1E7264-1A60-2569-949E-C7C95B1CEF8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0033036D-B798-471F-6F8A-AFB99A885B2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2B1B18C-26B5-62C5-DADE-DA3651183DF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83334EB-89CA-2F10-2B11-BE0192F2A97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endParaRPr lang="zh-CN" altLang="zh-CN" sz="1400" b="0" i="0" u="none" strike="noStrike" kern="1200" dirty="0">
              <a:solidFill>
                <a:schemeClr val="tx1"/>
              </a:solidFill>
              <a:effectLst/>
              <a:latin typeface="+mn-lt"/>
              <a:ea typeface="+mn-ea"/>
              <a:cs typeface="+mn-cs"/>
            </a:endParaRPr>
          </a:p>
        </p:txBody>
      </p:sp>
      <p:sp>
        <p:nvSpPr>
          <p:cNvPr id="6" name="Footer Placeholder 5">
            <a:extLst>
              <a:ext uri="{FF2B5EF4-FFF2-40B4-BE49-F238E27FC236}">
                <a16:creationId xmlns:a16="http://schemas.microsoft.com/office/drawing/2014/main" id="{6D8A2010-F79D-FECA-DACF-E652610AB74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2AE8DE4-BC13-817C-FC86-33A4C0D78E7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6608745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DC71D-6DA6-EEBF-00F4-10A641FEAE4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7077C05-A309-9FD1-C000-2BD0B9B2CA5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A415983-7FAA-EE57-EDA0-BC97334EE92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5FC39FA-2CC1-33B3-ABD7-BE796BF201E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8A11998-12D8-8EEE-1D5B-4E5C3CF8D09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endParaRPr lang="zh-CN" altLang="zh-CN" sz="1400" b="0" i="0" u="none" strike="noStrike" kern="1200" dirty="0">
              <a:solidFill>
                <a:schemeClr val="tx1"/>
              </a:solidFill>
              <a:effectLst/>
              <a:latin typeface="+mn-lt"/>
              <a:ea typeface="+mn-ea"/>
              <a:cs typeface="+mn-cs"/>
            </a:endParaRPr>
          </a:p>
        </p:txBody>
      </p:sp>
      <p:sp>
        <p:nvSpPr>
          <p:cNvPr id="6" name="Footer Placeholder 5">
            <a:extLst>
              <a:ext uri="{FF2B5EF4-FFF2-40B4-BE49-F238E27FC236}">
                <a16:creationId xmlns:a16="http://schemas.microsoft.com/office/drawing/2014/main" id="{8BD35CE1-D20D-7E21-A59C-F143FB925615}"/>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C4E1C2B-92E1-B919-84F0-6121EE7D5C23}"/>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1698167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对本次汇报进行总结。我们成功完成了项目的初期目标，搭建了系统骨架并打通了演示链路。我们相信，这个系统对于开发者、研究和产业都具有重要价值。展望未来，我们将继续深化算法、优化性能、建设生态，并最终推动系统在实际业务中落地。我的汇报到此结束，感谢各位的聆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3.jpe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notesSlide" Target="../notesSlides/notesSlide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Layout" Target="../slideLayouts/slideLayout12.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jpeg"/><Relationship Id="rId7" Type="http://schemas.openxmlformats.org/officeDocument/2006/relationships/image" Target="../media/image7.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jpeg"/><Relationship Id="rId7" Type="http://schemas.openxmlformats.org/officeDocument/2006/relationships/image" Target="../media/image11.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3.jpeg"/><Relationship Id="rId7" Type="http://schemas.openxmlformats.org/officeDocument/2006/relationships/image" Target="../media/image14.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3.jpeg"/><Relationship Id="rId7" Type="http://schemas.openxmlformats.org/officeDocument/2006/relationships/image" Target="../media/image14.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3.jpeg"/><Relationship Id="rId7" Type="http://schemas.openxmlformats.org/officeDocument/2006/relationships/image" Target="../media/image18.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16.jpe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3.jpeg"/><Relationship Id="rId7" Type="http://schemas.openxmlformats.org/officeDocument/2006/relationships/image" Target="../media/image22.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2.png"/><Relationship Id="rId9" Type="http://schemas.openxmlformats.org/officeDocument/2006/relationships/image" Target="../media/image24.sv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3.jpeg"/><Relationship Id="rId7" Type="http://schemas.openxmlformats.org/officeDocument/2006/relationships/image" Target="../media/image27.sv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2.png"/><Relationship Id="rId9" Type="http://schemas.openxmlformats.org/officeDocument/2006/relationships/image" Target="../media/image24.svg"/></Relationships>
</file>

<file path=ppt/slides/_rels/slide1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chemeClr val="accent1">
              <a:lumMod val="50000"/>
              <a:alpha val="40000"/>
            </a:schemeClr>
          </a:solidFill>
          <a:ln w="25400" cap="flat" cmpd="sng">
            <a:noFill/>
            <a:prstDash val="solid"/>
            <a:round/>
          </a:ln>
        </p:spPr>
        <p:txBody>
          <a:bodyPr vert="horz" wrap="square" lIns="63500" tIns="63500" rIns="63500" bIns="63500" rtlCol="0" anchor="ctr"/>
          <a:lstStyle/>
          <a:p>
            <a:pPr algn="ctr">
              <a:defRPr/>
            </a:pPr>
            <a:endParaRPr dirty="0">
              <a:latin typeface="+mj-ea"/>
              <a:ea typeface="+mj-ea"/>
            </a:endParaRPr>
          </a:p>
        </p:txBody>
      </p:sp>
      <p:sp>
        <p:nvSpPr>
          <p:cNvPr id="3" name="AutoShape 3"/>
          <p:cNvSpPr/>
          <p:nvPr/>
        </p:nvSpPr>
        <p:spPr>
          <a:xfrm>
            <a:off x="622570" y="1778000"/>
            <a:ext cx="11344072" cy="177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7200" b="1" i="0" u="none" strike="noStrike" dirty="0" err="1">
                <a:solidFill>
                  <a:srgbClr val="FFFFFF"/>
                </a:solidFill>
                <a:latin typeface="+mj-ea"/>
                <a:ea typeface="+mj-ea"/>
                <a:cs typeface="Noto Sans SC"/>
                <a:sym typeface="Noto Sans SC"/>
              </a:rPr>
              <a:t>多模态数据集质量扫描系统</a:t>
            </a:r>
            <a:endParaRPr lang="en-US" sz="7200" b="1" i="0" u="none" strike="noStrike" dirty="0">
              <a:solidFill>
                <a:srgbClr val="FFFFFF"/>
              </a:solidFill>
              <a:latin typeface="+mj-ea"/>
              <a:ea typeface="+mj-ea"/>
              <a:cs typeface="Noto Sans SC"/>
              <a:sym typeface="Noto Sans SC"/>
            </a:endParaRPr>
          </a:p>
        </p:txBody>
      </p:sp>
      <p:sp>
        <p:nvSpPr>
          <p:cNvPr id="4" name="AutoShape 4"/>
          <p:cNvSpPr/>
          <p:nvPr/>
        </p:nvSpPr>
        <p:spPr>
          <a:xfrm>
            <a:off x="651753" y="3198774"/>
            <a:ext cx="10943617" cy="45719"/>
          </a:xfrm>
          <a:prstGeom prst="roundRect">
            <a:avLst>
              <a:gd name="adj" fmla="val 0"/>
            </a:avLst>
          </a:prstGeom>
          <a:solidFill>
            <a:srgbClr val="007AFF">
              <a:alpha val="100000"/>
            </a:srgbClr>
          </a:solidFill>
          <a:ln w="25400" cap="flat" cmpd="sng">
            <a:noFill/>
            <a:prstDash val="solid"/>
            <a:round/>
          </a:ln>
        </p:spPr>
        <p:txBody>
          <a:bodyPr vert="horz" wrap="square" lIns="0" tIns="0" rIns="0" bIns="0" rtlCol="0" anchor="ctr" anchorCtr="0"/>
          <a:lstStyle/>
          <a:p>
            <a:pPr algn="ctr">
              <a:defRPr/>
            </a:pPr>
            <a:endParaRPr>
              <a:latin typeface="+mj-ea"/>
              <a:ea typeface="+mj-ea"/>
            </a:endParaRPr>
          </a:p>
        </p:txBody>
      </p:sp>
      <p:sp>
        <p:nvSpPr>
          <p:cNvPr id="5" name="AutoShape 5"/>
          <p:cNvSpPr/>
          <p:nvPr/>
        </p:nvSpPr>
        <p:spPr>
          <a:xfrm>
            <a:off x="1428343" y="3462454"/>
            <a:ext cx="9332067" cy="635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3600" b="1" dirty="0" err="1">
                <a:solidFill>
                  <a:srgbClr val="FFFFFF">
                    <a:alpha val="90196"/>
                  </a:srgbClr>
                </a:solidFill>
                <a:latin typeface="+mj-ea"/>
                <a:ea typeface="+mj-ea"/>
                <a:cs typeface="Noto Sans SC"/>
                <a:sym typeface="Noto Sans SC"/>
              </a:rPr>
              <a:t>大学生创新创业训练计划项目</a:t>
            </a:r>
            <a:r>
              <a:rPr lang="en-US" altLang="zh-CN" sz="3600" b="1" dirty="0">
                <a:solidFill>
                  <a:srgbClr val="FFFFFF">
                    <a:alpha val="90196"/>
                  </a:srgbClr>
                </a:solidFill>
                <a:latin typeface="+mj-ea"/>
                <a:ea typeface="+mj-ea"/>
                <a:cs typeface="Noto Sans SC"/>
                <a:sym typeface="Noto Sans SC"/>
              </a:rPr>
              <a:t>·</a:t>
            </a:r>
            <a:r>
              <a:rPr lang="zh-CN" altLang="en-US" sz="3600" b="1" dirty="0">
                <a:solidFill>
                  <a:srgbClr val="FFFFFF">
                    <a:alpha val="90196"/>
                  </a:srgbClr>
                </a:solidFill>
                <a:latin typeface="+mj-ea"/>
                <a:ea typeface="+mj-ea"/>
                <a:cs typeface="Noto Sans SC"/>
                <a:sym typeface="Noto Sans SC"/>
              </a:rPr>
              <a:t>初期成果汇报</a:t>
            </a:r>
            <a:endParaRPr lang="en-US" sz="3600" dirty="0">
              <a:latin typeface="+mj-ea"/>
              <a:ea typeface="+mj-ea"/>
            </a:endParaRPr>
          </a:p>
        </p:txBody>
      </p:sp>
      <p:sp>
        <p:nvSpPr>
          <p:cNvPr id="6" name="AutoShape 6"/>
          <p:cNvSpPr/>
          <p:nvPr/>
        </p:nvSpPr>
        <p:spPr>
          <a:xfrm>
            <a:off x="856033" y="4840371"/>
            <a:ext cx="10246469"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2000" b="1" dirty="0">
                <a:solidFill>
                  <a:srgbClr val="FFFFFF">
                    <a:alpha val="90196"/>
                  </a:srgbClr>
                </a:solidFill>
                <a:latin typeface="+mj-ea"/>
                <a:ea typeface="+mj-ea"/>
                <a:sym typeface="Noto Sans SC"/>
              </a:rPr>
              <a:t>南京航空航天大学</a:t>
            </a:r>
            <a:r>
              <a:rPr lang="en-US" sz="2000" b="1" dirty="0">
                <a:solidFill>
                  <a:srgbClr val="FFFFFF">
                    <a:alpha val="90196"/>
                  </a:srgbClr>
                </a:solidFill>
                <a:latin typeface="+mj-ea"/>
                <a:ea typeface="+mj-ea"/>
                <a:sym typeface="Noto Sans SC"/>
              </a:rPr>
              <a:t> | </a:t>
            </a:r>
            <a:r>
              <a:rPr lang="zh-CN" altLang="en-US" sz="2000" b="1" dirty="0">
                <a:solidFill>
                  <a:srgbClr val="FFFFFF">
                    <a:alpha val="90196"/>
                  </a:srgbClr>
                </a:solidFill>
                <a:latin typeface="+mj-ea"/>
                <a:ea typeface="+mj-ea"/>
                <a:sym typeface="Noto Sans SC"/>
              </a:rPr>
              <a:t>日期：</a:t>
            </a:r>
            <a:r>
              <a:rPr lang="en-US" sz="2000" b="1" dirty="0">
                <a:solidFill>
                  <a:srgbClr val="FFFFFF">
                    <a:alpha val="90196"/>
                  </a:srgbClr>
                </a:solidFill>
                <a:latin typeface="+mj-ea"/>
                <a:ea typeface="+mj-ea"/>
                <a:sym typeface="Noto Sans SC"/>
              </a:rPr>
              <a:t> </a:t>
            </a:r>
            <a:r>
              <a:rPr lang="en-US" altLang="zh-CN" sz="2000" b="1" dirty="0">
                <a:solidFill>
                  <a:srgbClr val="FFFFFF">
                    <a:alpha val="90196"/>
                  </a:srgbClr>
                </a:solidFill>
                <a:latin typeface="+mj-ea"/>
                <a:ea typeface="+mj-ea"/>
                <a:sym typeface="Noto Sans SC"/>
              </a:rPr>
              <a:t>2026年5月10日</a:t>
            </a:r>
            <a:endParaRPr lang="en-US" sz="2000" b="1" dirty="0">
              <a:solidFill>
                <a:srgbClr val="FFFFFF">
                  <a:alpha val="90196"/>
                </a:srgbClr>
              </a:solidFill>
              <a:latin typeface="+mj-ea"/>
              <a:ea typeface="+mj-ea"/>
            </a:endParaRPr>
          </a:p>
          <a:p>
            <a:pPr indent="0" algn="ctr">
              <a:lnSpc>
                <a:spcPct val="125000"/>
              </a:lnSpc>
              <a:defRPr/>
            </a:pPr>
            <a:r>
              <a:rPr lang="en-US" sz="2000" b="1" dirty="0" err="1">
                <a:solidFill>
                  <a:srgbClr val="FFFFFF">
                    <a:alpha val="90196"/>
                  </a:srgbClr>
                </a:solidFill>
                <a:latin typeface="+mj-ea"/>
                <a:ea typeface="+mj-ea"/>
                <a:sym typeface="Noto Sans SC"/>
              </a:rPr>
              <a:t>负责人</a:t>
            </a:r>
            <a:r>
              <a:rPr lang="en-US" sz="2000" b="1" dirty="0">
                <a:solidFill>
                  <a:srgbClr val="FFFFFF">
                    <a:alpha val="90196"/>
                  </a:srgbClr>
                </a:solidFill>
                <a:latin typeface="+mj-ea"/>
                <a:ea typeface="+mj-ea"/>
                <a:sym typeface="Noto Sans SC"/>
              </a:rPr>
              <a:t>：</a:t>
            </a:r>
            <a:r>
              <a:rPr lang="zh-CN" altLang="en-US" sz="2000" b="1" dirty="0">
                <a:solidFill>
                  <a:srgbClr val="FFFFFF">
                    <a:alpha val="90196"/>
                  </a:srgbClr>
                </a:solidFill>
                <a:latin typeface="+mj-ea"/>
                <a:ea typeface="+mj-ea"/>
                <a:sym typeface="Noto Sans SC"/>
              </a:rPr>
              <a:t>徐天一 </a:t>
            </a:r>
            <a:r>
              <a:rPr lang="en-US" altLang="zh-CN" sz="2000" b="1" dirty="0">
                <a:solidFill>
                  <a:srgbClr val="FFFFFF">
                    <a:alpha val="90196"/>
                  </a:srgbClr>
                </a:solidFill>
                <a:latin typeface="+mj-ea"/>
                <a:ea typeface="+mj-ea"/>
                <a:sym typeface="Noto Sans SC"/>
              </a:rPr>
              <a:t>| </a:t>
            </a:r>
            <a:r>
              <a:rPr lang="en-US" sz="2000" b="1" dirty="0" err="1">
                <a:solidFill>
                  <a:srgbClr val="FFFFFF">
                    <a:alpha val="90196"/>
                  </a:srgbClr>
                </a:solidFill>
                <a:latin typeface="+mj-ea"/>
                <a:ea typeface="+mj-ea"/>
                <a:sym typeface="Noto Sans SC"/>
              </a:rPr>
              <a:t>团队成员</a:t>
            </a:r>
            <a:r>
              <a:rPr lang="zh-CN" altLang="en-US" sz="2000" b="1" dirty="0">
                <a:solidFill>
                  <a:srgbClr val="FFFFFF">
                    <a:alpha val="90196"/>
                  </a:srgbClr>
                </a:solidFill>
                <a:latin typeface="+mj-ea"/>
                <a:ea typeface="+mj-ea"/>
                <a:sym typeface="Noto Sans SC"/>
              </a:rPr>
              <a:t>：张月晴 </a:t>
            </a:r>
            <a:r>
              <a:rPr lang="zh-CN" altLang="en-US" sz="2000" b="1" dirty="0">
                <a:solidFill>
                  <a:srgbClr val="FFFFFF">
                    <a:alpha val="90196"/>
                  </a:srgbClr>
                </a:solidFill>
                <a:latin typeface="+mj-ea"/>
                <a:ea typeface="+mj-ea"/>
              </a:rPr>
              <a:t>马雨萌 </a:t>
            </a:r>
            <a:r>
              <a:rPr lang="en-US" altLang="zh-CN" sz="2000" b="1" dirty="0">
                <a:solidFill>
                  <a:srgbClr val="FFFFFF">
                    <a:alpha val="90196"/>
                  </a:srgbClr>
                </a:solidFill>
                <a:latin typeface="+mj-ea"/>
                <a:ea typeface="+mj-ea"/>
              </a:rPr>
              <a:t>| </a:t>
            </a:r>
            <a:r>
              <a:rPr lang="en-US" sz="2000" b="1" dirty="0" err="1">
                <a:solidFill>
                  <a:srgbClr val="FFFFFF">
                    <a:alpha val="90196"/>
                  </a:srgbClr>
                </a:solidFill>
                <a:latin typeface="+mj-ea"/>
                <a:ea typeface="+mj-ea"/>
                <a:sym typeface="Noto Sans SC"/>
              </a:rPr>
              <a:t>指导教师</a:t>
            </a:r>
            <a:r>
              <a:rPr lang="en-US" sz="2000" b="1" dirty="0">
                <a:solidFill>
                  <a:srgbClr val="FFFFFF">
                    <a:alpha val="90196"/>
                  </a:srgbClr>
                </a:solidFill>
                <a:latin typeface="+mj-ea"/>
                <a:ea typeface="+mj-ea"/>
                <a:sym typeface="Noto Sans SC"/>
              </a:rPr>
              <a:t>：</a:t>
            </a:r>
            <a:r>
              <a:rPr lang="zh-CN" altLang="en-US" sz="2000" b="1" dirty="0">
                <a:solidFill>
                  <a:srgbClr val="FFFFFF">
                    <a:alpha val="90196"/>
                  </a:srgbClr>
                </a:solidFill>
                <a:latin typeface="+mj-ea"/>
                <a:ea typeface="+mj-ea"/>
                <a:sym typeface="Noto Sans SC"/>
              </a:rPr>
              <a:t>周宇</a:t>
            </a:r>
            <a:endParaRPr lang="en-US" sz="2000" b="1" dirty="0">
              <a:solidFill>
                <a:srgbClr val="FFFFFF">
                  <a:alpha val="90196"/>
                </a:srgbClr>
              </a:solidFill>
              <a:latin typeface="+mj-ea"/>
              <a:ea typeface="+mj-ea"/>
              <a:sym typeface="Noto Sans SC"/>
            </a:endParaRPr>
          </a:p>
        </p:txBody>
      </p:sp>
      <p:pic>
        <p:nvPicPr>
          <p:cNvPr id="11" name="图片 10">
            <a:extLst>
              <a:ext uri="{FF2B5EF4-FFF2-40B4-BE49-F238E27FC236}">
                <a16:creationId xmlns:a16="http://schemas.microsoft.com/office/drawing/2014/main" id="{E8BA9426-EAEB-70AF-CE50-D409C18DFDFE}"/>
              </a:ext>
            </a:extLst>
          </p:cNvPr>
          <p:cNvPicPr>
            <a:picLocks noChangeAspect="1"/>
          </p:cNvPicPr>
          <p:nvPr/>
        </p:nvPicPr>
        <p:blipFill>
          <a:blip r:embed="rId4"/>
          <a:stretch>
            <a:fillRect/>
          </a:stretch>
        </p:blipFill>
        <p:spPr>
          <a:xfrm>
            <a:off x="8472588" y="-147566"/>
            <a:ext cx="3606733" cy="13841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a:extLst>
            <a:ext uri="{FF2B5EF4-FFF2-40B4-BE49-F238E27FC236}">
              <a16:creationId xmlns:a16="http://schemas.microsoft.com/office/drawing/2014/main" id="{D23BBB13-14B0-A531-8259-745DCFA8A9C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4923B62-E051-BE57-4266-765B92FDC22F}"/>
              </a:ext>
            </a:extLst>
          </p:cNvPr>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深度视觉·原创设计 https://www.docer.com/works?userid=22383862">
            <a:extLst>
              <a:ext uri="{FF2B5EF4-FFF2-40B4-BE49-F238E27FC236}">
                <a16:creationId xmlns:a16="http://schemas.microsoft.com/office/drawing/2014/main" id="{9574B20C-A6F3-50D3-F75B-E1F7FA07C5CC}"/>
              </a:ext>
            </a:extLst>
          </p:cNvPr>
          <p:cNvSpPr/>
          <p:nvPr/>
        </p:nvSpPr>
        <p:spPr>
          <a:xfrm flipH="1">
            <a:off x="4321628" y="5159040"/>
            <a:ext cx="942238" cy="870857"/>
          </a:xfrm>
          <a:prstGeom prst="corner">
            <a:avLst>
              <a:gd name="adj1" fmla="val 17397"/>
              <a:gd name="adj2" fmla="val 1661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正圆-55W" panose="00020600040101010101" pitchFamily="18" charset="-122"/>
              <a:ea typeface="汉仪正圆-55W" panose="00020600040101010101" pitchFamily="18" charset="-122"/>
              <a:sym typeface="汉仪正圆-55W" panose="00020600040101010101" pitchFamily="18" charset="-122"/>
            </a:endParaRPr>
          </a:p>
        </p:txBody>
      </p:sp>
      <p:sp>
        <p:nvSpPr>
          <p:cNvPr id="25" name="深度视觉·原创设计 https://www.docer.com/works?userid=22383862">
            <a:extLst>
              <a:ext uri="{FF2B5EF4-FFF2-40B4-BE49-F238E27FC236}">
                <a16:creationId xmlns:a16="http://schemas.microsoft.com/office/drawing/2014/main" id="{150160AE-4A55-33DA-BD52-595371F2C82C}"/>
              </a:ext>
            </a:extLst>
          </p:cNvPr>
          <p:cNvSpPr/>
          <p:nvPr/>
        </p:nvSpPr>
        <p:spPr>
          <a:xfrm rot="10800000" flipH="1">
            <a:off x="1001486" y="798285"/>
            <a:ext cx="942238" cy="870857"/>
          </a:xfrm>
          <a:prstGeom prst="corner">
            <a:avLst>
              <a:gd name="adj1" fmla="val 17397"/>
              <a:gd name="adj2" fmla="val 1661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正圆-55W" panose="00020600040101010101" pitchFamily="18" charset="-122"/>
              <a:ea typeface="汉仪正圆-55W" panose="00020600040101010101" pitchFamily="18" charset="-122"/>
              <a:sym typeface="汉仪正圆-55W" panose="00020600040101010101" pitchFamily="18" charset="-122"/>
            </a:endParaRPr>
          </a:p>
        </p:txBody>
      </p:sp>
      <p:sp>
        <p:nvSpPr>
          <p:cNvPr id="26" name="深度视觉·原创设计 https://www.docer.com/works?userid=22383862">
            <a:extLst>
              <a:ext uri="{FF2B5EF4-FFF2-40B4-BE49-F238E27FC236}">
                <a16:creationId xmlns:a16="http://schemas.microsoft.com/office/drawing/2014/main" id="{A6D2B334-9572-7351-ED8F-D21C98FD3380}"/>
              </a:ext>
            </a:extLst>
          </p:cNvPr>
          <p:cNvSpPr/>
          <p:nvPr/>
        </p:nvSpPr>
        <p:spPr>
          <a:xfrm>
            <a:off x="1364342" y="1233714"/>
            <a:ext cx="3497944" cy="43905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正圆-55W" panose="00020600040101010101" pitchFamily="18" charset="-122"/>
              <a:ea typeface="汉仪正圆-55W" panose="00020600040101010101" pitchFamily="18" charset="-122"/>
              <a:sym typeface="汉仪正圆-55W" panose="00020600040101010101" pitchFamily="18" charset="-122"/>
            </a:endParaRPr>
          </a:p>
        </p:txBody>
      </p:sp>
      <p:sp>
        <p:nvSpPr>
          <p:cNvPr id="27" name="深度视觉·原创设计 https://www.docer.com/works?userid=22383862">
            <a:extLst>
              <a:ext uri="{FF2B5EF4-FFF2-40B4-BE49-F238E27FC236}">
                <a16:creationId xmlns:a16="http://schemas.microsoft.com/office/drawing/2014/main" id="{A3410B7F-1D77-4987-5349-AB9A2EB67C23}"/>
              </a:ext>
            </a:extLst>
          </p:cNvPr>
          <p:cNvSpPr/>
          <p:nvPr/>
        </p:nvSpPr>
        <p:spPr>
          <a:xfrm>
            <a:off x="1524001" y="3588821"/>
            <a:ext cx="3178628" cy="461664"/>
          </a:xfrm>
          <a:prstGeom prst="roundRect">
            <a:avLst>
              <a:gd name="adj" fmla="val 2593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汉仪正圆-55W" panose="00020600040101010101" pitchFamily="18" charset="-122"/>
              <a:ea typeface="汉仪正圆-55W" panose="00020600040101010101" pitchFamily="18" charset="-122"/>
              <a:sym typeface="汉仪正圆-55W" panose="00020600040101010101" pitchFamily="18" charset="-122"/>
            </a:endParaRPr>
          </a:p>
        </p:txBody>
      </p:sp>
      <p:sp>
        <p:nvSpPr>
          <p:cNvPr id="28" name="深度视觉·原创设计 https://www.docer.com/works?userid=22383862">
            <a:extLst>
              <a:ext uri="{FF2B5EF4-FFF2-40B4-BE49-F238E27FC236}">
                <a16:creationId xmlns:a16="http://schemas.microsoft.com/office/drawing/2014/main" id="{53A9D2BC-1803-4664-F164-AB94F9F05167}"/>
              </a:ext>
            </a:extLst>
          </p:cNvPr>
          <p:cNvSpPr txBox="1"/>
          <p:nvPr/>
        </p:nvSpPr>
        <p:spPr>
          <a:xfrm>
            <a:off x="1857829" y="2104572"/>
            <a:ext cx="2525486" cy="1200329"/>
          </a:xfrm>
          <a:prstGeom prst="rect">
            <a:avLst/>
          </a:prstGeom>
          <a:noFill/>
        </p:spPr>
        <p:txBody>
          <a:bodyPr wrap="square" rtlCol="0">
            <a:spAutoFit/>
          </a:bodyPr>
          <a:lstStyle/>
          <a:p>
            <a:pPr algn="ctr"/>
            <a:r>
              <a:rPr lang="zh-CN" altLang="en-US" sz="7200" b="1" dirty="0">
                <a:solidFill>
                  <a:schemeClr val="tx1">
                    <a:lumMod val="75000"/>
                    <a:lumOff val="25000"/>
                  </a:schemeClr>
                </a:solidFill>
                <a:latin typeface="汉仪正圆-55W" panose="00020600040101010101" pitchFamily="18" charset="-122"/>
                <a:ea typeface="汉仪正圆-55W" panose="00020600040101010101" pitchFamily="18" charset="-122"/>
                <a:sym typeface="汉仪正圆-55W" panose="00020600040101010101" pitchFamily="18" charset="-122"/>
              </a:rPr>
              <a:t>目录</a:t>
            </a:r>
          </a:p>
        </p:txBody>
      </p:sp>
      <p:sp>
        <p:nvSpPr>
          <p:cNvPr id="29" name="深度视觉·原创设计 https://www.docer.com/works?userid=22383862">
            <a:extLst>
              <a:ext uri="{FF2B5EF4-FFF2-40B4-BE49-F238E27FC236}">
                <a16:creationId xmlns:a16="http://schemas.microsoft.com/office/drawing/2014/main" id="{2F9DD421-7E94-8057-888B-9B54E689E7AD}"/>
              </a:ext>
            </a:extLst>
          </p:cNvPr>
          <p:cNvSpPr txBox="1"/>
          <p:nvPr/>
        </p:nvSpPr>
        <p:spPr>
          <a:xfrm>
            <a:off x="1857829" y="3588820"/>
            <a:ext cx="2525486" cy="461665"/>
          </a:xfrm>
          <a:prstGeom prst="rect">
            <a:avLst/>
          </a:prstGeom>
          <a:noFill/>
        </p:spPr>
        <p:txBody>
          <a:bodyPr wrap="square" rtlCol="0">
            <a:spAutoFit/>
          </a:bodyPr>
          <a:lstStyle/>
          <a:p>
            <a:pPr algn="dist"/>
            <a:r>
              <a:rPr lang="en-US" altLang="zh-CN" sz="2400" dirty="0">
                <a:solidFill>
                  <a:schemeClr val="bg1"/>
                </a:solidFill>
                <a:latin typeface="汉仪正圆-55W" panose="00020600040101010101" pitchFamily="18" charset="-122"/>
                <a:ea typeface="汉仪正圆-55W" panose="00020600040101010101" pitchFamily="18" charset="-122"/>
                <a:cs typeface="阿里巴巴普惠体 Light" panose="00020600040101010101" pitchFamily="18" charset="-122"/>
                <a:sym typeface="汉仪正圆-55W" panose="00020600040101010101" pitchFamily="18" charset="-122"/>
              </a:rPr>
              <a:t>CONTENT</a:t>
            </a:r>
            <a:endParaRPr lang="zh-CN" altLang="en-US" sz="2400" dirty="0">
              <a:solidFill>
                <a:schemeClr val="bg1"/>
              </a:solidFill>
              <a:latin typeface="汉仪正圆-55W" panose="00020600040101010101" pitchFamily="18" charset="-122"/>
              <a:ea typeface="汉仪正圆-55W" panose="00020600040101010101" pitchFamily="18" charset="-122"/>
              <a:cs typeface="阿里巴巴普惠体 Light" panose="00020600040101010101" pitchFamily="18" charset="-122"/>
              <a:sym typeface="汉仪正圆-55W" panose="00020600040101010101" pitchFamily="18" charset="-122"/>
            </a:endParaRPr>
          </a:p>
        </p:txBody>
      </p:sp>
      <p:sp>
        <p:nvSpPr>
          <p:cNvPr id="30" name="深度视觉·原创设计 https://www.docer.com/works?userid=22383862">
            <a:extLst>
              <a:ext uri="{FF2B5EF4-FFF2-40B4-BE49-F238E27FC236}">
                <a16:creationId xmlns:a16="http://schemas.microsoft.com/office/drawing/2014/main" id="{126255BF-8187-BD10-1577-E3DCA3E4B4D2}"/>
              </a:ext>
            </a:extLst>
          </p:cNvPr>
          <p:cNvSpPr/>
          <p:nvPr>
            <p:custDataLst>
              <p:tags r:id="rId1"/>
            </p:custDataLst>
          </p:nvPr>
        </p:nvSpPr>
        <p:spPr>
          <a:xfrm>
            <a:off x="6262280" y="1009274"/>
            <a:ext cx="781050" cy="781050"/>
          </a:xfrm>
          <a:prstGeom prst="oc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汉仪正圆-55W" panose="00020600040101010101" pitchFamily="18" charset="-122"/>
                <a:ea typeface="汉仪正圆-55W" panose="00020600040101010101" pitchFamily="18" charset="-122"/>
                <a:sym typeface="汉仪正圆-55W" panose="00020600040101010101" pitchFamily="18" charset="-122"/>
              </a:rPr>
              <a:t>01</a:t>
            </a:r>
            <a:endParaRPr lang="zh-CN" altLang="en-US" sz="2400" dirty="0">
              <a:latin typeface="汉仪正圆-55W" panose="00020600040101010101" pitchFamily="18" charset="-122"/>
              <a:ea typeface="汉仪正圆-55W" panose="00020600040101010101" pitchFamily="18" charset="-122"/>
              <a:sym typeface="汉仪正圆-55W" panose="00020600040101010101" pitchFamily="18" charset="-122"/>
            </a:endParaRPr>
          </a:p>
        </p:txBody>
      </p:sp>
      <p:sp>
        <p:nvSpPr>
          <p:cNvPr id="31" name="深度视觉·原创设计 https://www.docer.com/works?userid=22383862">
            <a:extLst>
              <a:ext uri="{FF2B5EF4-FFF2-40B4-BE49-F238E27FC236}">
                <a16:creationId xmlns:a16="http://schemas.microsoft.com/office/drawing/2014/main" id="{7B46EBC0-2182-AE3F-F3A4-36D9C8888E93}"/>
              </a:ext>
            </a:extLst>
          </p:cNvPr>
          <p:cNvSpPr txBox="1"/>
          <p:nvPr>
            <p:custDataLst>
              <p:tags r:id="rId2"/>
            </p:custDataLst>
          </p:nvPr>
        </p:nvSpPr>
        <p:spPr>
          <a:xfrm>
            <a:off x="7176680" y="1121616"/>
            <a:ext cx="3619500" cy="521970"/>
          </a:xfrm>
          <a:prstGeom prst="rect">
            <a:avLst/>
          </a:prstGeom>
          <a:noFill/>
        </p:spPr>
        <p:txBody>
          <a:bodyPr wrap="square" rtlCol="0">
            <a:spAutoFit/>
          </a:bodyPr>
          <a:lstStyle/>
          <a:p>
            <a:r>
              <a:rPr lang="zh-CN" altLang="en-US" sz="2800" dirty="0">
                <a:solidFill>
                  <a:schemeClr val="tx1">
                    <a:lumMod val="75000"/>
                    <a:lumOff val="25000"/>
                  </a:schemeClr>
                </a:solidFill>
                <a:latin typeface="汉仪正圆-55W" panose="00020600040101010101" pitchFamily="18" charset="-122"/>
                <a:ea typeface="汉仪正圆-55W" panose="00020600040101010101" pitchFamily="18" charset="-122"/>
                <a:sym typeface="汉仪正圆-55W" panose="00020600040101010101" pitchFamily="18" charset="-122"/>
              </a:rPr>
              <a:t>项目背景</a:t>
            </a:r>
          </a:p>
        </p:txBody>
      </p:sp>
      <p:sp>
        <p:nvSpPr>
          <p:cNvPr id="32" name="深度视觉·原创设计 https://www.docer.com/works?userid=22383862">
            <a:extLst>
              <a:ext uri="{FF2B5EF4-FFF2-40B4-BE49-F238E27FC236}">
                <a16:creationId xmlns:a16="http://schemas.microsoft.com/office/drawing/2014/main" id="{5CF98BD5-395E-4D97-E661-C5D5E6F22F1A}"/>
              </a:ext>
            </a:extLst>
          </p:cNvPr>
          <p:cNvSpPr/>
          <p:nvPr>
            <p:custDataLst>
              <p:tags r:id="rId3"/>
            </p:custDataLst>
          </p:nvPr>
        </p:nvSpPr>
        <p:spPr>
          <a:xfrm>
            <a:off x="6262280" y="2134488"/>
            <a:ext cx="781050" cy="781050"/>
          </a:xfrm>
          <a:prstGeom prst="octag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汉仪正圆-55W" panose="00020600040101010101" pitchFamily="18" charset="-122"/>
                <a:ea typeface="汉仪正圆-55W" panose="00020600040101010101" pitchFamily="18" charset="-122"/>
                <a:sym typeface="汉仪正圆-55W" panose="00020600040101010101" pitchFamily="18" charset="-122"/>
              </a:rPr>
              <a:t>02</a:t>
            </a:r>
            <a:endParaRPr lang="zh-CN" altLang="en-US" sz="2400" dirty="0">
              <a:latin typeface="汉仪正圆-55W" panose="00020600040101010101" pitchFamily="18" charset="-122"/>
              <a:ea typeface="汉仪正圆-55W" panose="00020600040101010101" pitchFamily="18" charset="-122"/>
              <a:sym typeface="汉仪正圆-55W" panose="00020600040101010101" pitchFamily="18" charset="-122"/>
            </a:endParaRPr>
          </a:p>
        </p:txBody>
      </p:sp>
      <p:sp>
        <p:nvSpPr>
          <p:cNvPr id="33" name="深度视觉·原创设计 https://www.docer.com/works?userid=22383862">
            <a:extLst>
              <a:ext uri="{FF2B5EF4-FFF2-40B4-BE49-F238E27FC236}">
                <a16:creationId xmlns:a16="http://schemas.microsoft.com/office/drawing/2014/main" id="{7CCC7844-E049-BE8D-DF57-006E81972638}"/>
              </a:ext>
            </a:extLst>
          </p:cNvPr>
          <p:cNvSpPr txBox="1"/>
          <p:nvPr>
            <p:custDataLst>
              <p:tags r:id="rId4"/>
            </p:custDataLst>
          </p:nvPr>
        </p:nvSpPr>
        <p:spPr>
          <a:xfrm>
            <a:off x="7203350" y="2246830"/>
            <a:ext cx="3619500" cy="521970"/>
          </a:xfrm>
          <a:prstGeom prst="rect">
            <a:avLst/>
          </a:prstGeom>
          <a:noFill/>
        </p:spPr>
        <p:txBody>
          <a:bodyPr wrap="square" rtlCol="0">
            <a:spAutoFit/>
          </a:bodyPr>
          <a:lstStyle/>
          <a:p>
            <a:r>
              <a:rPr lang="zh-CN" altLang="en-US" sz="2800" dirty="0">
                <a:solidFill>
                  <a:schemeClr val="tx1">
                    <a:lumMod val="75000"/>
                    <a:lumOff val="25000"/>
                  </a:schemeClr>
                </a:solidFill>
                <a:latin typeface="汉仪正圆-55W" panose="00020600040101010101" pitchFamily="18" charset="-122"/>
                <a:ea typeface="汉仪正圆-55W" panose="00020600040101010101" pitchFamily="18" charset="-122"/>
                <a:sym typeface="汉仪正圆-55W" panose="00020600040101010101" pitchFamily="18" charset="-122"/>
              </a:rPr>
              <a:t>项目介绍</a:t>
            </a:r>
          </a:p>
        </p:txBody>
      </p:sp>
      <p:sp>
        <p:nvSpPr>
          <p:cNvPr id="34" name="深度视觉·原创设计 https://www.docer.com/works?userid=22383862">
            <a:extLst>
              <a:ext uri="{FF2B5EF4-FFF2-40B4-BE49-F238E27FC236}">
                <a16:creationId xmlns:a16="http://schemas.microsoft.com/office/drawing/2014/main" id="{3406B13C-83CC-CD4B-1BA7-38B54FA8C23D}"/>
              </a:ext>
            </a:extLst>
          </p:cNvPr>
          <p:cNvSpPr/>
          <p:nvPr>
            <p:custDataLst>
              <p:tags r:id="rId5"/>
            </p:custDataLst>
          </p:nvPr>
        </p:nvSpPr>
        <p:spPr>
          <a:xfrm>
            <a:off x="6262280" y="3249763"/>
            <a:ext cx="781050" cy="781050"/>
          </a:xfrm>
          <a:prstGeom prst="oc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汉仪正圆-55W" panose="00020600040101010101" pitchFamily="18" charset="-122"/>
                <a:ea typeface="汉仪正圆-55W" panose="00020600040101010101" pitchFamily="18" charset="-122"/>
                <a:sym typeface="汉仪正圆-55W" panose="00020600040101010101" pitchFamily="18" charset="-122"/>
              </a:rPr>
              <a:t>03</a:t>
            </a:r>
            <a:endParaRPr lang="zh-CN" altLang="en-US" sz="2400" dirty="0">
              <a:latin typeface="汉仪正圆-55W" panose="00020600040101010101" pitchFamily="18" charset="-122"/>
              <a:ea typeface="汉仪正圆-55W" panose="00020600040101010101" pitchFamily="18" charset="-122"/>
              <a:sym typeface="汉仪正圆-55W" panose="00020600040101010101" pitchFamily="18" charset="-122"/>
            </a:endParaRPr>
          </a:p>
        </p:txBody>
      </p:sp>
      <p:sp>
        <p:nvSpPr>
          <p:cNvPr id="35" name="深度视觉·原创设计 https://www.docer.com/works?userid=22383862">
            <a:extLst>
              <a:ext uri="{FF2B5EF4-FFF2-40B4-BE49-F238E27FC236}">
                <a16:creationId xmlns:a16="http://schemas.microsoft.com/office/drawing/2014/main" id="{DB3FDFEB-2BE4-509E-DE38-661C1F52DEFA}"/>
              </a:ext>
            </a:extLst>
          </p:cNvPr>
          <p:cNvSpPr txBox="1"/>
          <p:nvPr>
            <p:custDataLst>
              <p:tags r:id="rId6"/>
            </p:custDataLst>
          </p:nvPr>
        </p:nvSpPr>
        <p:spPr>
          <a:xfrm>
            <a:off x="7176680" y="3362105"/>
            <a:ext cx="3619500" cy="521970"/>
          </a:xfrm>
          <a:prstGeom prst="rect">
            <a:avLst/>
          </a:prstGeom>
          <a:noFill/>
        </p:spPr>
        <p:txBody>
          <a:bodyPr wrap="square" rtlCol="0">
            <a:spAutoFit/>
          </a:bodyPr>
          <a:lstStyle/>
          <a:p>
            <a:r>
              <a:rPr lang="zh-CN" altLang="en-US" sz="2800" dirty="0">
                <a:solidFill>
                  <a:schemeClr val="tx1">
                    <a:lumMod val="75000"/>
                    <a:lumOff val="25000"/>
                  </a:schemeClr>
                </a:solidFill>
                <a:latin typeface="汉仪正圆-55W" panose="00020600040101010101" pitchFamily="18" charset="-122"/>
                <a:ea typeface="汉仪正圆-55W" panose="00020600040101010101" pitchFamily="18" charset="-122"/>
                <a:sym typeface="汉仪正圆-55W" panose="00020600040101010101" pitchFamily="18" charset="-122"/>
              </a:rPr>
              <a:t>当前项目进度</a:t>
            </a:r>
          </a:p>
        </p:txBody>
      </p:sp>
      <p:sp>
        <p:nvSpPr>
          <p:cNvPr id="36" name="深度视觉·原创设计 https://www.docer.com/works?userid=22383862">
            <a:extLst>
              <a:ext uri="{FF2B5EF4-FFF2-40B4-BE49-F238E27FC236}">
                <a16:creationId xmlns:a16="http://schemas.microsoft.com/office/drawing/2014/main" id="{759A5D76-7D64-CEF4-70A9-09D01E638D54}"/>
              </a:ext>
            </a:extLst>
          </p:cNvPr>
          <p:cNvSpPr/>
          <p:nvPr>
            <p:custDataLst>
              <p:tags r:id="rId7"/>
            </p:custDataLst>
          </p:nvPr>
        </p:nvSpPr>
        <p:spPr>
          <a:xfrm>
            <a:off x="6262280" y="4336217"/>
            <a:ext cx="781050" cy="781050"/>
          </a:xfrm>
          <a:prstGeom prst="octag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汉仪正圆-55W" panose="00020600040101010101" pitchFamily="18" charset="-122"/>
                <a:ea typeface="汉仪正圆-55W" panose="00020600040101010101" pitchFamily="18" charset="-122"/>
                <a:sym typeface="汉仪正圆-55W" panose="00020600040101010101" pitchFamily="18" charset="-122"/>
              </a:rPr>
              <a:t>04</a:t>
            </a:r>
            <a:endParaRPr lang="zh-CN" altLang="en-US" sz="2400" dirty="0">
              <a:latin typeface="汉仪正圆-55W" panose="00020600040101010101" pitchFamily="18" charset="-122"/>
              <a:ea typeface="汉仪正圆-55W" panose="00020600040101010101" pitchFamily="18" charset="-122"/>
              <a:sym typeface="汉仪正圆-55W" panose="00020600040101010101" pitchFamily="18" charset="-122"/>
            </a:endParaRPr>
          </a:p>
        </p:txBody>
      </p:sp>
      <p:sp>
        <p:nvSpPr>
          <p:cNvPr id="37" name="深度视觉·原创设计 https://www.docer.com/works?userid=22383862">
            <a:extLst>
              <a:ext uri="{FF2B5EF4-FFF2-40B4-BE49-F238E27FC236}">
                <a16:creationId xmlns:a16="http://schemas.microsoft.com/office/drawing/2014/main" id="{32F54F86-5891-0D5C-D475-2F563788AF4D}"/>
              </a:ext>
            </a:extLst>
          </p:cNvPr>
          <p:cNvSpPr txBox="1"/>
          <p:nvPr>
            <p:custDataLst>
              <p:tags r:id="rId8"/>
            </p:custDataLst>
          </p:nvPr>
        </p:nvSpPr>
        <p:spPr>
          <a:xfrm>
            <a:off x="7203350" y="4419282"/>
            <a:ext cx="3619500" cy="521970"/>
          </a:xfrm>
          <a:prstGeom prst="rect">
            <a:avLst/>
          </a:prstGeom>
          <a:noFill/>
        </p:spPr>
        <p:txBody>
          <a:bodyPr wrap="square" rtlCol="0">
            <a:spAutoFit/>
          </a:bodyPr>
          <a:lstStyle/>
          <a:p>
            <a:r>
              <a:rPr lang="zh-CN" altLang="en-US" sz="2800" dirty="0">
                <a:solidFill>
                  <a:schemeClr val="tx1">
                    <a:lumMod val="75000"/>
                    <a:lumOff val="25000"/>
                  </a:schemeClr>
                </a:solidFill>
                <a:latin typeface="汉仪正圆-55W" panose="00020600040101010101" pitchFamily="18" charset="-122"/>
                <a:ea typeface="汉仪正圆-55W" panose="00020600040101010101" pitchFamily="18" charset="-122"/>
                <a:sym typeface="汉仪正圆-55W" panose="00020600040101010101" pitchFamily="18" charset="-122"/>
              </a:rPr>
              <a:t>四引擎算法路线</a:t>
            </a:r>
          </a:p>
        </p:txBody>
      </p:sp>
      <p:pic>
        <p:nvPicPr>
          <p:cNvPr id="39" name="图片 38">
            <a:extLst>
              <a:ext uri="{FF2B5EF4-FFF2-40B4-BE49-F238E27FC236}">
                <a16:creationId xmlns:a16="http://schemas.microsoft.com/office/drawing/2014/main" id="{49744A24-B851-E027-5890-641122C2883D}"/>
              </a:ext>
            </a:extLst>
          </p:cNvPr>
          <p:cNvPicPr>
            <a:picLocks noChangeAspect="1"/>
          </p:cNvPicPr>
          <p:nvPr/>
        </p:nvPicPr>
        <p:blipFill>
          <a:blip r:embed="rId14"/>
          <a:stretch>
            <a:fillRect/>
          </a:stretch>
        </p:blipFill>
        <p:spPr>
          <a:xfrm>
            <a:off x="8472588" y="-147566"/>
            <a:ext cx="3606733" cy="1384112"/>
          </a:xfrm>
          <a:prstGeom prst="rect">
            <a:avLst/>
          </a:prstGeom>
        </p:spPr>
      </p:pic>
      <p:sp>
        <p:nvSpPr>
          <p:cNvPr id="40" name="深度视觉·原创设计 https://www.docer.com/works?userid=22383862">
            <a:extLst>
              <a:ext uri="{FF2B5EF4-FFF2-40B4-BE49-F238E27FC236}">
                <a16:creationId xmlns:a16="http://schemas.microsoft.com/office/drawing/2014/main" id="{6D0940C5-84F2-B621-B852-24121C378095}"/>
              </a:ext>
            </a:extLst>
          </p:cNvPr>
          <p:cNvSpPr/>
          <p:nvPr>
            <p:custDataLst>
              <p:tags r:id="rId9"/>
            </p:custDataLst>
          </p:nvPr>
        </p:nvSpPr>
        <p:spPr>
          <a:xfrm>
            <a:off x="6265595" y="5365916"/>
            <a:ext cx="781050" cy="781050"/>
          </a:xfrm>
          <a:prstGeom prst="oc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汉仪正圆-55W" panose="00020600040101010101" pitchFamily="18" charset="-122"/>
                <a:ea typeface="汉仪正圆-55W" panose="00020600040101010101" pitchFamily="18" charset="-122"/>
                <a:sym typeface="汉仪正圆-55W" panose="00020600040101010101" pitchFamily="18" charset="-122"/>
              </a:rPr>
              <a:t>05</a:t>
            </a:r>
            <a:endParaRPr lang="zh-CN" altLang="en-US" sz="2400" dirty="0">
              <a:latin typeface="汉仪正圆-55W" panose="00020600040101010101" pitchFamily="18" charset="-122"/>
              <a:ea typeface="汉仪正圆-55W" panose="00020600040101010101" pitchFamily="18" charset="-122"/>
              <a:sym typeface="汉仪正圆-55W" panose="00020600040101010101" pitchFamily="18" charset="-122"/>
            </a:endParaRPr>
          </a:p>
        </p:txBody>
      </p:sp>
      <p:sp>
        <p:nvSpPr>
          <p:cNvPr id="41" name="深度视觉·原创设计 https://www.docer.com/works?userid=22383862">
            <a:extLst>
              <a:ext uri="{FF2B5EF4-FFF2-40B4-BE49-F238E27FC236}">
                <a16:creationId xmlns:a16="http://schemas.microsoft.com/office/drawing/2014/main" id="{032BCD0F-2C4F-BE54-96B7-57611ABD43A3}"/>
              </a:ext>
            </a:extLst>
          </p:cNvPr>
          <p:cNvSpPr txBox="1"/>
          <p:nvPr>
            <p:custDataLst>
              <p:tags r:id="rId10"/>
            </p:custDataLst>
          </p:nvPr>
        </p:nvSpPr>
        <p:spPr>
          <a:xfrm>
            <a:off x="7179995" y="5478258"/>
            <a:ext cx="3619500" cy="523220"/>
          </a:xfrm>
          <a:prstGeom prst="rect">
            <a:avLst/>
          </a:prstGeom>
          <a:noFill/>
        </p:spPr>
        <p:txBody>
          <a:bodyPr wrap="square" rtlCol="0">
            <a:spAutoFit/>
          </a:bodyPr>
          <a:lstStyle/>
          <a:p>
            <a:r>
              <a:rPr lang="zh-CN" altLang="en-US" sz="2800" dirty="0">
                <a:solidFill>
                  <a:schemeClr val="tx1">
                    <a:lumMod val="75000"/>
                    <a:lumOff val="25000"/>
                  </a:schemeClr>
                </a:solidFill>
                <a:latin typeface="汉仪正圆-55W" panose="00020600040101010101" pitchFamily="18" charset="-122"/>
                <a:ea typeface="汉仪正圆-55W" panose="00020600040101010101" pitchFamily="18" charset="-122"/>
                <a:sym typeface="汉仪正圆-55W" panose="00020600040101010101" pitchFamily="18" charset="-122"/>
              </a:rPr>
              <a:t>后续项目开展计划</a:t>
            </a:r>
          </a:p>
        </p:txBody>
      </p:sp>
    </p:spTree>
    <p:extLst>
      <p:ext uri="{BB962C8B-B14F-4D97-AF65-F5344CB8AC3E}">
        <p14:creationId xmlns:p14="http://schemas.microsoft.com/office/powerpoint/2010/main" val="513255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nSpc>
                <a:spcPct val="125000"/>
              </a:lnSpc>
              <a:defRPr/>
            </a:pPr>
            <a:r>
              <a:rPr lang="zh-CN" altLang="en-US" sz="3200" b="1" dirty="0">
                <a:solidFill>
                  <a:srgbClr val="007AFF"/>
                </a:solidFill>
                <a:latin typeface="Noto Sans SC"/>
                <a:ea typeface="Noto Sans SC"/>
                <a:sym typeface="Noto Sans SC"/>
              </a:rPr>
              <a:t>一、项目背景：</a:t>
            </a:r>
            <a:r>
              <a:rPr lang="en-US" sz="3200" b="1" dirty="0" err="1">
                <a:solidFill>
                  <a:srgbClr val="007AFF"/>
                </a:solidFill>
                <a:latin typeface="Noto Sans SC"/>
                <a:ea typeface="Noto Sans SC"/>
                <a:sym typeface="Noto Sans SC"/>
              </a:rPr>
              <a:t>多模态</a:t>
            </a:r>
            <a:r>
              <a:rPr lang="zh-CN" altLang="en-US" sz="3200" b="1" dirty="0">
                <a:solidFill>
                  <a:srgbClr val="007AFF"/>
                </a:solidFill>
                <a:latin typeface="Noto Sans SC"/>
                <a:ea typeface="Noto Sans SC"/>
                <a:sym typeface="Noto Sans SC"/>
              </a:rPr>
              <a:t>数据集质量不可忽视</a:t>
            </a:r>
            <a:endParaRPr lang="en-US" sz="3200" b="1" dirty="0">
              <a:solidFill>
                <a:srgbClr val="007AFF"/>
              </a:solidFill>
              <a:latin typeface="Noto Sans SC"/>
              <a:ea typeface="Noto Sans SC"/>
            </a:endParaRPr>
          </a:p>
        </p:txBody>
      </p:sp>
      <p:sp>
        <p:nvSpPr>
          <p:cNvPr id="6" name="AutoShape 6"/>
          <p:cNvSpPr/>
          <p:nvPr/>
        </p:nvSpPr>
        <p:spPr>
          <a:xfrm>
            <a:off x="762000" y="1767840"/>
            <a:ext cx="10668000" cy="4455160"/>
          </a:xfrm>
          <a:prstGeom prst="roundRect">
            <a:avLst>
              <a:gd name="adj" fmla="val 10000"/>
            </a:avLst>
          </a:prstGeom>
          <a:solidFill>
            <a:srgbClr val="FFFFFF">
              <a:alpha val="92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j-ea"/>
              <a:ea typeface="+mj-ea"/>
            </a:endParaRPr>
          </a:p>
        </p:txBody>
      </p:sp>
      <p:sp>
        <p:nvSpPr>
          <p:cNvPr id="7" name="AutoShape 7"/>
          <p:cNvSpPr/>
          <p:nvPr/>
        </p:nvSpPr>
        <p:spPr>
          <a:xfrm>
            <a:off x="1270000" y="2336800"/>
            <a:ext cx="9652000" cy="3393440"/>
          </a:xfrm>
          <a:prstGeom prst="rect">
            <a:avLst/>
          </a:prstGeom>
          <a:noFill/>
          <a:ln w="12700" cap="flat" cmpd="sng">
            <a:noFill/>
            <a:prstDash val="solid"/>
            <a:round/>
          </a:ln>
        </p:spPr>
        <p:txBody>
          <a:bodyPr vert="horz" wrap="square" lIns="0" tIns="0" rIns="0" bIns="0" rtlCol="0" anchor="ctr" anchorCtr="0"/>
          <a:lstStyle/>
          <a:p>
            <a:pPr algn="ctr">
              <a:defRPr/>
            </a:pPr>
            <a:r>
              <a:rPr lang="en-US" altLang="zh-CN" sz="3200" dirty="0" err="1">
                <a:solidFill>
                  <a:srgbClr val="EA580C"/>
                </a:solidFill>
                <a:latin typeface="+mj-ea"/>
                <a:ea typeface="+mj-ea"/>
                <a:sym typeface="Noto Sans SC"/>
              </a:rPr>
              <a:t>从“及格线”走向“高标准</a:t>
            </a:r>
            <a:r>
              <a:rPr lang="en-US" altLang="zh-CN" sz="3200" dirty="0">
                <a:solidFill>
                  <a:srgbClr val="EA580C"/>
                </a:solidFill>
                <a:latin typeface="+mj-ea"/>
                <a:ea typeface="+mj-ea"/>
                <a:sym typeface="Noto Sans SC"/>
              </a:rPr>
              <a:t>”</a:t>
            </a:r>
          </a:p>
          <a:p>
            <a:pPr>
              <a:defRPr/>
            </a:pPr>
            <a:endParaRPr lang="en-US" altLang="zh-CN" sz="2400" dirty="0">
              <a:solidFill>
                <a:srgbClr val="EA580C"/>
              </a:solidFill>
              <a:latin typeface="+mj-ea"/>
              <a:ea typeface="+mj-ea"/>
            </a:endParaRPr>
          </a:p>
          <a:p>
            <a:pPr>
              <a:defRPr/>
            </a:pPr>
            <a:r>
              <a:rPr lang="zh-CN" altLang="en-US" sz="2400" dirty="0">
                <a:latin typeface="+mn-ea"/>
                <a:ea typeface="+mn-ea"/>
              </a:rPr>
              <a:t>随着多模态大模型快速兴起，仅校验缺失值、重复值的传统基础质检方式已然失效。数据质量如今已成为制约模型性能、鲁棒性与用户信任度的核心瓶颈，亟需建立全方位、高标准的多模态数据质量治理体系。</a:t>
            </a:r>
            <a:endParaRPr lang="en-US" altLang="zh-CN" sz="2400" dirty="0">
              <a:latin typeface="+mn-ea"/>
              <a:ea typeface="+mn-ea"/>
            </a:endParaRPr>
          </a:p>
          <a:p>
            <a:pPr>
              <a:defRPr/>
            </a:pPr>
            <a:endParaRPr lang="en-US" altLang="zh-CN" sz="2400" dirty="0">
              <a:latin typeface="+mn-ea"/>
              <a:ea typeface="+mn-ea"/>
            </a:endParaRPr>
          </a:p>
          <a:p>
            <a:pPr>
              <a:defRPr/>
            </a:pPr>
            <a:r>
              <a:rPr lang="zh-CN" altLang="en-US" sz="2400" dirty="0">
                <a:latin typeface="+mn-ea"/>
                <a:ea typeface="+mn-ea"/>
              </a:rPr>
              <a:t>多模态数据是当下 </a:t>
            </a:r>
            <a:r>
              <a:rPr lang="en-US" altLang="zh-CN" sz="2400" dirty="0">
                <a:latin typeface="+mn-ea"/>
                <a:ea typeface="+mn-ea"/>
              </a:rPr>
              <a:t>AI </a:t>
            </a:r>
            <a:r>
              <a:rPr lang="zh-CN" altLang="en-US" sz="2400" dirty="0">
                <a:latin typeface="+mn-ea"/>
                <a:ea typeface="+mn-ea"/>
              </a:rPr>
              <a:t>发展的核心基石，但数据质量问题长期被忽视。传统数据清洗方法只能解决基础简单问题，面对多模态数据特有的</a:t>
            </a:r>
            <a:r>
              <a:rPr lang="zh-CN" altLang="en-US" sz="2400" b="1" dirty="0">
                <a:solidFill>
                  <a:schemeClr val="accent1"/>
                </a:solidFill>
                <a:latin typeface="+mn-ea"/>
                <a:ea typeface="+mn-ea"/>
              </a:rPr>
              <a:t>分布偏差、标签错误、对抗脆弱性、物理异常</a:t>
            </a:r>
            <a:r>
              <a:rPr lang="zh-CN" altLang="en-US" sz="2400" dirty="0">
                <a:latin typeface="+mn-ea"/>
                <a:ea typeface="+mn-ea"/>
              </a:rPr>
              <a:t>等风险完全难以适配，而这类隐患会直接影响模型使用效果与运行安全。</a:t>
            </a:r>
            <a:endParaRPr lang="en-US" altLang="zh-CN" sz="2400" dirty="0">
              <a:solidFill>
                <a:srgbClr val="374151"/>
              </a:solidFill>
              <a:latin typeface="+mn-ea"/>
              <a:ea typeface="+mn-ea"/>
              <a:sym typeface="Noto Sans SC"/>
            </a:endParaRPr>
          </a:p>
        </p:txBody>
      </p:sp>
      <p:pic>
        <p:nvPicPr>
          <p:cNvPr id="27" name="图片 26">
            <a:extLst>
              <a:ext uri="{FF2B5EF4-FFF2-40B4-BE49-F238E27FC236}">
                <a16:creationId xmlns:a16="http://schemas.microsoft.com/office/drawing/2014/main" id="{E56C1680-F52F-5589-BCA4-6F6BD430CC25}"/>
              </a:ext>
            </a:extLst>
          </p:cNvPr>
          <p:cNvPicPr>
            <a:picLocks noChangeAspect="1"/>
          </p:cNvPicPr>
          <p:nvPr/>
        </p:nvPicPr>
        <p:blipFill>
          <a:blip r:embed="rId4"/>
          <a:stretch>
            <a:fillRect/>
          </a:stretch>
        </p:blipFill>
        <p:spPr>
          <a:xfrm>
            <a:off x="8472588" y="-147566"/>
            <a:ext cx="3606733" cy="138411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DAF0456-EA4A-04F3-ED57-559A12033DC4}"/>
            </a:ext>
          </a:extLst>
        </p:cNvPr>
        <p:cNvGrpSpPr/>
        <p:nvPr/>
      </p:nvGrpSpPr>
      <p:grpSpPr>
        <a:xfrm>
          <a:off x="0" y="0"/>
          <a:ext cx="0" cy="0"/>
          <a:chOff x="0" y="0"/>
          <a:chExt cx="0" cy="0"/>
        </a:xfrm>
      </p:grpSpPr>
      <p:sp>
        <p:nvSpPr>
          <p:cNvPr id="10" name="AutoShape 10">
            <a:extLst>
              <a:ext uri="{FF2B5EF4-FFF2-40B4-BE49-F238E27FC236}">
                <a16:creationId xmlns:a16="http://schemas.microsoft.com/office/drawing/2014/main" id="{FBC752A7-6D70-298A-1436-741BFDA58FCF}"/>
              </a:ext>
            </a:extLst>
          </p:cNvPr>
          <p:cNvSpPr/>
          <p:nvPr/>
        </p:nvSpPr>
        <p:spPr>
          <a:xfrm>
            <a:off x="1137920" y="1503680"/>
            <a:ext cx="4892040" cy="2286000"/>
          </a:xfrm>
          <a:prstGeom prst="roundRect">
            <a:avLst>
              <a:gd name="adj" fmla="val 6666"/>
            </a:avLst>
          </a:prstGeom>
          <a:solidFill>
            <a:srgbClr val="FFFFFF">
              <a:alpha val="92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400">
              <a:latin typeface="+mj-ea"/>
              <a:ea typeface="+mj-ea"/>
            </a:endParaRPr>
          </a:p>
        </p:txBody>
      </p:sp>
      <p:pic>
        <p:nvPicPr>
          <p:cNvPr id="11" name="Picture 11">
            <a:extLst>
              <a:ext uri="{FF2B5EF4-FFF2-40B4-BE49-F238E27FC236}">
                <a16:creationId xmlns:a16="http://schemas.microsoft.com/office/drawing/2014/main" id="{7807B59D-0F96-1AFF-E748-13B1044494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98600" y="1757680"/>
            <a:ext cx="457200" cy="457200"/>
          </a:xfrm>
          <a:prstGeom prst="rect">
            <a:avLst/>
          </a:prstGeom>
        </p:spPr>
      </p:pic>
      <p:sp>
        <p:nvSpPr>
          <p:cNvPr id="12" name="AutoShape 12">
            <a:extLst>
              <a:ext uri="{FF2B5EF4-FFF2-40B4-BE49-F238E27FC236}">
                <a16:creationId xmlns:a16="http://schemas.microsoft.com/office/drawing/2014/main" id="{C1489E7A-137D-0C0C-0C79-EC95AA676753}"/>
              </a:ext>
            </a:extLst>
          </p:cNvPr>
          <p:cNvSpPr/>
          <p:nvPr/>
        </p:nvSpPr>
        <p:spPr>
          <a:xfrm>
            <a:off x="2133600" y="1757680"/>
            <a:ext cx="376936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111827"/>
                </a:solidFill>
                <a:latin typeface="+mj-ea"/>
                <a:ea typeface="+mj-ea"/>
                <a:cs typeface="Noto Sans SC"/>
                <a:sym typeface="Noto Sans SC"/>
              </a:rPr>
              <a:t>分布偏斜</a:t>
            </a:r>
            <a:endParaRPr lang="en-US" sz="2400" dirty="0">
              <a:latin typeface="+mj-ea"/>
              <a:ea typeface="+mj-ea"/>
            </a:endParaRPr>
          </a:p>
          <a:p>
            <a:pPr indent="0" algn="l">
              <a:lnSpc>
                <a:spcPct val="125000"/>
              </a:lnSpc>
            </a:pPr>
            <a:r>
              <a:rPr lang="en-US" sz="2400" b="0" i="0" u="none" strike="noStrike" dirty="0">
                <a:solidFill>
                  <a:srgbClr val="6B7280"/>
                </a:solidFill>
                <a:latin typeface="+mj-ea"/>
                <a:ea typeface="+mj-ea"/>
                <a:cs typeface="Noto Sans SC"/>
                <a:sym typeface="Noto Sans SC"/>
              </a:rPr>
              <a:t>Distribution Bias</a:t>
            </a:r>
          </a:p>
        </p:txBody>
      </p:sp>
      <p:sp>
        <p:nvSpPr>
          <p:cNvPr id="13" name="AutoShape 13">
            <a:extLst>
              <a:ext uri="{FF2B5EF4-FFF2-40B4-BE49-F238E27FC236}">
                <a16:creationId xmlns:a16="http://schemas.microsoft.com/office/drawing/2014/main" id="{AF598F17-96D9-1D2B-0BB6-CC509D20A56E}"/>
              </a:ext>
            </a:extLst>
          </p:cNvPr>
          <p:cNvSpPr/>
          <p:nvPr/>
        </p:nvSpPr>
        <p:spPr>
          <a:xfrm>
            <a:off x="1544320" y="2519680"/>
            <a:ext cx="423164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2400" b="0" i="0" u="none" strike="noStrike" dirty="0">
                <a:solidFill>
                  <a:srgbClr val="374151"/>
                </a:solidFill>
                <a:latin typeface="+mj-ea"/>
                <a:ea typeface="+mj-ea"/>
                <a:cs typeface="Noto Sans SC"/>
                <a:sym typeface="Noto Sans SC"/>
              </a:rPr>
              <a:t>训练集类别分布不均或与真实场景差异显著，导致模型“</a:t>
            </a:r>
            <a:r>
              <a:rPr lang="en-US" sz="2400" b="0" i="0" u="none" strike="noStrike" dirty="0" err="1">
                <a:solidFill>
                  <a:srgbClr val="374151"/>
                </a:solidFill>
                <a:latin typeface="+mj-ea"/>
                <a:ea typeface="+mj-ea"/>
                <a:cs typeface="Noto Sans SC"/>
                <a:sym typeface="Noto Sans SC"/>
              </a:rPr>
              <a:t>偏科</a:t>
            </a:r>
            <a:r>
              <a:rPr lang="en-US" sz="2400" b="0" i="0" u="none" strike="noStrike" dirty="0">
                <a:solidFill>
                  <a:srgbClr val="374151"/>
                </a:solidFill>
                <a:latin typeface="+mj-ea"/>
                <a:ea typeface="+mj-ea"/>
                <a:cs typeface="Noto Sans SC"/>
                <a:sym typeface="Noto Sans SC"/>
              </a:rPr>
              <a:t>”，</a:t>
            </a:r>
            <a:r>
              <a:rPr lang="en-US" sz="2400" b="0" i="0" u="none" strike="noStrike" dirty="0" err="1">
                <a:solidFill>
                  <a:srgbClr val="374151"/>
                </a:solidFill>
                <a:latin typeface="+mj-ea"/>
                <a:ea typeface="+mj-ea"/>
                <a:cs typeface="Noto Sans SC"/>
                <a:sym typeface="Noto Sans SC"/>
              </a:rPr>
              <a:t>泛化能力大打折扣</a:t>
            </a:r>
            <a:r>
              <a:rPr lang="en-US" sz="2400" b="0" i="0" u="none" strike="noStrike" dirty="0">
                <a:solidFill>
                  <a:srgbClr val="374151"/>
                </a:solidFill>
                <a:latin typeface="+mj-ea"/>
                <a:ea typeface="+mj-ea"/>
                <a:cs typeface="Noto Sans SC"/>
                <a:sym typeface="Noto Sans SC"/>
              </a:rPr>
              <a:t>。</a:t>
            </a:r>
            <a:endParaRPr lang="en-US" sz="2400" dirty="0">
              <a:latin typeface="+mj-ea"/>
              <a:ea typeface="+mj-ea"/>
            </a:endParaRPr>
          </a:p>
        </p:txBody>
      </p:sp>
      <p:sp>
        <p:nvSpPr>
          <p:cNvPr id="14" name="AutoShape 14">
            <a:extLst>
              <a:ext uri="{FF2B5EF4-FFF2-40B4-BE49-F238E27FC236}">
                <a16:creationId xmlns:a16="http://schemas.microsoft.com/office/drawing/2014/main" id="{99CFFC97-90F4-F9A6-4A2B-C402C902CBC3}"/>
              </a:ext>
            </a:extLst>
          </p:cNvPr>
          <p:cNvSpPr/>
          <p:nvPr/>
        </p:nvSpPr>
        <p:spPr>
          <a:xfrm>
            <a:off x="6283960" y="1503680"/>
            <a:ext cx="4892040" cy="2286000"/>
          </a:xfrm>
          <a:prstGeom prst="roundRect">
            <a:avLst>
              <a:gd name="adj" fmla="val 6666"/>
            </a:avLst>
          </a:prstGeom>
          <a:solidFill>
            <a:srgbClr val="FFFFFF">
              <a:alpha val="92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400">
              <a:latin typeface="+mj-ea"/>
              <a:ea typeface="+mj-ea"/>
            </a:endParaRPr>
          </a:p>
        </p:txBody>
      </p:sp>
      <p:pic>
        <p:nvPicPr>
          <p:cNvPr id="15" name="Picture 15">
            <a:extLst>
              <a:ext uri="{FF2B5EF4-FFF2-40B4-BE49-F238E27FC236}">
                <a16:creationId xmlns:a16="http://schemas.microsoft.com/office/drawing/2014/main" id="{BBB0C40F-A8EA-91A7-3FFB-7935FEF0DCA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37960" y="1757680"/>
            <a:ext cx="457200" cy="457200"/>
          </a:xfrm>
          <a:prstGeom prst="rect">
            <a:avLst/>
          </a:prstGeom>
        </p:spPr>
      </p:pic>
      <p:sp>
        <p:nvSpPr>
          <p:cNvPr id="16" name="AutoShape 16">
            <a:extLst>
              <a:ext uri="{FF2B5EF4-FFF2-40B4-BE49-F238E27FC236}">
                <a16:creationId xmlns:a16="http://schemas.microsoft.com/office/drawing/2014/main" id="{82E4881A-743E-3A70-F662-C20CA70F2A64}"/>
              </a:ext>
            </a:extLst>
          </p:cNvPr>
          <p:cNvSpPr/>
          <p:nvPr/>
        </p:nvSpPr>
        <p:spPr>
          <a:xfrm>
            <a:off x="7172960" y="1757680"/>
            <a:ext cx="177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111827"/>
                </a:solidFill>
                <a:latin typeface="+mj-ea"/>
                <a:ea typeface="+mj-ea"/>
                <a:cs typeface="Noto Sans SC"/>
                <a:sym typeface="Noto Sans SC"/>
              </a:rPr>
              <a:t>标签错误</a:t>
            </a:r>
            <a:endParaRPr lang="en-US" sz="2400">
              <a:latin typeface="+mj-ea"/>
              <a:ea typeface="+mj-ea"/>
            </a:endParaRPr>
          </a:p>
          <a:p>
            <a:pPr indent="0" algn="l">
              <a:lnSpc>
                <a:spcPct val="125000"/>
              </a:lnSpc>
            </a:pPr>
            <a:r>
              <a:rPr lang="en-US" sz="2400" b="0" i="0" u="none" strike="noStrike">
                <a:solidFill>
                  <a:srgbClr val="6B7280"/>
                </a:solidFill>
                <a:latin typeface="+mj-ea"/>
                <a:ea typeface="+mj-ea"/>
                <a:cs typeface="Noto Sans SC"/>
                <a:sym typeface="Noto Sans SC"/>
              </a:rPr>
              <a:t>Dirty Data</a:t>
            </a:r>
          </a:p>
        </p:txBody>
      </p:sp>
      <p:sp>
        <p:nvSpPr>
          <p:cNvPr id="17" name="AutoShape 17">
            <a:extLst>
              <a:ext uri="{FF2B5EF4-FFF2-40B4-BE49-F238E27FC236}">
                <a16:creationId xmlns:a16="http://schemas.microsoft.com/office/drawing/2014/main" id="{A427BA7B-C327-A3BA-85D8-3ADB862E1604}"/>
              </a:ext>
            </a:extLst>
          </p:cNvPr>
          <p:cNvSpPr/>
          <p:nvPr/>
        </p:nvSpPr>
        <p:spPr>
          <a:xfrm>
            <a:off x="6537960" y="2519680"/>
            <a:ext cx="442468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2400" b="0" i="0" u="none" strike="noStrike" dirty="0" err="1">
                <a:solidFill>
                  <a:srgbClr val="374151"/>
                </a:solidFill>
                <a:latin typeface="+mj-ea"/>
                <a:ea typeface="+mj-ea"/>
                <a:cs typeface="Noto Sans SC"/>
                <a:sym typeface="Noto Sans SC"/>
              </a:rPr>
              <a:t>除基础脏数据外，更致命的是</a:t>
            </a:r>
            <a:r>
              <a:rPr lang="en-US" sz="2400" b="1" i="0" u="none" strike="noStrike" dirty="0" err="1">
                <a:solidFill>
                  <a:srgbClr val="EA580C"/>
                </a:solidFill>
                <a:latin typeface="+mj-ea"/>
                <a:ea typeface="+mj-ea"/>
                <a:cs typeface="Noto Sans SC"/>
                <a:sym typeface="Noto Sans SC"/>
              </a:rPr>
              <a:t>标注逻辑错误</a:t>
            </a:r>
            <a:r>
              <a:rPr lang="en-US" sz="2400" b="0" i="0" u="none" strike="noStrike" dirty="0" err="1">
                <a:solidFill>
                  <a:srgbClr val="374151"/>
                </a:solidFill>
                <a:latin typeface="+mj-ea"/>
                <a:ea typeface="+mj-ea"/>
                <a:cs typeface="Noto Sans SC"/>
                <a:sym typeface="Noto Sans SC"/>
              </a:rPr>
              <a:t>（如猫标为狗</a:t>
            </a:r>
            <a:r>
              <a:rPr lang="en-US" sz="2400" b="0" i="0" u="none" strike="noStrike" dirty="0">
                <a:solidFill>
                  <a:srgbClr val="374151"/>
                </a:solidFill>
                <a:latin typeface="+mj-ea"/>
                <a:ea typeface="+mj-ea"/>
                <a:cs typeface="Noto Sans SC"/>
                <a:sym typeface="Noto Sans SC"/>
              </a:rPr>
              <a:t>），</a:t>
            </a:r>
            <a:r>
              <a:rPr lang="en-US" sz="2400" b="0" i="0" u="none" strike="noStrike" dirty="0" err="1">
                <a:solidFill>
                  <a:srgbClr val="374151"/>
                </a:solidFill>
                <a:latin typeface="+mj-ea"/>
                <a:ea typeface="+mj-ea"/>
                <a:cs typeface="Noto Sans SC"/>
                <a:sym typeface="Noto Sans SC"/>
              </a:rPr>
              <a:t>严重误导模型训练</a:t>
            </a:r>
            <a:r>
              <a:rPr lang="en-US" sz="2400" b="0" i="0" u="none" strike="noStrike" dirty="0">
                <a:solidFill>
                  <a:srgbClr val="374151"/>
                </a:solidFill>
                <a:latin typeface="+mj-ea"/>
                <a:ea typeface="+mj-ea"/>
                <a:cs typeface="Noto Sans SC"/>
                <a:sym typeface="Noto Sans SC"/>
              </a:rPr>
              <a:t>。</a:t>
            </a:r>
            <a:endParaRPr lang="en-US" sz="2400" dirty="0">
              <a:latin typeface="+mj-ea"/>
              <a:ea typeface="+mj-ea"/>
            </a:endParaRPr>
          </a:p>
        </p:txBody>
      </p:sp>
      <p:sp>
        <p:nvSpPr>
          <p:cNvPr id="18" name="AutoShape 18">
            <a:extLst>
              <a:ext uri="{FF2B5EF4-FFF2-40B4-BE49-F238E27FC236}">
                <a16:creationId xmlns:a16="http://schemas.microsoft.com/office/drawing/2014/main" id="{85C371FC-7A98-7E6F-EC55-8182DEDC3FCE}"/>
              </a:ext>
            </a:extLst>
          </p:cNvPr>
          <p:cNvSpPr/>
          <p:nvPr/>
        </p:nvSpPr>
        <p:spPr>
          <a:xfrm>
            <a:off x="1137920" y="4043680"/>
            <a:ext cx="4892040" cy="2286000"/>
          </a:xfrm>
          <a:prstGeom prst="roundRect">
            <a:avLst>
              <a:gd name="adj" fmla="val 6666"/>
            </a:avLst>
          </a:prstGeom>
          <a:solidFill>
            <a:srgbClr val="FFFFFF">
              <a:alpha val="92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400">
              <a:latin typeface="+mj-ea"/>
              <a:ea typeface="+mj-ea"/>
            </a:endParaRPr>
          </a:p>
        </p:txBody>
      </p:sp>
      <p:pic>
        <p:nvPicPr>
          <p:cNvPr id="19" name="Picture 19">
            <a:extLst>
              <a:ext uri="{FF2B5EF4-FFF2-40B4-BE49-F238E27FC236}">
                <a16:creationId xmlns:a16="http://schemas.microsoft.com/office/drawing/2014/main" id="{7A2C1263-0CAC-8AC4-5F7B-30FF8BE96DE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98600" y="4297680"/>
            <a:ext cx="457200" cy="457200"/>
          </a:xfrm>
          <a:prstGeom prst="rect">
            <a:avLst/>
          </a:prstGeom>
        </p:spPr>
      </p:pic>
      <p:sp>
        <p:nvSpPr>
          <p:cNvPr id="20" name="AutoShape 20">
            <a:extLst>
              <a:ext uri="{FF2B5EF4-FFF2-40B4-BE49-F238E27FC236}">
                <a16:creationId xmlns:a16="http://schemas.microsoft.com/office/drawing/2014/main" id="{400D058E-1DB3-A938-2D3C-BFDC7EFD67A7}"/>
              </a:ext>
            </a:extLst>
          </p:cNvPr>
          <p:cNvSpPr/>
          <p:nvPr/>
        </p:nvSpPr>
        <p:spPr>
          <a:xfrm>
            <a:off x="2133600" y="4297680"/>
            <a:ext cx="376936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111827"/>
                </a:solidFill>
                <a:latin typeface="+mj-ea"/>
                <a:ea typeface="+mj-ea"/>
                <a:cs typeface="Noto Sans SC"/>
                <a:sym typeface="Noto Sans SC"/>
              </a:rPr>
              <a:t>对抗脆弱性</a:t>
            </a:r>
            <a:endParaRPr lang="en-US" sz="2400" dirty="0">
              <a:latin typeface="+mj-ea"/>
              <a:ea typeface="+mj-ea"/>
            </a:endParaRPr>
          </a:p>
          <a:p>
            <a:pPr indent="0" algn="l">
              <a:lnSpc>
                <a:spcPct val="125000"/>
              </a:lnSpc>
            </a:pPr>
            <a:r>
              <a:rPr lang="en-US" sz="2400" b="0" i="0" u="none" strike="noStrike" dirty="0">
                <a:solidFill>
                  <a:srgbClr val="6B7280"/>
                </a:solidFill>
                <a:latin typeface="+mj-ea"/>
                <a:ea typeface="+mj-ea"/>
                <a:cs typeface="Noto Sans SC"/>
                <a:sym typeface="Noto Sans SC"/>
              </a:rPr>
              <a:t>Adversarial Vulnerability</a:t>
            </a:r>
          </a:p>
        </p:txBody>
      </p:sp>
      <p:sp>
        <p:nvSpPr>
          <p:cNvPr id="21" name="AutoShape 21">
            <a:extLst>
              <a:ext uri="{FF2B5EF4-FFF2-40B4-BE49-F238E27FC236}">
                <a16:creationId xmlns:a16="http://schemas.microsoft.com/office/drawing/2014/main" id="{3A73B4A9-DDB1-4240-C727-8298D4012898}"/>
              </a:ext>
            </a:extLst>
          </p:cNvPr>
          <p:cNvSpPr/>
          <p:nvPr/>
        </p:nvSpPr>
        <p:spPr>
          <a:xfrm>
            <a:off x="1544320" y="5059680"/>
            <a:ext cx="423164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2400" b="0" i="0" u="none" strike="noStrike" dirty="0">
                <a:solidFill>
                  <a:srgbClr val="374151"/>
                </a:solidFill>
                <a:latin typeface="+mj-ea"/>
                <a:ea typeface="+mj-ea"/>
                <a:cs typeface="Noto Sans SC"/>
                <a:sym typeface="Noto Sans SC"/>
              </a:rPr>
              <a:t>对输入的微小扰动异常敏感，极易被“</a:t>
            </a:r>
            <a:r>
              <a:rPr lang="en-US" sz="2400" b="0" i="0" u="none" strike="noStrike" dirty="0" err="1">
                <a:solidFill>
                  <a:srgbClr val="374151"/>
                </a:solidFill>
                <a:latin typeface="+mj-ea"/>
                <a:ea typeface="+mj-ea"/>
                <a:cs typeface="Noto Sans SC"/>
                <a:sym typeface="Noto Sans SC"/>
              </a:rPr>
              <a:t>欺骗</a:t>
            </a:r>
            <a:r>
              <a:rPr lang="en-US" sz="2400" b="0" i="0" u="none" strike="noStrike" dirty="0">
                <a:solidFill>
                  <a:srgbClr val="374151"/>
                </a:solidFill>
                <a:latin typeface="+mj-ea"/>
                <a:ea typeface="+mj-ea"/>
                <a:cs typeface="Noto Sans SC"/>
                <a:sym typeface="Noto Sans SC"/>
              </a:rPr>
              <a:t>”，</a:t>
            </a:r>
            <a:r>
              <a:rPr lang="en-US" sz="2400" b="0" i="0" u="none" strike="noStrike" dirty="0" err="1">
                <a:solidFill>
                  <a:srgbClr val="374151"/>
                </a:solidFill>
                <a:latin typeface="+mj-ea"/>
                <a:ea typeface="+mj-ea"/>
                <a:cs typeface="Noto Sans SC"/>
                <a:sym typeface="Noto Sans SC"/>
              </a:rPr>
              <a:t>是AI应用的重大安全隐患</a:t>
            </a:r>
            <a:r>
              <a:rPr lang="en-US" sz="2400" b="0" i="0" u="none" strike="noStrike" dirty="0">
                <a:solidFill>
                  <a:srgbClr val="374151"/>
                </a:solidFill>
                <a:latin typeface="+mj-ea"/>
                <a:ea typeface="+mj-ea"/>
                <a:cs typeface="Noto Sans SC"/>
                <a:sym typeface="Noto Sans SC"/>
              </a:rPr>
              <a:t>。</a:t>
            </a:r>
            <a:endParaRPr lang="en-US" sz="2400" dirty="0">
              <a:latin typeface="+mj-ea"/>
              <a:ea typeface="+mj-ea"/>
            </a:endParaRPr>
          </a:p>
        </p:txBody>
      </p:sp>
      <p:sp>
        <p:nvSpPr>
          <p:cNvPr id="22" name="AutoShape 22">
            <a:extLst>
              <a:ext uri="{FF2B5EF4-FFF2-40B4-BE49-F238E27FC236}">
                <a16:creationId xmlns:a16="http://schemas.microsoft.com/office/drawing/2014/main" id="{7C00E72A-38D2-CCFE-D53C-C8E60EF4B3AB}"/>
              </a:ext>
            </a:extLst>
          </p:cNvPr>
          <p:cNvSpPr/>
          <p:nvPr/>
        </p:nvSpPr>
        <p:spPr>
          <a:xfrm>
            <a:off x="6283960" y="4043680"/>
            <a:ext cx="4892040" cy="2286000"/>
          </a:xfrm>
          <a:prstGeom prst="roundRect">
            <a:avLst>
              <a:gd name="adj" fmla="val 6666"/>
            </a:avLst>
          </a:prstGeom>
          <a:solidFill>
            <a:srgbClr val="FFFFFF">
              <a:alpha val="92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400">
              <a:latin typeface="+mj-ea"/>
              <a:ea typeface="+mj-ea"/>
            </a:endParaRPr>
          </a:p>
        </p:txBody>
      </p:sp>
      <p:pic>
        <p:nvPicPr>
          <p:cNvPr id="23" name="Picture 23">
            <a:extLst>
              <a:ext uri="{FF2B5EF4-FFF2-40B4-BE49-F238E27FC236}">
                <a16:creationId xmlns:a16="http://schemas.microsoft.com/office/drawing/2014/main" id="{1127CA20-A52A-F942-1DA8-9745EB9FAB7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37960" y="4297680"/>
            <a:ext cx="457200" cy="457200"/>
          </a:xfrm>
          <a:prstGeom prst="rect">
            <a:avLst/>
          </a:prstGeom>
        </p:spPr>
      </p:pic>
      <p:sp>
        <p:nvSpPr>
          <p:cNvPr id="24" name="AutoShape 24">
            <a:extLst>
              <a:ext uri="{FF2B5EF4-FFF2-40B4-BE49-F238E27FC236}">
                <a16:creationId xmlns:a16="http://schemas.microsoft.com/office/drawing/2014/main" id="{8B1AA460-9AB3-5661-F6C7-8C96613C4BF5}"/>
              </a:ext>
            </a:extLst>
          </p:cNvPr>
          <p:cNvSpPr/>
          <p:nvPr/>
        </p:nvSpPr>
        <p:spPr>
          <a:xfrm>
            <a:off x="7172960" y="4297680"/>
            <a:ext cx="302768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111827"/>
                </a:solidFill>
                <a:latin typeface="+mj-ea"/>
                <a:ea typeface="+mj-ea"/>
                <a:cs typeface="Noto Sans SC"/>
                <a:sym typeface="Noto Sans SC"/>
              </a:rPr>
              <a:t>物理保真度</a:t>
            </a:r>
            <a:endParaRPr lang="en-US" sz="2400" dirty="0">
              <a:latin typeface="+mj-ea"/>
              <a:ea typeface="+mj-ea"/>
            </a:endParaRPr>
          </a:p>
          <a:p>
            <a:pPr indent="0" algn="l">
              <a:lnSpc>
                <a:spcPct val="125000"/>
              </a:lnSpc>
            </a:pPr>
            <a:r>
              <a:rPr lang="en-US" sz="2400" b="0" i="0" u="none" strike="noStrike" dirty="0">
                <a:solidFill>
                  <a:srgbClr val="6B7280"/>
                </a:solidFill>
                <a:latin typeface="+mj-ea"/>
                <a:ea typeface="+mj-ea"/>
                <a:cs typeface="Noto Sans SC"/>
                <a:sym typeface="Noto Sans SC"/>
              </a:rPr>
              <a:t>Physical Fidelity</a:t>
            </a:r>
          </a:p>
        </p:txBody>
      </p:sp>
      <p:sp>
        <p:nvSpPr>
          <p:cNvPr id="25" name="AutoShape 25">
            <a:extLst>
              <a:ext uri="{FF2B5EF4-FFF2-40B4-BE49-F238E27FC236}">
                <a16:creationId xmlns:a16="http://schemas.microsoft.com/office/drawing/2014/main" id="{72AF3368-4B51-072F-EA33-28CBB67A35C2}"/>
              </a:ext>
            </a:extLst>
          </p:cNvPr>
          <p:cNvSpPr/>
          <p:nvPr/>
        </p:nvSpPr>
        <p:spPr>
          <a:xfrm>
            <a:off x="6537960" y="5059680"/>
            <a:ext cx="442468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2400" b="0" i="0" u="none" strike="noStrike" dirty="0" err="1">
                <a:solidFill>
                  <a:srgbClr val="374151"/>
                </a:solidFill>
                <a:latin typeface="+mj-ea"/>
                <a:ea typeface="+mj-ea"/>
                <a:cs typeface="Noto Sans SC"/>
                <a:sym typeface="Noto Sans SC"/>
              </a:rPr>
              <a:t>违背物理规律或业务逻辑（如水往高处流</a:t>
            </a:r>
            <a:r>
              <a:rPr lang="en-US" sz="2400" b="0" i="0" u="none" strike="noStrike" dirty="0">
                <a:solidFill>
                  <a:srgbClr val="374151"/>
                </a:solidFill>
                <a:latin typeface="+mj-ea"/>
                <a:ea typeface="+mj-ea"/>
                <a:cs typeface="Noto Sans SC"/>
                <a:sym typeface="Noto Sans SC"/>
              </a:rPr>
              <a:t>），</a:t>
            </a:r>
            <a:r>
              <a:rPr lang="en-US" sz="2400" b="0" i="0" u="none" strike="noStrike" dirty="0" err="1">
                <a:solidFill>
                  <a:srgbClr val="374151"/>
                </a:solidFill>
                <a:latin typeface="+mj-ea"/>
                <a:ea typeface="+mj-ea"/>
                <a:cs typeface="Noto Sans SC"/>
                <a:sym typeface="Noto Sans SC"/>
              </a:rPr>
              <a:t>导致模型产生不合常理的输出</a:t>
            </a:r>
            <a:r>
              <a:rPr lang="en-US" sz="2400" b="0" i="0" u="none" strike="noStrike" dirty="0">
                <a:solidFill>
                  <a:srgbClr val="374151"/>
                </a:solidFill>
                <a:latin typeface="+mj-ea"/>
                <a:ea typeface="+mj-ea"/>
                <a:cs typeface="Noto Sans SC"/>
                <a:sym typeface="Noto Sans SC"/>
              </a:rPr>
              <a:t>。</a:t>
            </a:r>
            <a:endParaRPr lang="en-US" sz="2400" dirty="0">
              <a:latin typeface="+mj-ea"/>
              <a:ea typeface="+mj-ea"/>
            </a:endParaRPr>
          </a:p>
        </p:txBody>
      </p:sp>
      <p:sp>
        <p:nvSpPr>
          <p:cNvPr id="27" name="AutoShape 3">
            <a:extLst>
              <a:ext uri="{FF2B5EF4-FFF2-40B4-BE49-F238E27FC236}">
                <a16:creationId xmlns:a16="http://schemas.microsoft.com/office/drawing/2014/main" id="{496CE2AD-DA54-4469-98C1-4DEE28E6E281}"/>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zh-CN" altLang="en-US" sz="3200" b="1" dirty="0">
                <a:solidFill>
                  <a:srgbClr val="007AFF"/>
                </a:solidFill>
                <a:latin typeface="Noto Sans SC"/>
                <a:ea typeface="Noto Sans SC"/>
                <a:sym typeface="Noto Sans SC"/>
              </a:rPr>
              <a:t>一、项目背景：</a:t>
            </a:r>
            <a:r>
              <a:rPr lang="en-US" altLang="zh-CN" sz="3200" b="1" dirty="0" err="1">
                <a:solidFill>
                  <a:srgbClr val="007AFF"/>
                </a:solidFill>
                <a:latin typeface="Noto Sans SC"/>
                <a:ea typeface="Noto Sans SC"/>
                <a:sym typeface="Noto Sans SC"/>
              </a:rPr>
              <a:t>多模态</a:t>
            </a:r>
            <a:r>
              <a:rPr lang="zh-CN" altLang="en-US" sz="3200" b="1" dirty="0">
                <a:solidFill>
                  <a:srgbClr val="007AFF"/>
                </a:solidFill>
                <a:latin typeface="Noto Sans SC"/>
                <a:ea typeface="Noto Sans SC"/>
                <a:sym typeface="Noto Sans SC"/>
              </a:rPr>
              <a:t>数据集质量不可忽视</a:t>
            </a:r>
            <a:endParaRPr lang="en-US" sz="3200" b="1" dirty="0">
              <a:solidFill>
                <a:srgbClr val="007AFF"/>
              </a:solidFill>
              <a:latin typeface="Noto Sans SC"/>
              <a:ea typeface="Noto Sans SC"/>
            </a:endParaRPr>
          </a:p>
        </p:txBody>
      </p:sp>
      <p:pic>
        <p:nvPicPr>
          <p:cNvPr id="29" name="图片 28">
            <a:extLst>
              <a:ext uri="{FF2B5EF4-FFF2-40B4-BE49-F238E27FC236}">
                <a16:creationId xmlns:a16="http://schemas.microsoft.com/office/drawing/2014/main" id="{D08EEBED-F211-E803-1CEB-80580D2CC7B4}"/>
              </a:ext>
            </a:extLst>
          </p:cNvPr>
          <p:cNvPicPr>
            <a:picLocks noChangeAspect="1"/>
          </p:cNvPicPr>
          <p:nvPr/>
        </p:nvPicPr>
        <p:blipFill>
          <a:blip r:embed="rId8"/>
          <a:stretch>
            <a:fillRect/>
          </a:stretch>
        </p:blipFill>
        <p:spPr>
          <a:xfrm>
            <a:off x="8472588" y="-147566"/>
            <a:ext cx="3606733" cy="1384112"/>
          </a:xfrm>
          <a:prstGeom prst="rect">
            <a:avLst/>
          </a:prstGeom>
        </p:spPr>
      </p:pic>
    </p:spTree>
    <p:extLst>
      <p:ext uri="{BB962C8B-B14F-4D97-AF65-F5344CB8AC3E}">
        <p14:creationId xmlns:p14="http://schemas.microsoft.com/office/powerpoint/2010/main" val="1123735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P spid="13" grpId="0"/>
      <p:bldP spid="14" grpId="0" animBg="1"/>
      <p:bldP spid="16" grpId="0"/>
      <p:bldP spid="17" grpId="0"/>
      <p:bldP spid="18" grpId="0" animBg="1"/>
      <p:bldP spid="20" grpId="0"/>
      <p:bldP spid="21" grpId="0"/>
      <p:bldP spid="22" grpId="0" animBg="1"/>
      <p:bldP spid="24" grpId="0"/>
      <p:bldP spid="2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A55B7AC-26D3-4D7E-D716-02338180E90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FDAC445-7FEC-94DC-1D31-05318E1C6606}"/>
              </a:ext>
            </a:extLst>
          </p:cNvPr>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a:extLst>
              <a:ext uri="{FF2B5EF4-FFF2-40B4-BE49-F238E27FC236}">
                <a16:creationId xmlns:a16="http://schemas.microsoft.com/office/drawing/2014/main" id="{CEDDD0F2-1096-0FE6-4EF7-AF086F862C55}"/>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dirty="0">
                <a:solidFill>
                  <a:srgbClr val="007AFF"/>
                </a:solidFill>
                <a:latin typeface="Noto Sans SC"/>
                <a:ea typeface="Noto Sans SC"/>
                <a:sym typeface="Noto Sans SC"/>
              </a:rPr>
              <a:t>二、项目介绍：多模态数据集扫描系统</a:t>
            </a:r>
            <a:endParaRPr lang="en-US" sz="1100" dirty="0"/>
          </a:p>
        </p:txBody>
      </p:sp>
      <p:sp>
        <p:nvSpPr>
          <p:cNvPr id="24" name="AutoShape 4">
            <a:extLst>
              <a:ext uri="{FF2B5EF4-FFF2-40B4-BE49-F238E27FC236}">
                <a16:creationId xmlns:a16="http://schemas.microsoft.com/office/drawing/2014/main" id="{FA6822EA-1FF7-4DB0-F7CF-4F1214BCD28B}"/>
              </a:ext>
            </a:extLst>
          </p:cNvPr>
          <p:cNvSpPr/>
          <p:nvPr/>
        </p:nvSpPr>
        <p:spPr>
          <a:xfrm>
            <a:off x="762000" y="1905000"/>
            <a:ext cx="10668000" cy="3562626"/>
          </a:xfrm>
          <a:prstGeom prst="roundRect">
            <a:avLst>
              <a:gd name="adj" fmla="val 10000"/>
            </a:avLst>
          </a:prstGeom>
          <a:solidFill>
            <a:srgbClr val="FFFFFF">
              <a:alpha val="92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j-ea"/>
              <a:ea typeface="+mj-ea"/>
            </a:endParaRPr>
          </a:p>
        </p:txBody>
      </p:sp>
      <p:sp>
        <p:nvSpPr>
          <p:cNvPr id="25" name="AutoShape 5">
            <a:extLst>
              <a:ext uri="{FF2B5EF4-FFF2-40B4-BE49-F238E27FC236}">
                <a16:creationId xmlns:a16="http://schemas.microsoft.com/office/drawing/2014/main" id="{0F6974C7-67D0-5C2A-2111-2980B19F9B48}"/>
              </a:ext>
            </a:extLst>
          </p:cNvPr>
          <p:cNvSpPr/>
          <p:nvPr/>
        </p:nvSpPr>
        <p:spPr>
          <a:xfrm>
            <a:off x="1520687" y="2419278"/>
            <a:ext cx="9452113" cy="2196139"/>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zh-CN" altLang="en-US" sz="3200" b="1" i="0" u="none" strike="noStrike" dirty="0">
                <a:solidFill>
                  <a:srgbClr val="007AFF"/>
                </a:solidFill>
                <a:latin typeface="+mj-ea"/>
                <a:ea typeface="+mj-ea"/>
                <a:cs typeface="Noto Sans SC"/>
                <a:sym typeface="Noto Sans SC"/>
              </a:rPr>
              <a:t>项目简介</a:t>
            </a:r>
            <a:endParaRPr lang="en-US" altLang="zh-CN" sz="3200" b="1" i="0" u="none" strike="noStrike" dirty="0">
              <a:solidFill>
                <a:srgbClr val="007AFF"/>
              </a:solidFill>
              <a:latin typeface="+mj-ea"/>
              <a:ea typeface="+mj-ea"/>
              <a:cs typeface="Noto Sans SC"/>
              <a:sym typeface="Noto Sans SC"/>
            </a:endParaRPr>
          </a:p>
          <a:p>
            <a:pPr indent="0" algn="ctr">
              <a:lnSpc>
                <a:spcPct val="100000"/>
              </a:lnSpc>
              <a:defRPr/>
            </a:pPr>
            <a:endParaRPr lang="en-US" altLang="zh-CN" sz="2400" dirty="0">
              <a:solidFill>
                <a:srgbClr val="007AFF"/>
              </a:solidFill>
              <a:latin typeface="+mj-ea"/>
              <a:ea typeface="+mj-ea"/>
              <a:cs typeface="Noto Sans SC"/>
              <a:sym typeface="Noto Sans SC"/>
            </a:endParaRPr>
          </a:p>
          <a:p>
            <a:pPr indent="0" algn="ctr">
              <a:lnSpc>
                <a:spcPct val="100000"/>
              </a:lnSpc>
              <a:defRPr/>
            </a:pPr>
            <a:r>
              <a:rPr lang="zh-CN" altLang="en-US" sz="2400" dirty="0">
                <a:solidFill>
                  <a:srgbClr val="374151"/>
                </a:solidFill>
                <a:latin typeface="+mj-ea"/>
                <a:ea typeface="+mj-ea"/>
                <a:cs typeface="Noto Sans SC"/>
                <a:sym typeface="Noto Sans SC"/>
              </a:rPr>
              <a:t>本项目面向多模态数据集在分布偏差、脏数据、对抗脆弱性与物理一致性等方面的质量问题，构建统一扫描平台，实现数据集登记、四引擎调度、结果汇总与报告展示，为后续算法接入和质量治理提供工具支撑。</a:t>
            </a:r>
          </a:p>
        </p:txBody>
      </p:sp>
      <p:pic>
        <p:nvPicPr>
          <p:cNvPr id="26" name="图片 25">
            <a:extLst>
              <a:ext uri="{FF2B5EF4-FFF2-40B4-BE49-F238E27FC236}">
                <a16:creationId xmlns:a16="http://schemas.microsoft.com/office/drawing/2014/main" id="{673B4745-E491-7093-5B1F-C87E0476AFFE}"/>
              </a:ext>
            </a:extLst>
          </p:cNvPr>
          <p:cNvPicPr>
            <a:picLocks noChangeAspect="1"/>
          </p:cNvPicPr>
          <p:nvPr/>
        </p:nvPicPr>
        <p:blipFill>
          <a:blip r:embed="rId4"/>
          <a:stretch>
            <a:fillRect/>
          </a:stretch>
        </p:blipFill>
        <p:spPr>
          <a:xfrm>
            <a:off x="8472588" y="-147566"/>
            <a:ext cx="3606733" cy="1384112"/>
          </a:xfrm>
          <a:prstGeom prst="rect">
            <a:avLst/>
          </a:prstGeom>
        </p:spPr>
      </p:pic>
    </p:spTree>
    <p:extLst>
      <p:ext uri="{BB962C8B-B14F-4D97-AF65-F5344CB8AC3E}">
        <p14:creationId xmlns:p14="http://schemas.microsoft.com/office/powerpoint/2010/main" val="1772617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A021D16-3D2C-9232-C8D5-2FCFBB0B190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F54D69B-B8DE-EEB4-03CF-18739327BB4A}"/>
              </a:ext>
            </a:extLst>
          </p:cNvPr>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a:extLst>
              <a:ext uri="{FF2B5EF4-FFF2-40B4-BE49-F238E27FC236}">
                <a16:creationId xmlns:a16="http://schemas.microsoft.com/office/drawing/2014/main" id="{D5F01E98-B327-721C-858B-AF3C4806C525}"/>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dirty="0">
                <a:solidFill>
                  <a:srgbClr val="007AFF"/>
                </a:solidFill>
                <a:latin typeface="Noto Sans SC"/>
                <a:ea typeface="Noto Sans SC"/>
                <a:sym typeface="Noto Sans SC"/>
              </a:rPr>
              <a:t>二、项目介绍：多模态数据集扫描系统</a:t>
            </a:r>
            <a:endParaRPr lang="en-US" sz="1100" dirty="0"/>
          </a:p>
        </p:txBody>
      </p:sp>
      <p:sp>
        <p:nvSpPr>
          <p:cNvPr id="4" name="AutoShape 4">
            <a:extLst>
              <a:ext uri="{FF2B5EF4-FFF2-40B4-BE49-F238E27FC236}">
                <a16:creationId xmlns:a16="http://schemas.microsoft.com/office/drawing/2014/main" id="{973A4D50-2C27-63E6-38D4-83131D1DFC34}"/>
              </a:ext>
            </a:extLst>
          </p:cNvPr>
          <p:cNvSpPr/>
          <p:nvPr/>
        </p:nvSpPr>
        <p:spPr>
          <a:xfrm>
            <a:off x="4572000" y="2687320"/>
            <a:ext cx="3048000" cy="1905000"/>
          </a:xfrm>
          <a:prstGeom prst="roundRect">
            <a:avLst>
              <a:gd name="adj" fmla="val 8000"/>
            </a:avLst>
          </a:prstGeom>
          <a:solidFill>
            <a:srgbClr val="007A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mj-ea"/>
              <a:ea typeface="+mj-ea"/>
            </a:endParaRPr>
          </a:p>
        </p:txBody>
      </p:sp>
      <p:sp>
        <p:nvSpPr>
          <p:cNvPr id="5" name="AutoShape 5">
            <a:extLst>
              <a:ext uri="{FF2B5EF4-FFF2-40B4-BE49-F238E27FC236}">
                <a16:creationId xmlns:a16="http://schemas.microsoft.com/office/drawing/2014/main" id="{E7696513-A63E-E589-67B2-40360845748B}"/>
              </a:ext>
            </a:extLst>
          </p:cNvPr>
          <p:cNvSpPr/>
          <p:nvPr/>
        </p:nvSpPr>
        <p:spPr>
          <a:xfrm>
            <a:off x="4699000" y="2941320"/>
            <a:ext cx="2794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dirty="0" err="1">
                <a:solidFill>
                  <a:srgbClr val="FFFFFF"/>
                </a:solidFill>
                <a:latin typeface="+mj-ea"/>
                <a:ea typeface="+mj-ea"/>
                <a:cs typeface="Noto Sans SC"/>
                <a:sym typeface="Noto Sans SC"/>
              </a:rPr>
              <a:t>多模态数据集</a:t>
            </a:r>
            <a:br>
              <a:rPr lang="en-US" sz="2000" b="0" i="0" u="none" strike="noStrike" dirty="0">
                <a:solidFill>
                  <a:srgbClr val="1F2329"/>
                </a:solidFill>
                <a:latin typeface="+mj-ea"/>
                <a:ea typeface="+mj-ea"/>
                <a:cs typeface="Noto Sans SC"/>
                <a:sym typeface="Noto Sans SC"/>
              </a:rPr>
            </a:br>
            <a:r>
              <a:rPr lang="en-US" sz="2000" b="1" i="0" u="none" strike="noStrike" dirty="0" err="1">
                <a:solidFill>
                  <a:srgbClr val="FFFFFF"/>
                </a:solidFill>
                <a:latin typeface="+mj-ea"/>
                <a:ea typeface="+mj-ea"/>
                <a:cs typeface="Noto Sans SC"/>
                <a:sym typeface="Noto Sans SC"/>
              </a:rPr>
              <a:t>质量扫描系统</a:t>
            </a:r>
            <a:endParaRPr lang="en-US" sz="2000" dirty="0">
              <a:latin typeface="+mj-ea"/>
              <a:ea typeface="+mj-ea"/>
            </a:endParaRPr>
          </a:p>
          <a:p>
            <a:pPr indent="0" algn="ctr">
              <a:lnSpc>
                <a:spcPct val="125000"/>
              </a:lnSpc>
            </a:pPr>
            <a:r>
              <a:rPr lang="en-US" sz="2000" b="0" i="0" u="none" strike="noStrike" dirty="0">
                <a:solidFill>
                  <a:srgbClr val="E6F2FF"/>
                </a:solidFill>
                <a:latin typeface="+mj-ea"/>
                <a:ea typeface="+mj-ea"/>
                <a:cs typeface="Noto Sans SC"/>
                <a:sym typeface="Noto Sans SC"/>
              </a:rPr>
              <a:t>Data Quality "CT Scan" System</a:t>
            </a:r>
          </a:p>
        </p:txBody>
      </p:sp>
      <p:sp>
        <p:nvSpPr>
          <p:cNvPr id="6" name="AutoShape 6">
            <a:extLst>
              <a:ext uri="{FF2B5EF4-FFF2-40B4-BE49-F238E27FC236}">
                <a16:creationId xmlns:a16="http://schemas.microsoft.com/office/drawing/2014/main" id="{A3622968-A940-E870-6EA4-EC1D8A7FBBA0}"/>
              </a:ext>
            </a:extLst>
          </p:cNvPr>
          <p:cNvSpPr/>
          <p:nvPr/>
        </p:nvSpPr>
        <p:spPr>
          <a:xfrm>
            <a:off x="762000" y="1534160"/>
            <a:ext cx="3619500" cy="2148840"/>
          </a:xfrm>
          <a:prstGeom prst="roundRect">
            <a:avLst>
              <a:gd name="adj" fmla="val 6153"/>
            </a:avLst>
          </a:prstGeom>
          <a:solidFill>
            <a:srgbClr val="FFFFFF">
              <a:alpha val="100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mj-ea"/>
              <a:ea typeface="+mj-ea"/>
            </a:endParaRPr>
          </a:p>
        </p:txBody>
      </p:sp>
      <p:pic>
        <p:nvPicPr>
          <p:cNvPr id="7" name="Picture 7">
            <a:extLst>
              <a:ext uri="{FF2B5EF4-FFF2-40B4-BE49-F238E27FC236}">
                <a16:creationId xmlns:a16="http://schemas.microsoft.com/office/drawing/2014/main" id="{4D494CC7-86F2-6593-F41F-3B09AD5E6A1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1380" y="1704340"/>
            <a:ext cx="406400" cy="406400"/>
          </a:xfrm>
          <a:prstGeom prst="rect">
            <a:avLst/>
          </a:prstGeom>
        </p:spPr>
      </p:pic>
      <p:sp>
        <p:nvSpPr>
          <p:cNvPr id="8" name="AutoShape 8">
            <a:extLst>
              <a:ext uri="{FF2B5EF4-FFF2-40B4-BE49-F238E27FC236}">
                <a16:creationId xmlns:a16="http://schemas.microsoft.com/office/drawing/2014/main" id="{A917A75B-2D47-8984-F4B8-64A2B4F5509E}"/>
              </a:ext>
            </a:extLst>
          </p:cNvPr>
          <p:cNvSpPr/>
          <p:nvPr/>
        </p:nvSpPr>
        <p:spPr>
          <a:xfrm>
            <a:off x="1358900" y="2021840"/>
            <a:ext cx="3022600" cy="1270000"/>
          </a:xfrm>
          <a:prstGeom prst="rect">
            <a:avLst/>
          </a:prstGeom>
          <a:noFill/>
          <a:ln w="12700" cap="flat" cmpd="sng">
            <a:noFill/>
            <a:prstDash val="solid"/>
            <a:round/>
          </a:ln>
        </p:spPr>
        <p:txBody>
          <a:bodyPr vert="horz" wrap="square" lIns="0" tIns="0" rIns="0" bIns="0" rtlCol="0" anchor="ctr" anchorCtr="0"/>
          <a:lstStyle/>
          <a:p>
            <a:pPr indent="0" algn="l">
              <a:defRPr/>
            </a:pPr>
            <a:r>
              <a:rPr lang="en-US" sz="2000" b="1" i="0" u="none" strike="noStrike" dirty="0">
                <a:solidFill>
                  <a:srgbClr val="1F2937"/>
                </a:solidFill>
                <a:latin typeface="+mj-ea"/>
                <a:ea typeface="+mj-ea"/>
                <a:cs typeface="Noto Sans SC"/>
                <a:sym typeface="Noto Sans SC"/>
              </a:rPr>
              <a:t>01 / </a:t>
            </a:r>
            <a:r>
              <a:rPr lang="en-US" sz="2000" b="1" i="0" u="none" strike="noStrike" dirty="0" err="1">
                <a:solidFill>
                  <a:srgbClr val="1F2937"/>
                </a:solidFill>
                <a:latin typeface="+mj-ea"/>
                <a:ea typeface="+mj-ea"/>
                <a:cs typeface="Noto Sans SC"/>
                <a:sym typeface="Noto Sans SC"/>
              </a:rPr>
              <a:t>统一平台</a:t>
            </a:r>
            <a:endParaRPr lang="en-US" sz="2000" dirty="0">
              <a:latin typeface="+mj-ea"/>
              <a:ea typeface="+mj-ea"/>
            </a:endParaRPr>
          </a:p>
          <a:p>
            <a:pPr indent="0" algn="l">
              <a:spcBef>
                <a:spcPts val="800"/>
              </a:spcBef>
            </a:pPr>
            <a:r>
              <a:rPr lang="en-US" sz="2000" b="0" i="0" u="none" strike="noStrike" dirty="0" err="1">
                <a:solidFill>
                  <a:srgbClr val="4B5563"/>
                </a:solidFill>
                <a:latin typeface="+mj-ea"/>
                <a:ea typeface="+mj-ea"/>
                <a:cs typeface="Noto Sans SC"/>
                <a:sym typeface="Noto Sans SC"/>
              </a:rPr>
              <a:t>支持表格、文本、时序、图像等多模态数据的统一登记、扫描与分析</a:t>
            </a:r>
            <a:r>
              <a:rPr lang="en-US" sz="2000" b="0" i="0" u="none" strike="noStrike" dirty="0">
                <a:solidFill>
                  <a:srgbClr val="4B5563"/>
                </a:solidFill>
                <a:latin typeface="+mj-ea"/>
                <a:ea typeface="+mj-ea"/>
                <a:cs typeface="Noto Sans SC"/>
                <a:sym typeface="Noto Sans SC"/>
              </a:rPr>
              <a:t>。</a:t>
            </a:r>
          </a:p>
        </p:txBody>
      </p:sp>
      <p:sp>
        <p:nvSpPr>
          <p:cNvPr id="9" name="AutoShape 9">
            <a:extLst>
              <a:ext uri="{FF2B5EF4-FFF2-40B4-BE49-F238E27FC236}">
                <a16:creationId xmlns:a16="http://schemas.microsoft.com/office/drawing/2014/main" id="{0B64F9CD-5F4E-43FF-E5CC-B862CB3BE7DC}"/>
              </a:ext>
            </a:extLst>
          </p:cNvPr>
          <p:cNvSpPr/>
          <p:nvPr/>
        </p:nvSpPr>
        <p:spPr>
          <a:xfrm>
            <a:off x="7810500" y="1551940"/>
            <a:ext cx="3619500" cy="2131060"/>
          </a:xfrm>
          <a:prstGeom prst="roundRect">
            <a:avLst>
              <a:gd name="adj" fmla="val 6153"/>
            </a:avLst>
          </a:prstGeom>
          <a:solidFill>
            <a:srgbClr val="FFFFFF">
              <a:alpha val="100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mj-ea"/>
              <a:ea typeface="+mj-ea"/>
            </a:endParaRPr>
          </a:p>
        </p:txBody>
      </p:sp>
      <p:pic>
        <p:nvPicPr>
          <p:cNvPr id="10" name="Picture 10">
            <a:extLst>
              <a:ext uri="{FF2B5EF4-FFF2-40B4-BE49-F238E27FC236}">
                <a16:creationId xmlns:a16="http://schemas.microsoft.com/office/drawing/2014/main" id="{773687B3-E354-24AC-E57B-FEE2B7F72D5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62900" y="1694180"/>
            <a:ext cx="406400" cy="406400"/>
          </a:xfrm>
          <a:prstGeom prst="rect">
            <a:avLst/>
          </a:prstGeom>
        </p:spPr>
      </p:pic>
      <p:sp>
        <p:nvSpPr>
          <p:cNvPr id="11" name="AutoShape 11">
            <a:extLst>
              <a:ext uri="{FF2B5EF4-FFF2-40B4-BE49-F238E27FC236}">
                <a16:creationId xmlns:a16="http://schemas.microsoft.com/office/drawing/2014/main" id="{FD25CC70-A6F4-2047-E7F8-17B77D923825}"/>
              </a:ext>
            </a:extLst>
          </p:cNvPr>
          <p:cNvSpPr/>
          <p:nvPr/>
        </p:nvSpPr>
        <p:spPr>
          <a:xfrm>
            <a:off x="8450580" y="2011680"/>
            <a:ext cx="2788920" cy="1270000"/>
          </a:xfrm>
          <a:prstGeom prst="rect">
            <a:avLst/>
          </a:prstGeom>
          <a:noFill/>
          <a:ln w="12700" cap="flat" cmpd="sng">
            <a:noFill/>
            <a:prstDash val="solid"/>
            <a:round/>
          </a:ln>
        </p:spPr>
        <p:txBody>
          <a:bodyPr vert="horz" wrap="square" lIns="0" tIns="0" rIns="0" bIns="0" rtlCol="0" anchor="ctr" anchorCtr="0"/>
          <a:lstStyle/>
          <a:p>
            <a:pPr indent="0" algn="l">
              <a:defRPr/>
            </a:pPr>
            <a:r>
              <a:rPr lang="en-US" sz="2000" b="1" i="0" u="none" strike="noStrike" dirty="0">
                <a:solidFill>
                  <a:srgbClr val="1F2937"/>
                </a:solidFill>
                <a:latin typeface="+mj-ea"/>
                <a:ea typeface="+mj-ea"/>
                <a:cs typeface="Noto Sans SC"/>
                <a:sym typeface="Noto Sans SC"/>
              </a:rPr>
              <a:t>02 / </a:t>
            </a:r>
            <a:r>
              <a:rPr lang="en-US" sz="2000" b="1" i="0" u="none" strike="noStrike" dirty="0" err="1">
                <a:solidFill>
                  <a:srgbClr val="1F2937"/>
                </a:solidFill>
                <a:latin typeface="+mj-ea"/>
                <a:ea typeface="+mj-ea"/>
                <a:cs typeface="Noto Sans SC"/>
                <a:sym typeface="Noto Sans SC"/>
              </a:rPr>
              <a:t>全面扫描</a:t>
            </a:r>
            <a:endParaRPr lang="en-US" sz="2000" dirty="0">
              <a:latin typeface="+mj-ea"/>
              <a:ea typeface="+mj-ea"/>
            </a:endParaRPr>
          </a:p>
          <a:p>
            <a:pPr indent="0" algn="l">
              <a:spcBef>
                <a:spcPts val="800"/>
              </a:spcBef>
            </a:pPr>
            <a:r>
              <a:rPr lang="en-US" sz="2000" b="0" i="0" u="none" strike="noStrike" dirty="0" err="1">
                <a:solidFill>
                  <a:srgbClr val="4B5563"/>
                </a:solidFill>
                <a:latin typeface="+mj-ea"/>
                <a:ea typeface="+mj-ea"/>
                <a:cs typeface="Noto Sans SC"/>
                <a:sym typeface="Noto Sans SC"/>
              </a:rPr>
              <a:t>构建四大维度扫描引擎，实现从基础质量到深度风险的全方位检测</a:t>
            </a:r>
            <a:r>
              <a:rPr lang="en-US" sz="2000" b="0" i="0" u="none" strike="noStrike" dirty="0">
                <a:solidFill>
                  <a:srgbClr val="4B5563"/>
                </a:solidFill>
                <a:latin typeface="+mj-ea"/>
                <a:ea typeface="+mj-ea"/>
                <a:cs typeface="Noto Sans SC"/>
                <a:sym typeface="Noto Sans SC"/>
              </a:rPr>
              <a:t>。</a:t>
            </a:r>
          </a:p>
        </p:txBody>
      </p:sp>
      <p:sp>
        <p:nvSpPr>
          <p:cNvPr id="12" name="AutoShape 12">
            <a:extLst>
              <a:ext uri="{FF2B5EF4-FFF2-40B4-BE49-F238E27FC236}">
                <a16:creationId xmlns:a16="http://schemas.microsoft.com/office/drawing/2014/main" id="{54B638E2-25C0-0C37-D35F-977092F42231}"/>
              </a:ext>
            </a:extLst>
          </p:cNvPr>
          <p:cNvSpPr/>
          <p:nvPr/>
        </p:nvSpPr>
        <p:spPr>
          <a:xfrm>
            <a:off x="762000" y="3810000"/>
            <a:ext cx="3619500" cy="2413000"/>
          </a:xfrm>
          <a:prstGeom prst="roundRect">
            <a:avLst>
              <a:gd name="adj" fmla="val 6153"/>
            </a:avLst>
          </a:prstGeom>
          <a:solidFill>
            <a:srgbClr val="FFFFFF">
              <a:alpha val="100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mj-ea"/>
              <a:ea typeface="+mj-ea"/>
            </a:endParaRPr>
          </a:p>
        </p:txBody>
      </p:sp>
      <p:pic>
        <p:nvPicPr>
          <p:cNvPr id="13" name="Picture 13">
            <a:extLst>
              <a:ext uri="{FF2B5EF4-FFF2-40B4-BE49-F238E27FC236}">
                <a16:creationId xmlns:a16="http://schemas.microsoft.com/office/drawing/2014/main" id="{FD92BF57-9B9A-7F20-0CBE-F662C8E30A7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4000500"/>
            <a:ext cx="406400" cy="406400"/>
          </a:xfrm>
          <a:prstGeom prst="rect">
            <a:avLst/>
          </a:prstGeom>
        </p:spPr>
      </p:pic>
      <p:sp>
        <p:nvSpPr>
          <p:cNvPr id="14" name="AutoShape 14">
            <a:extLst>
              <a:ext uri="{FF2B5EF4-FFF2-40B4-BE49-F238E27FC236}">
                <a16:creationId xmlns:a16="http://schemas.microsoft.com/office/drawing/2014/main" id="{3C81E070-A039-8216-BEF9-D37221F2273D}"/>
              </a:ext>
            </a:extLst>
          </p:cNvPr>
          <p:cNvSpPr/>
          <p:nvPr/>
        </p:nvSpPr>
        <p:spPr>
          <a:xfrm>
            <a:off x="1460500" y="4429760"/>
            <a:ext cx="2827020" cy="1270000"/>
          </a:xfrm>
          <a:prstGeom prst="rect">
            <a:avLst/>
          </a:prstGeom>
          <a:noFill/>
          <a:ln w="12700" cap="flat" cmpd="sng">
            <a:noFill/>
            <a:prstDash val="solid"/>
            <a:round/>
          </a:ln>
        </p:spPr>
        <p:txBody>
          <a:bodyPr vert="horz" wrap="square" lIns="0" tIns="0" rIns="0" bIns="0" rtlCol="0" anchor="ctr" anchorCtr="0"/>
          <a:lstStyle/>
          <a:p>
            <a:pPr indent="0" algn="l">
              <a:defRPr/>
            </a:pPr>
            <a:r>
              <a:rPr lang="en-US" sz="2000" b="1" i="0" u="none" strike="noStrike" dirty="0">
                <a:solidFill>
                  <a:srgbClr val="1F2937"/>
                </a:solidFill>
                <a:latin typeface="+mj-ea"/>
                <a:ea typeface="+mj-ea"/>
                <a:cs typeface="Noto Sans SC"/>
                <a:sym typeface="Noto Sans SC"/>
              </a:rPr>
              <a:t>03 / </a:t>
            </a:r>
            <a:r>
              <a:rPr lang="en-US" sz="2000" b="1" i="0" u="none" strike="noStrike" dirty="0" err="1">
                <a:solidFill>
                  <a:srgbClr val="1F2937"/>
                </a:solidFill>
                <a:latin typeface="+mj-ea"/>
                <a:ea typeface="+mj-ea"/>
                <a:cs typeface="Noto Sans SC"/>
                <a:sym typeface="Noto Sans SC"/>
              </a:rPr>
              <a:t>智能分析</a:t>
            </a:r>
            <a:endParaRPr lang="en-US" sz="2000" dirty="0">
              <a:latin typeface="+mj-ea"/>
              <a:ea typeface="+mj-ea"/>
            </a:endParaRPr>
          </a:p>
          <a:p>
            <a:pPr indent="0" algn="l">
              <a:spcBef>
                <a:spcPts val="800"/>
              </a:spcBef>
            </a:pPr>
            <a:r>
              <a:rPr lang="en-US" sz="2000" b="0" i="0" u="none" strike="noStrike" dirty="0" err="1">
                <a:solidFill>
                  <a:srgbClr val="4B5563"/>
                </a:solidFill>
                <a:latin typeface="+mj-ea"/>
                <a:ea typeface="+mj-ea"/>
                <a:cs typeface="Noto Sans SC"/>
                <a:sym typeface="Noto Sans SC"/>
              </a:rPr>
              <a:t>通过量化指标与可视化图表，辅助定位问题根源并提供优化建议</a:t>
            </a:r>
            <a:r>
              <a:rPr lang="en-US" sz="2000" b="0" i="0" u="none" strike="noStrike" dirty="0">
                <a:solidFill>
                  <a:srgbClr val="4B5563"/>
                </a:solidFill>
                <a:latin typeface="+mj-ea"/>
                <a:ea typeface="+mj-ea"/>
                <a:cs typeface="Noto Sans SC"/>
                <a:sym typeface="Noto Sans SC"/>
              </a:rPr>
              <a:t>。</a:t>
            </a:r>
          </a:p>
        </p:txBody>
      </p:sp>
      <p:sp>
        <p:nvSpPr>
          <p:cNvPr id="15" name="AutoShape 15">
            <a:extLst>
              <a:ext uri="{FF2B5EF4-FFF2-40B4-BE49-F238E27FC236}">
                <a16:creationId xmlns:a16="http://schemas.microsoft.com/office/drawing/2014/main" id="{A9E7506C-3988-D393-CD94-2408F3D88971}"/>
              </a:ext>
            </a:extLst>
          </p:cNvPr>
          <p:cNvSpPr/>
          <p:nvPr/>
        </p:nvSpPr>
        <p:spPr>
          <a:xfrm>
            <a:off x="7810500" y="3810000"/>
            <a:ext cx="3619500" cy="2413000"/>
          </a:xfrm>
          <a:prstGeom prst="roundRect">
            <a:avLst>
              <a:gd name="adj" fmla="val 6153"/>
            </a:avLst>
          </a:prstGeom>
          <a:solidFill>
            <a:srgbClr val="FFFFFF">
              <a:alpha val="100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dirty="0">
              <a:latin typeface="+mj-ea"/>
              <a:ea typeface="+mj-ea"/>
            </a:endParaRPr>
          </a:p>
        </p:txBody>
      </p:sp>
      <p:pic>
        <p:nvPicPr>
          <p:cNvPr id="16" name="Picture 16">
            <a:extLst>
              <a:ext uri="{FF2B5EF4-FFF2-40B4-BE49-F238E27FC236}">
                <a16:creationId xmlns:a16="http://schemas.microsoft.com/office/drawing/2014/main" id="{B041D03C-0A3F-EE00-DFD1-0C94A45F1AC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62900" y="4091940"/>
            <a:ext cx="406400" cy="406400"/>
          </a:xfrm>
          <a:prstGeom prst="rect">
            <a:avLst/>
          </a:prstGeom>
        </p:spPr>
      </p:pic>
      <p:sp>
        <p:nvSpPr>
          <p:cNvPr id="17" name="AutoShape 17">
            <a:extLst>
              <a:ext uri="{FF2B5EF4-FFF2-40B4-BE49-F238E27FC236}">
                <a16:creationId xmlns:a16="http://schemas.microsoft.com/office/drawing/2014/main" id="{12BE3DD8-5F15-040E-49BC-E4583BA283B5}"/>
              </a:ext>
            </a:extLst>
          </p:cNvPr>
          <p:cNvSpPr/>
          <p:nvPr/>
        </p:nvSpPr>
        <p:spPr>
          <a:xfrm>
            <a:off x="8450580" y="4257040"/>
            <a:ext cx="2788920" cy="1270000"/>
          </a:xfrm>
          <a:prstGeom prst="rect">
            <a:avLst/>
          </a:prstGeom>
          <a:noFill/>
          <a:ln w="12700" cap="flat" cmpd="sng">
            <a:noFill/>
            <a:prstDash val="solid"/>
            <a:round/>
          </a:ln>
        </p:spPr>
        <p:txBody>
          <a:bodyPr vert="horz" wrap="square" lIns="0" tIns="0" rIns="0" bIns="0" rtlCol="0" anchor="ctr" anchorCtr="0"/>
          <a:lstStyle/>
          <a:p>
            <a:pPr indent="0" algn="l">
              <a:defRPr/>
            </a:pPr>
            <a:r>
              <a:rPr lang="en-US" sz="2000" b="1" i="0" u="none" strike="noStrike" dirty="0">
                <a:solidFill>
                  <a:srgbClr val="1F2937"/>
                </a:solidFill>
                <a:latin typeface="+mj-ea"/>
                <a:ea typeface="+mj-ea"/>
                <a:cs typeface="Noto Sans SC"/>
                <a:sym typeface="Noto Sans SC"/>
              </a:rPr>
              <a:t>04 / </a:t>
            </a:r>
            <a:r>
              <a:rPr lang="en-US" sz="2000" b="1" i="0" u="none" strike="noStrike" dirty="0" err="1">
                <a:solidFill>
                  <a:srgbClr val="1F2937"/>
                </a:solidFill>
                <a:latin typeface="+mj-ea"/>
                <a:ea typeface="+mj-ea"/>
                <a:cs typeface="Noto Sans SC"/>
                <a:sym typeface="Noto Sans SC"/>
              </a:rPr>
              <a:t>可扩展架构</a:t>
            </a:r>
            <a:endParaRPr lang="en-US" sz="2000" dirty="0">
              <a:latin typeface="+mj-ea"/>
              <a:ea typeface="+mj-ea"/>
            </a:endParaRPr>
          </a:p>
          <a:p>
            <a:pPr indent="0" algn="l">
              <a:spcBef>
                <a:spcPts val="800"/>
              </a:spcBef>
            </a:pPr>
            <a:r>
              <a:rPr lang="en-US" sz="2000" b="0" i="0" u="none" strike="noStrike" dirty="0" err="1">
                <a:solidFill>
                  <a:srgbClr val="4B5563"/>
                </a:solidFill>
                <a:latin typeface="+mj-ea"/>
                <a:ea typeface="+mj-ea"/>
                <a:cs typeface="Noto Sans SC"/>
                <a:sym typeface="Noto Sans SC"/>
              </a:rPr>
              <a:t>解耦系统架构，灵活支持新增检测算法与数据模态接入</a:t>
            </a:r>
            <a:r>
              <a:rPr lang="en-US" sz="2000" b="0" i="0" u="none" strike="noStrike" dirty="0">
                <a:solidFill>
                  <a:srgbClr val="4B5563"/>
                </a:solidFill>
                <a:latin typeface="+mj-ea"/>
                <a:ea typeface="+mj-ea"/>
                <a:cs typeface="Noto Sans SC"/>
                <a:sym typeface="Noto Sans SC"/>
              </a:rPr>
              <a:t>。</a:t>
            </a:r>
          </a:p>
        </p:txBody>
      </p:sp>
      <p:pic>
        <p:nvPicPr>
          <p:cNvPr id="20" name="图片 19">
            <a:extLst>
              <a:ext uri="{FF2B5EF4-FFF2-40B4-BE49-F238E27FC236}">
                <a16:creationId xmlns:a16="http://schemas.microsoft.com/office/drawing/2014/main" id="{94728D1F-A9F8-117E-EB94-1640788ED89D}"/>
              </a:ext>
            </a:extLst>
          </p:cNvPr>
          <p:cNvPicPr>
            <a:picLocks noChangeAspect="1"/>
          </p:cNvPicPr>
          <p:nvPr/>
        </p:nvPicPr>
        <p:blipFill>
          <a:blip r:embed="rId8"/>
          <a:stretch>
            <a:fillRect/>
          </a:stretch>
        </p:blipFill>
        <p:spPr>
          <a:xfrm>
            <a:off x="8472588" y="-147566"/>
            <a:ext cx="3606733" cy="1384112"/>
          </a:xfrm>
          <a:prstGeom prst="rect">
            <a:avLst/>
          </a:prstGeom>
        </p:spPr>
      </p:pic>
    </p:spTree>
    <p:extLst>
      <p:ext uri="{BB962C8B-B14F-4D97-AF65-F5344CB8AC3E}">
        <p14:creationId xmlns:p14="http://schemas.microsoft.com/office/powerpoint/2010/main" val="1464702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zh-CN" altLang="en-US" sz="3200" b="1" dirty="0">
                <a:solidFill>
                  <a:srgbClr val="007AFF"/>
                </a:solidFill>
                <a:latin typeface="Noto Sans SC"/>
                <a:ea typeface="Noto Sans SC"/>
                <a:sym typeface="Noto Sans SC"/>
              </a:rPr>
              <a:t>二、项目介绍：系统总体架构</a:t>
            </a:r>
            <a:endParaRPr lang="en-US" sz="1100" dirty="0"/>
          </a:p>
        </p:txBody>
      </p:sp>
      <p:pic>
        <p:nvPicPr>
          <p:cNvPr id="28" name="图片 27">
            <a:extLst>
              <a:ext uri="{FF2B5EF4-FFF2-40B4-BE49-F238E27FC236}">
                <a16:creationId xmlns:a16="http://schemas.microsoft.com/office/drawing/2014/main" id="{1352FB4B-3E7D-9222-1C6E-F0F31469F056}"/>
              </a:ext>
            </a:extLst>
          </p:cNvPr>
          <p:cNvPicPr>
            <a:picLocks noChangeAspect="1"/>
          </p:cNvPicPr>
          <p:nvPr/>
        </p:nvPicPr>
        <p:blipFill>
          <a:blip r:embed="rId4"/>
          <a:stretch>
            <a:fillRect/>
          </a:stretch>
        </p:blipFill>
        <p:spPr>
          <a:xfrm>
            <a:off x="8472588" y="-147566"/>
            <a:ext cx="3606733" cy="1384112"/>
          </a:xfrm>
          <a:prstGeom prst="rect">
            <a:avLst/>
          </a:prstGeom>
        </p:spPr>
      </p:pic>
      <p:sp>
        <p:nvSpPr>
          <p:cNvPr id="30" name="AutoShape 4">
            <a:extLst>
              <a:ext uri="{FF2B5EF4-FFF2-40B4-BE49-F238E27FC236}">
                <a16:creationId xmlns:a16="http://schemas.microsoft.com/office/drawing/2014/main" id="{6CBFB2CD-000A-9F35-7F41-D55D4382FD65}"/>
              </a:ext>
            </a:extLst>
          </p:cNvPr>
          <p:cNvSpPr/>
          <p:nvPr/>
        </p:nvSpPr>
        <p:spPr>
          <a:xfrm>
            <a:off x="762000" y="1422402"/>
            <a:ext cx="5207000" cy="2032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31" name="Picture 5">
            <a:extLst>
              <a:ext uri="{FF2B5EF4-FFF2-40B4-BE49-F238E27FC236}">
                <a16:creationId xmlns:a16="http://schemas.microsoft.com/office/drawing/2014/main" id="{FA867439-D71A-1DDB-4489-F3EBA54A3D6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676402"/>
            <a:ext cx="457200" cy="457200"/>
          </a:xfrm>
          <a:prstGeom prst="rect">
            <a:avLst/>
          </a:prstGeom>
        </p:spPr>
      </p:pic>
      <p:sp>
        <p:nvSpPr>
          <p:cNvPr id="32" name="AutoShape 6">
            <a:extLst>
              <a:ext uri="{FF2B5EF4-FFF2-40B4-BE49-F238E27FC236}">
                <a16:creationId xmlns:a16="http://schemas.microsoft.com/office/drawing/2014/main" id="{EBD5DA79-9134-DE62-B918-9E4FEA85D8AF}"/>
              </a:ext>
            </a:extLst>
          </p:cNvPr>
          <p:cNvSpPr/>
          <p:nvPr/>
        </p:nvSpPr>
        <p:spPr>
          <a:xfrm>
            <a:off x="1651000" y="1612902"/>
            <a:ext cx="4203148" cy="1651000"/>
          </a:xfrm>
          <a:prstGeom prst="rect">
            <a:avLst/>
          </a:prstGeom>
          <a:noFill/>
          <a:ln w="12700" cap="flat" cmpd="sng">
            <a:noFill/>
            <a:prstDash val="solid"/>
            <a:round/>
          </a:ln>
        </p:spPr>
        <p:txBody>
          <a:bodyPr vert="horz" wrap="square" lIns="0" tIns="0" rIns="0" bIns="0" rtlCol="0" anchor="ctr" anchorCtr="0"/>
          <a:lstStyle/>
          <a:p>
            <a:pPr indent="0" algn="l">
              <a:defRPr/>
            </a:pPr>
            <a:r>
              <a:rPr lang="en-US" sz="2000" b="1" i="0" u="none" strike="noStrike" dirty="0" err="1">
                <a:solidFill>
                  <a:srgbClr val="1F2937"/>
                </a:solidFill>
                <a:latin typeface="+mj-ea"/>
                <a:ea typeface="+mj-ea"/>
                <a:cs typeface="Noto Sans SC"/>
                <a:sym typeface="Noto Sans SC"/>
              </a:rPr>
              <a:t>前端</a:t>
            </a:r>
            <a:r>
              <a:rPr lang="en-US" sz="2000" b="1" i="0" u="none" strike="noStrike" dirty="0">
                <a:solidFill>
                  <a:srgbClr val="1F2937"/>
                </a:solidFill>
                <a:latin typeface="+mj-ea"/>
                <a:ea typeface="+mj-ea"/>
                <a:cs typeface="Noto Sans SC"/>
                <a:sym typeface="Noto Sans SC"/>
              </a:rPr>
              <a:t> (Web UI)</a:t>
            </a:r>
            <a:endParaRPr lang="en-US" sz="2000" dirty="0">
              <a:latin typeface="+mj-ea"/>
              <a:ea typeface="+mj-ea"/>
            </a:endParaRPr>
          </a:p>
          <a:p>
            <a:pPr indent="0" algn="l">
              <a:spcBef>
                <a:spcPts val="800"/>
              </a:spcBef>
            </a:pPr>
            <a:r>
              <a:rPr lang="en-US" sz="2000" b="1" i="0" u="none" strike="noStrike" dirty="0" err="1">
                <a:solidFill>
                  <a:srgbClr val="4B5563"/>
                </a:solidFill>
                <a:latin typeface="+mj-ea"/>
                <a:ea typeface="+mj-ea"/>
                <a:cs typeface="Noto Sans SC"/>
                <a:sym typeface="Noto Sans SC"/>
              </a:rPr>
              <a:t>技术栈：</a:t>
            </a:r>
            <a:r>
              <a:rPr lang="en-US" sz="2000" b="0" i="0" u="none" strike="noStrike" dirty="0" err="1">
                <a:solidFill>
                  <a:srgbClr val="4B5563"/>
                </a:solidFill>
                <a:latin typeface="+mj-ea"/>
                <a:ea typeface="+mj-ea"/>
                <a:cs typeface="Noto Sans SC"/>
                <a:sym typeface="Noto Sans SC"/>
              </a:rPr>
              <a:t>HTML</a:t>
            </a:r>
            <a:r>
              <a:rPr lang="en-US" sz="2000" b="0" i="0" u="none" strike="noStrike" dirty="0">
                <a:solidFill>
                  <a:srgbClr val="4B5563"/>
                </a:solidFill>
                <a:latin typeface="+mj-ea"/>
                <a:ea typeface="+mj-ea"/>
                <a:cs typeface="Noto Sans SC"/>
                <a:sym typeface="Noto Sans SC"/>
              </a:rPr>
              <a:t>, CSS, JavaScript</a:t>
            </a:r>
          </a:p>
          <a:p>
            <a:pPr indent="0" algn="l"/>
            <a:r>
              <a:rPr lang="en-US" sz="2000" b="1" i="0" u="none" strike="noStrike" dirty="0" err="1">
                <a:solidFill>
                  <a:srgbClr val="6B7280"/>
                </a:solidFill>
                <a:latin typeface="+mj-ea"/>
                <a:ea typeface="+mj-ea"/>
                <a:cs typeface="Noto Sans SC"/>
                <a:sym typeface="Noto Sans SC"/>
              </a:rPr>
              <a:t>功能：</a:t>
            </a:r>
            <a:r>
              <a:rPr lang="en-US" sz="2000" b="0" i="0" u="none" strike="noStrike" dirty="0" err="1">
                <a:solidFill>
                  <a:srgbClr val="6B7280"/>
                </a:solidFill>
                <a:latin typeface="+mj-ea"/>
                <a:ea typeface="+mj-ea"/>
                <a:cs typeface="Noto Sans SC"/>
                <a:sym typeface="Noto Sans SC"/>
              </a:rPr>
              <a:t>提供用户交互界面，支持数据集管理、扫描引擎选择、任务启动与结果报告查看</a:t>
            </a:r>
            <a:r>
              <a:rPr lang="en-US" sz="2000" b="0" i="0" u="none" strike="noStrike" dirty="0">
                <a:solidFill>
                  <a:srgbClr val="6B7280"/>
                </a:solidFill>
                <a:latin typeface="+mj-ea"/>
                <a:ea typeface="+mj-ea"/>
                <a:cs typeface="Noto Sans SC"/>
                <a:sym typeface="Noto Sans SC"/>
              </a:rPr>
              <a:t>。</a:t>
            </a:r>
          </a:p>
        </p:txBody>
      </p:sp>
      <p:sp>
        <p:nvSpPr>
          <p:cNvPr id="33" name="AutoShape 7">
            <a:extLst>
              <a:ext uri="{FF2B5EF4-FFF2-40B4-BE49-F238E27FC236}">
                <a16:creationId xmlns:a16="http://schemas.microsoft.com/office/drawing/2014/main" id="{BFBC806D-3A53-9059-BDD5-085E8DF27CE9}"/>
              </a:ext>
            </a:extLst>
          </p:cNvPr>
          <p:cNvSpPr/>
          <p:nvPr/>
        </p:nvSpPr>
        <p:spPr>
          <a:xfrm>
            <a:off x="6223000" y="1422402"/>
            <a:ext cx="5207000" cy="2032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j-ea"/>
              <a:ea typeface="+mj-ea"/>
            </a:endParaRPr>
          </a:p>
        </p:txBody>
      </p:sp>
      <p:pic>
        <p:nvPicPr>
          <p:cNvPr id="34" name="Picture 8">
            <a:extLst>
              <a:ext uri="{FF2B5EF4-FFF2-40B4-BE49-F238E27FC236}">
                <a16:creationId xmlns:a16="http://schemas.microsoft.com/office/drawing/2014/main" id="{6E5C211B-458A-AC25-08B7-DD13BF02D31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1676402"/>
            <a:ext cx="457200" cy="457200"/>
          </a:xfrm>
          <a:prstGeom prst="rect">
            <a:avLst/>
          </a:prstGeom>
        </p:spPr>
      </p:pic>
      <p:sp>
        <p:nvSpPr>
          <p:cNvPr id="35" name="AutoShape 9">
            <a:extLst>
              <a:ext uri="{FF2B5EF4-FFF2-40B4-BE49-F238E27FC236}">
                <a16:creationId xmlns:a16="http://schemas.microsoft.com/office/drawing/2014/main" id="{3E84118C-5B7B-3317-D8C1-AA53C7BA4984}"/>
              </a:ext>
            </a:extLst>
          </p:cNvPr>
          <p:cNvSpPr/>
          <p:nvPr/>
        </p:nvSpPr>
        <p:spPr>
          <a:xfrm>
            <a:off x="7112000" y="1612902"/>
            <a:ext cx="4064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1F2937"/>
                </a:solidFill>
                <a:latin typeface="+mj-ea"/>
                <a:ea typeface="+mj-ea"/>
                <a:cs typeface="Noto Sans SC"/>
                <a:sym typeface="Noto Sans SC"/>
              </a:rPr>
              <a:t>后端服务</a:t>
            </a:r>
            <a:r>
              <a:rPr lang="en-US" sz="2000" b="1" i="0" u="none" strike="noStrike" dirty="0">
                <a:solidFill>
                  <a:srgbClr val="1F2937"/>
                </a:solidFill>
                <a:latin typeface="+mj-ea"/>
                <a:ea typeface="+mj-ea"/>
                <a:cs typeface="Noto Sans SC"/>
                <a:sym typeface="Noto Sans SC"/>
              </a:rPr>
              <a:t> (Go + Gin)</a:t>
            </a:r>
            <a:endParaRPr lang="en-US" sz="2000" dirty="0">
              <a:latin typeface="+mj-ea"/>
              <a:ea typeface="+mj-ea"/>
            </a:endParaRPr>
          </a:p>
          <a:p>
            <a:pPr indent="0" algn="l">
              <a:lnSpc>
                <a:spcPct val="108333"/>
              </a:lnSpc>
              <a:spcBef>
                <a:spcPts val="800"/>
              </a:spcBef>
            </a:pPr>
            <a:r>
              <a:rPr lang="en-US" sz="2000" b="1" i="0" u="none" strike="noStrike" dirty="0" err="1">
                <a:solidFill>
                  <a:srgbClr val="4B5563"/>
                </a:solidFill>
                <a:latin typeface="+mj-ea"/>
                <a:ea typeface="+mj-ea"/>
                <a:cs typeface="Noto Sans SC"/>
                <a:sym typeface="Noto Sans SC"/>
              </a:rPr>
              <a:t>定位：</a:t>
            </a:r>
            <a:r>
              <a:rPr lang="en-US" sz="2000" b="0" i="0" u="none" strike="noStrike" dirty="0" err="1">
                <a:solidFill>
                  <a:srgbClr val="4B5563"/>
                </a:solidFill>
                <a:latin typeface="+mj-ea"/>
                <a:ea typeface="+mj-ea"/>
                <a:cs typeface="Noto Sans SC"/>
                <a:sym typeface="Noto Sans SC"/>
              </a:rPr>
              <a:t>系统核心大脑，负责业务逻辑、任务调度与结果汇总</a:t>
            </a:r>
            <a:r>
              <a:rPr lang="en-US" sz="2000" b="0" i="0" u="none" strike="noStrike" dirty="0">
                <a:solidFill>
                  <a:srgbClr val="4B5563"/>
                </a:solidFill>
                <a:latin typeface="+mj-ea"/>
                <a:ea typeface="+mj-ea"/>
                <a:cs typeface="Noto Sans SC"/>
                <a:sym typeface="Noto Sans SC"/>
              </a:rPr>
              <a:t>。</a:t>
            </a:r>
          </a:p>
          <a:p>
            <a:pPr indent="0" algn="l">
              <a:lnSpc>
                <a:spcPct val="108333"/>
              </a:lnSpc>
            </a:pPr>
            <a:r>
              <a:rPr lang="en-US" sz="2000" b="1" i="0" u="none" strike="noStrike" dirty="0" err="1">
                <a:solidFill>
                  <a:srgbClr val="6B7280"/>
                </a:solidFill>
                <a:latin typeface="+mj-ea"/>
                <a:ea typeface="+mj-ea"/>
                <a:cs typeface="Noto Sans SC"/>
                <a:sym typeface="Noto Sans SC"/>
              </a:rPr>
              <a:t>分层：</a:t>
            </a:r>
            <a:r>
              <a:rPr lang="en-US" sz="2000" b="0" i="0" u="none" strike="noStrike" dirty="0" err="1">
                <a:solidFill>
                  <a:srgbClr val="6B7280"/>
                </a:solidFill>
                <a:latin typeface="+mj-ea"/>
                <a:ea typeface="+mj-ea"/>
                <a:cs typeface="Noto Sans SC"/>
                <a:sym typeface="Noto Sans SC"/>
              </a:rPr>
              <a:t>API接入层</a:t>
            </a:r>
            <a:r>
              <a:rPr lang="en-US" sz="2000" b="0" i="0" u="none" strike="noStrike" dirty="0">
                <a:solidFill>
                  <a:srgbClr val="6B7280"/>
                </a:solidFill>
                <a:latin typeface="+mj-ea"/>
                <a:ea typeface="+mj-ea"/>
                <a:cs typeface="Noto Sans SC"/>
                <a:sym typeface="Noto Sans SC"/>
              </a:rPr>
              <a:t> · </a:t>
            </a:r>
            <a:r>
              <a:rPr lang="en-US" sz="2000" b="0" i="0" u="none" strike="noStrike" dirty="0" err="1">
                <a:solidFill>
                  <a:srgbClr val="6B7280"/>
                </a:solidFill>
                <a:latin typeface="+mj-ea"/>
                <a:ea typeface="+mj-ea"/>
                <a:cs typeface="Noto Sans SC"/>
                <a:sym typeface="Noto Sans SC"/>
              </a:rPr>
              <a:t>核心服务层</a:t>
            </a:r>
            <a:r>
              <a:rPr lang="en-US" sz="2000" b="0" i="0" u="none" strike="noStrike" dirty="0">
                <a:solidFill>
                  <a:srgbClr val="6B7280"/>
                </a:solidFill>
                <a:latin typeface="+mj-ea"/>
                <a:ea typeface="+mj-ea"/>
                <a:cs typeface="Noto Sans SC"/>
                <a:sym typeface="Noto Sans SC"/>
              </a:rPr>
              <a:t> · </a:t>
            </a:r>
            <a:r>
              <a:rPr lang="en-US" sz="2000" b="0" i="0" u="none" strike="noStrike" dirty="0" err="1">
                <a:solidFill>
                  <a:srgbClr val="6B7280"/>
                </a:solidFill>
                <a:latin typeface="+mj-ea"/>
                <a:ea typeface="+mj-ea"/>
                <a:cs typeface="Noto Sans SC"/>
                <a:sym typeface="Noto Sans SC"/>
              </a:rPr>
              <a:t>基础设施支撑层</a:t>
            </a:r>
            <a:r>
              <a:rPr lang="en-US" sz="2000" b="0" i="0" u="none" strike="noStrike" dirty="0">
                <a:solidFill>
                  <a:srgbClr val="6B7280"/>
                </a:solidFill>
                <a:latin typeface="+mj-ea"/>
                <a:ea typeface="+mj-ea"/>
                <a:cs typeface="Noto Sans SC"/>
                <a:sym typeface="Noto Sans SC"/>
              </a:rPr>
              <a:t>。</a:t>
            </a:r>
          </a:p>
        </p:txBody>
      </p:sp>
      <p:sp>
        <p:nvSpPr>
          <p:cNvPr id="36" name="AutoShape 10">
            <a:extLst>
              <a:ext uri="{FF2B5EF4-FFF2-40B4-BE49-F238E27FC236}">
                <a16:creationId xmlns:a16="http://schemas.microsoft.com/office/drawing/2014/main" id="{C66B6E3F-A336-3551-185F-6A707BC2BEA8}"/>
              </a:ext>
            </a:extLst>
          </p:cNvPr>
          <p:cNvSpPr/>
          <p:nvPr/>
        </p:nvSpPr>
        <p:spPr>
          <a:xfrm>
            <a:off x="762000" y="3708402"/>
            <a:ext cx="5207000" cy="2032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37" name="Picture 11">
            <a:extLst>
              <a:ext uri="{FF2B5EF4-FFF2-40B4-BE49-F238E27FC236}">
                <a16:creationId xmlns:a16="http://schemas.microsoft.com/office/drawing/2014/main" id="{C9FB5D16-0238-7AF5-2D7A-20D1663427E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962402"/>
            <a:ext cx="457200" cy="457200"/>
          </a:xfrm>
          <a:prstGeom prst="rect">
            <a:avLst/>
          </a:prstGeom>
        </p:spPr>
      </p:pic>
      <p:sp>
        <p:nvSpPr>
          <p:cNvPr id="38" name="AutoShape 12">
            <a:extLst>
              <a:ext uri="{FF2B5EF4-FFF2-40B4-BE49-F238E27FC236}">
                <a16:creationId xmlns:a16="http://schemas.microsoft.com/office/drawing/2014/main" id="{C1C9B109-5B72-F24A-A81C-258B34BE20C6}"/>
              </a:ext>
            </a:extLst>
          </p:cNvPr>
          <p:cNvSpPr/>
          <p:nvPr/>
        </p:nvSpPr>
        <p:spPr>
          <a:xfrm>
            <a:off x="1651000" y="3898902"/>
            <a:ext cx="4064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1F2937"/>
                </a:solidFill>
                <a:latin typeface="+mj-ea"/>
                <a:ea typeface="+mj-ea"/>
                <a:cs typeface="Noto Sans SC"/>
                <a:sym typeface="Noto Sans SC"/>
              </a:rPr>
              <a:t>算法服务</a:t>
            </a:r>
            <a:r>
              <a:rPr lang="en-US" sz="2000" b="1" i="0" u="none" strike="noStrike" dirty="0">
                <a:solidFill>
                  <a:srgbClr val="1F2937"/>
                </a:solidFill>
                <a:latin typeface="+mj-ea"/>
                <a:ea typeface="+mj-ea"/>
                <a:cs typeface="Noto Sans SC"/>
                <a:sym typeface="Noto Sans SC"/>
              </a:rPr>
              <a:t> (Python)</a:t>
            </a:r>
            <a:endParaRPr lang="en-US" sz="2000" dirty="0">
              <a:latin typeface="+mj-ea"/>
              <a:ea typeface="+mj-ea"/>
            </a:endParaRPr>
          </a:p>
          <a:p>
            <a:pPr indent="0" algn="l">
              <a:lnSpc>
                <a:spcPct val="108333"/>
              </a:lnSpc>
              <a:spcBef>
                <a:spcPts val="800"/>
              </a:spcBef>
            </a:pPr>
            <a:r>
              <a:rPr lang="en-US" sz="2000" b="1" i="0" u="none" strike="noStrike" dirty="0" err="1">
                <a:solidFill>
                  <a:srgbClr val="4B5563"/>
                </a:solidFill>
                <a:latin typeface="+mj-ea"/>
                <a:ea typeface="+mj-ea"/>
                <a:cs typeface="Noto Sans SC"/>
                <a:sym typeface="Noto Sans SC"/>
              </a:rPr>
              <a:t>定位：</a:t>
            </a:r>
            <a:r>
              <a:rPr lang="en-US" sz="2000" b="0" i="0" u="none" strike="noStrike" dirty="0" err="1">
                <a:solidFill>
                  <a:srgbClr val="4B5563"/>
                </a:solidFill>
                <a:latin typeface="+mj-ea"/>
                <a:ea typeface="+mj-ea"/>
                <a:cs typeface="Noto Sans SC"/>
                <a:sym typeface="Noto Sans SC"/>
              </a:rPr>
              <a:t>独立的微服务组件，专注于算法实现</a:t>
            </a:r>
            <a:r>
              <a:rPr lang="en-US" sz="2000" b="0" i="0" u="none" strike="noStrike" dirty="0">
                <a:solidFill>
                  <a:srgbClr val="4B5563"/>
                </a:solidFill>
                <a:latin typeface="+mj-ea"/>
                <a:ea typeface="+mj-ea"/>
                <a:cs typeface="Noto Sans SC"/>
                <a:sym typeface="Noto Sans SC"/>
              </a:rPr>
              <a:t>。</a:t>
            </a:r>
          </a:p>
          <a:p>
            <a:pPr indent="0" algn="l">
              <a:lnSpc>
                <a:spcPct val="108333"/>
              </a:lnSpc>
            </a:pPr>
            <a:r>
              <a:rPr lang="en-US" sz="2000" b="1" i="0" u="none" strike="noStrike" dirty="0" err="1">
                <a:solidFill>
                  <a:srgbClr val="6B7280"/>
                </a:solidFill>
                <a:latin typeface="+mj-ea"/>
                <a:ea typeface="+mj-ea"/>
                <a:cs typeface="Noto Sans SC"/>
                <a:sym typeface="Noto Sans SC"/>
              </a:rPr>
              <a:t>交互：</a:t>
            </a:r>
            <a:r>
              <a:rPr lang="en-US" sz="2000" b="0" i="0" u="none" strike="noStrike" dirty="0" err="1">
                <a:solidFill>
                  <a:srgbClr val="6B7280"/>
                </a:solidFill>
                <a:latin typeface="+mj-ea"/>
                <a:ea typeface="+mj-ea"/>
                <a:cs typeface="Noto Sans SC"/>
                <a:sym typeface="Noto Sans SC"/>
              </a:rPr>
              <a:t>通过HTTP接口被后端服务调用，执行具体的质量检测算法逻辑</a:t>
            </a:r>
            <a:r>
              <a:rPr lang="en-US" sz="2000" b="0" i="0" u="none" strike="noStrike" dirty="0">
                <a:solidFill>
                  <a:srgbClr val="6B7280"/>
                </a:solidFill>
                <a:latin typeface="+mj-ea"/>
                <a:ea typeface="+mj-ea"/>
                <a:cs typeface="Noto Sans SC"/>
                <a:sym typeface="Noto Sans SC"/>
              </a:rPr>
              <a:t>。</a:t>
            </a:r>
          </a:p>
        </p:txBody>
      </p:sp>
      <p:sp>
        <p:nvSpPr>
          <p:cNvPr id="39" name="AutoShape 13">
            <a:extLst>
              <a:ext uri="{FF2B5EF4-FFF2-40B4-BE49-F238E27FC236}">
                <a16:creationId xmlns:a16="http://schemas.microsoft.com/office/drawing/2014/main" id="{DF3B59A4-4C0D-8442-1E7D-71FF2174E4BE}"/>
              </a:ext>
            </a:extLst>
          </p:cNvPr>
          <p:cNvSpPr/>
          <p:nvPr/>
        </p:nvSpPr>
        <p:spPr>
          <a:xfrm>
            <a:off x="6223000" y="3708402"/>
            <a:ext cx="5207000" cy="2032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j-ea"/>
              <a:ea typeface="+mj-ea"/>
            </a:endParaRPr>
          </a:p>
        </p:txBody>
      </p:sp>
      <p:pic>
        <p:nvPicPr>
          <p:cNvPr id="40" name="Picture 14">
            <a:extLst>
              <a:ext uri="{FF2B5EF4-FFF2-40B4-BE49-F238E27FC236}">
                <a16:creationId xmlns:a16="http://schemas.microsoft.com/office/drawing/2014/main" id="{95D1BD82-CBD4-48C5-39FD-2AD7C08A788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3962402"/>
            <a:ext cx="457200" cy="457200"/>
          </a:xfrm>
          <a:prstGeom prst="rect">
            <a:avLst/>
          </a:prstGeom>
        </p:spPr>
      </p:pic>
      <p:sp>
        <p:nvSpPr>
          <p:cNvPr id="41" name="AutoShape 15">
            <a:extLst>
              <a:ext uri="{FF2B5EF4-FFF2-40B4-BE49-F238E27FC236}">
                <a16:creationId xmlns:a16="http://schemas.microsoft.com/office/drawing/2014/main" id="{2C19870B-FFEE-1719-DFAC-9A54B10478E3}"/>
              </a:ext>
            </a:extLst>
          </p:cNvPr>
          <p:cNvSpPr/>
          <p:nvPr/>
        </p:nvSpPr>
        <p:spPr>
          <a:xfrm>
            <a:off x="7052366" y="3898902"/>
            <a:ext cx="4377634"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1F2937"/>
                </a:solidFill>
                <a:latin typeface="+mj-ea"/>
                <a:ea typeface="+mj-ea"/>
                <a:cs typeface="Noto Sans SC"/>
                <a:sym typeface="Noto Sans SC"/>
              </a:rPr>
              <a:t>数据层</a:t>
            </a:r>
            <a:r>
              <a:rPr lang="en-US" sz="2000" b="1" i="0" u="none" strike="noStrike" dirty="0">
                <a:solidFill>
                  <a:srgbClr val="1F2937"/>
                </a:solidFill>
                <a:latin typeface="+mj-ea"/>
                <a:ea typeface="+mj-ea"/>
                <a:cs typeface="Noto Sans SC"/>
                <a:sym typeface="Noto Sans SC"/>
              </a:rPr>
              <a:t> (</a:t>
            </a:r>
            <a:r>
              <a:rPr lang="en-US" sz="2000" b="1" i="0" u="none" strike="noStrike" dirty="0" err="1">
                <a:solidFill>
                  <a:srgbClr val="1F2937"/>
                </a:solidFill>
                <a:latin typeface="+mj-ea"/>
                <a:ea typeface="+mj-ea"/>
                <a:cs typeface="Noto Sans SC"/>
                <a:sym typeface="Noto Sans SC"/>
              </a:rPr>
              <a:t>内存DAO</a:t>
            </a:r>
            <a:r>
              <a:rPr lang="en-US" sz="2000" b="1" i="0" u="none" strike="noStrike" dirty="0">
                <a:solidFill>
                  <a:srgbClr val="1F2937"/>
                </a:solidFill>
                <a:latin typeface="+mj-ea"/>
                <a:ea typeface="+mj-ea"/>
                <a:cs typeface="Noto Sans SC"/>
                <a:sym typeface="Noto Sans SC"/>
              </a:rPr>
              <a:t>)</a:t>
            </a:r>
            <a:endParaRPr lang="en-US" sz="2000" dirty="0">
              <a:latin typeface="+mj-ea"/>
              <a:ea typeface="+mj-ea"/>
            </a:endParaRPr>
          </a:p>
          <a:p>
            <a:pPr indent="0" algn="l">
              <a:lnSpc>
                <a:spcPct val="108333"/>
              </a:lnSpc>
              <a:spcBef>
                <a:spcPts val="800"/>
              </a:spcBef>
            </a:pPr>
            <a:r>
              <a:rPr lang="en-US" sz="2000" b="1" i="0" u="none" strike="noStrike" dirty="0" err="1">
                <a:solidFill>
                  <a:srgbClr val="4B5563"/>
                </a:solidFill>
                <a:latin typeface="+mj-ea"/>
                <a:ea typeface="+mj-ea"/>
                <a:cs typeface="Noto Sans SC"/>
                <a:sym typeface="Noto Sans SC"/>
              </a:rPr>
              <a:t>策略：</a:t>
            </a:r>
            <a:r>
              <a:rPr lang="en-US" sz="2000" b="0" i="0" u="none" strike="noStrike" dirty="0" err="1">
                <a:solidFill>
                  <a:srgbClr val="4B5563"/>
                </a:solidFill>
                <a:latin typeface="+mj-ea"/>
                <a:ea typeface="+mj-ea"/>
                <a:cs typeface="Noto Sans SC"/>
                <a:sym typeface="Noto Sans SC"/>
              </a:rPr>
              <a:t>初期阶段采用轻量级的内存数据模型</a:t>
            </a:r>
            <a:r>
              <a:rPr lang="en-US" sz="2000" b="0" i="0" u="none" strike="noStrike" dirty="0">
                <a:solidFill>
                  <a:srgbClr val="4B5563"/>
                </a:solidFill>
                <a:latin typeface="+mj-ea"/>
                <a:ea typeface="+mj-ea"/>
                <a:cs typeface="Noto Sans SC"/>
                <a:sym typeface="Noto Sans SC"/>
              </a:rPr>
              <a:t>。</a:t>
            </a:r>
          </a:p>
          <a:p>
            <a:pPr indent="0" algn="l">
              <a:lnSpc>
                <a:spcPct val="108333"/>
              </a:lnSpc>
            </a:pPr>
            <a:r>
              <a:rPr lang="en-US" sz="2000" b="1" i="0" u="none" strike="noStrike" dirty="0" err="1">
                <a:solidFill>
                  <a:srgbClr val="6B7280"/>
                </a:solidFill>
                <a:latin typeface="+mj-ea"/>
                <a:ea typeface="+mj-ea"/>
                <a:cs typeface="Noto Sans SC"/>
                <a:sym typeface="Noto Sans SC"/>
              </a:rPr>
              <a:t>价值：</a:t>
            </a:r>
            <a:r>
              <a:rPr lang="en-US" sz="2000" b="0" i="0" u="none" strike="noStrike" dirty="0" err="1">
                <a:solidFill>
                  <a:srgbClr val="6B7280"/>
                </a:solidFill>
                <a:latin typeface="+mj-ea"/>
                <a:ea typeface="+mj-ea"/>
                <a:cs typeface="Noto Sans SC"/>
                <a:sym typeface="Noto Sans SC"/>
              </a:rPr>
              <a:t>无需额外数据库部署，极大降低开发门槛，便于功能快速迭代与演示</a:t>
            </a:r>
            <a:r>
              <a:rPr lang="en-US" sz="2000" b="0" i="0" u="none" strike="noStrike" dirty="0">
                <a:solidFill>
                  <a:srgbClr val="6B7280"/>
                </a:solidFill>
                <a:latin typeface="+mj-ea"/>
                <a:ea typeface="+mj-ea"/>
                <a:cs typeface="Noto Sans SC"/>
                <a:sym typeface="Noto Sans SC"/>
              </a:rPr>
              <a:t>。</a:t>
            </a:r>
          </a:p>
        </p:txBody>
      </p:sp>
      <p:sp>
        <p:nvSpPr>
          <p:cNvPr id="46" name="AutoShape 17">
            <a:extLst>
              <a:ext uri="{FF2B5EF4-FFF2-40B4-BE49-F238E27FC236}">
                <a16:creationId xmlns:a16="http://schemas.microsoft.com/office/drawing/2014/main" id="{75FE37C2-03DA-ACA2-E87D-B3B00AC0EA80}"/>
              </a:ext>
            </a:extLst>
          </p:cNvPr>
          <p:cNvSpPr/>
          <p:nvPr/>
        </p:nvSpPr>
        <p:spPr>
          <a:xfrm>
            <a:off x="762000" y="5883967"/>
            <a:ext cx="10668000" cy="762000"/>
          </a:xfrm>
          <a:prstGeom prst="roundRect">
            <a:avLst>
              <a:gd name="adj" fmla="val 13333"/>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47" name="AutoShape 18">
            <a:extLst>
              <a:ext uri="{FF2B5EF4-FFF2-40B4-BE49-F238E27FC236}">
                <a16:creationId xmlns:a16="http://schemas.microsoft.com/office/drawing/2014/main" id="{82A45E48-1AA9-8528-7610-5C5024CB4883}"/>
              </a:ext>
            </a:extLst>
          </p:cNvPr>
          <p:cNvSpPr/>
          <p:nvPr/>
        </p:nvSpPr>
        <p:spPr>
          <a:xfrm>
            <a:off x="889000" y="6010967"/>
            <a:ext cx="10434488"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dirty="0" err="1">
                <a:solidFill>
                  <a:srgbClr val="1E40AF"/>
                </a:solidFill>
                <a:latin typeface="+mn-ea"/>
                <a:ea typeface="+mn-ea"/>
                <a:cs typeface="Noto Sans SC"/>
                <a:sym typeface="Noto Sans SC"/>
              </a:rPr>
              <a:t>数据流转：前端请求</a:t>
            </a:r>
            <a:r>
              <a:rPr lang="en-US" sz="2000" b="1" i="0" u="none" strike="noStrike" dirty="0">
                <a:solidFill>
                  <a:srgbClr val="1E40AF"/>
                </a:solidFill>
                <a:latin typeface="+mn-ea"/>
                <a:ea typeface="+mn-ea"/>
                <a:cs typeface="Noto Sans SC"/>
                <a:sym typeface="Noto Sans SC"/>
              </a:rPr>
              <a:t> → </a:t>
            </a:r>
            <a:r>
              <a:rPr lang="en-US" sz="2000" b="1" i="0" u="none" strike="noStrike" dirty="0" err="1">
                <a:solidFill>
                  <a:srgbClr val="1E40AF"/>
                </a:solidFill>
                <a:latin typeface="+mn-ea"/>
                <a:ea typeface="+mn-ea"/>
                <a:cs typeface="Noto Sans SC"/>
                <a:sym typeface="Noto Sans SC"/>
              </a:rPr>
              <a:t>后端分发</a:t>
            </a:r>
            <a:r>
              <a:rPr lang="en-US" sz="2000" b="1" i="0" u="none" strike="noStrike" dirty="0">
                <a:solidFill>
                  <a:srgbClr val="1E40AF"/>
                </a:solidFill>
                <a:latin typeface="+mn-ea"/>
                <a:ea typeface="+mn-ea"/>
                <a:cs typeface="Noto Sans SC"/>
                <a:sym typeface="Noto Sans SC"/>
              </a:rPr>
              <a:t> → </a:t>
            </a:r>
            <a:r>
              <a:rPr lang="en-US" sz="2000" b="1" i="0" u="none" strike="noStrike" dirty="0" err="1">
                <a:solidFill>
                  <a:srgbClr val="1E40AF"/>
                </a:solidFill>
                <a:latin typeface="+mn-ea"/>
                <a:ea typeface="+mn-ea"/>
                <a:cs typeface="Noto Sans SC"/>
                <a:sym typeface="Noto Sans SC"/>
              </a:rPr>
              <a:t>算法并行计算</a:t>
            </a:r>
            <a:r>
              <a:rPr lang="en-US" sz="2000" b="1" i="0" u="none" strike="noStrike" dirty="0">
                <a:solidFill>
                  <a:srgbClr val="1E40AF"/>
                </a:solidFill>
                <a:latin typeface="+mn-ea"/>
                <a:ea typeface="+mn-ea"/>
                <a:cs typeface="Noto Sans SC"/>
                <a:sym typeface="Noto Sans SC"/>
              </a:rPr>
              <a:t> → </a:t>
            </a:r>
            <a:r>
              <a:rPr lang="en-US" sz="2000" b="1" i="0" u="none" strike="noStrike" dirty="0" err="1">
                <a:solidFill>
                  <a:srgbClr val="1E40AF"/>
                </a:solidFill>
                <a:latin typeface="+mn-ea"/>
                <a:ea typeface="+mn-ea"/>
                <a:cs typeface="Noto Sans SC"/>
                <a:sym typeface="Noto Sans SC"/>
              </a:rPr>
              <a:t>结果回传</a:t>
            </a:r>
            <a:r>
              <a:rPr lang="en-US" sz="2000" b="1" i="0" u="none" strike="noStrike" dirty="0">
                <a:solidFill>
                  <a:srgbClr val="1E40AF"/>
                </a:solidFill>
                <a:latin typeface="+mn-ea"/>
                <a:ea typeface="+mn-ea"/>
                <a:cs typeface="Noto Sans SC"/>
                <a:sym typeface="Noto Sans SC"/>
              </a:rPr>
              <a:t> → </a:t>
            </a:r>
            <a:r>
              <a:rPr lang="en-US" sz="2000" b="1" i="0" u="none" strike="noStrike" dirty="0" err="1">
                <a:solidFill>
                  <a:srgbClr val="1E40AF"/>
                </a:solidFill>
                <a:latin typeface="+mn-ea"/>
                <a:ea typeface="+mn-ea"/>
                <a:cs typeface="Noto Sans SC"/>
                <a:sym typeface="Noto Sans SC"/>
              </a:rPr>
              <a:t>后端汇总</a:t>
            </a:r>
            <a:r>
              <a:rPr lang="en-US" sz="2000" b="1" i="0" u="none" strike="noStrike" dirty="0">
                <a:solidFill>
                  <a:srgbClr val="1E40AF"/>
                </a:solidFill>
                <a:latin typeface="+mn-ea"/>
                <a:ea typeface="+mn-ea"/>
                <a:cs typeface="Noto Sans SC"/>
                <a:sym typeface="Noto Sans SC"/>
              </a:rPr>
              <a:t> → </a:t>
            </a:r>
            <a:r>
              <a:rPr lang="en-US" sz="2000" b="1" i="0" u="none" strike="noStrike" dirty="0" err="1">
                <a:solidFill>
                  <a:srgbClr val="1E40AF"/>
                </a:solidFill>
                <a:latin typeface="+mn-ea"/>
                <a:ea typeface="+mn-ea"/>
                <a:cs typeface="Noto Sans SC"/>
                <a:sym typeface="Noto Sans SC"/>
              </a:rPr>
              <a:t>前端可视化</a:t>
            </a:r>
            <a:endParaRPr lang="en-US" sz="2000"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2" grpId="0"/>
      <p:bldP spid="33" grpId="0" animBg="1"/>
      <p:bldP spid="35" grpId="0"/>
      <p:bldP spid="36" grpId="0" animBg="1"/>
      <p:bldP spid="38" grpId="0"/>
      <p:bldP spid="39" grpId="0" animBg="1"/>
      <p:bldP spid="41" grpId="0"/>
      <p:bldP spid="46" grpId="0" animBg="1"/>
      <p:bldP spid="47"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37DA993-A349-5645-1999-0BB7A2EB60E0}"/>
            </a:ext>
          </a:extLst>
        </p:cNvPr>
        <p:cNvGrpSpPr/>
        <p:nvPr/>
      </p:nvGrpSpPr>
      <p:grpSpPr>
        <a:xfrm>
          <a:off x="0" y="0"/>
          <a:ext cx="0" cy="0"/>
          <a:chOff x="0" y="0"/>
          <a:chExt cx="0" cy="0"/>
        </a:xfrm>
      </p:grpSpPr>
      <p:sp>
        <p:nvSpPr>
          <p:cNvPr id="11" name="AutoShape 2">
            <a:extLst>
              <a:ext uri="{FF2B5EF4-FFF2-40B4-BE49-F238E27FC236}">
                <a16:creationId xmlns:a16="http://schemas.microsoft.com/office/drawing/2014/main" id="{5433A25F-1C70-C57B-10BE-6DCAA880ACF8}"/>
              </a:ext>
            </a:extLst>
          </p:cNvPr>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17">
            <a:extLst>
              <a:ext uri="{FF2B5EF4-FFF2-40B4-BE49-F238E27FC236}">
                <a16:creationId xmlns:a16="http://schemas.microsoft.com/office/drawing/2014/main" id="{E374318C-1922-F6E3-EDA4-2BC6634975AF}"/>
              </a:ext>
            </a:extLst>
          </p:cNvPr>
          <p:cNvSpPr/>
          <p:nvPr/>
        </p:nvSpPr>
        <p:spPr>
          <a:xfrm>
            <a:off x="6223000" y="3723933"/>
            <a:ext cx="5207000" cy="1990356"/>
          </a:xfrm>
          <a:prstGeom prst="roundRect">
            <a:avLst>
              <a:gd name="adj" fmla="val 13333"/>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sz="2400">
              <a:latin typeface="+mj-ea"/>
              <a:ea typeface="+mj-ea"/>
            </a:endParaRPr>
          </a:p>
        </p:txBody>
      </p:sp>
      <p:sp>
        <p:nvSpPr>
          <p:cNvPr id="7" name="AutoShape 17">
            <a:extLst>
              <a:ext uri="{FF2B5EF4-FFF2-40B4-BE49-F238E27FC236}">
                <a16:creationId xmlns:a16="http://schemas.microsoft.com/office/drawing/2014/main" id="{64B63B53-2A34-5586-FFC4-8459EDFA9BB3}"/>
              </a:ext>
            </a:extLst>
          </p:cNvPr>
          <p:cNvSpPr/>
          <p:nvPr/>
        </p:nvSpPr>
        <p:spPr>
          <a:xfrm>
            <a:off x="762000" y="3723933"/>
            <a:ext cx="5207000" cy="1990356"/>
          </a:xfrm>
          <a:prstGeom prst="roundRect">
            <a:avLst>
              <a:gd name="adj" fmla="val 13333"/>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sz="2400">
              <a:latin typeface="+mj-ea"/>
              <a:ea typeface="+mj-ea"/>
            </a:endParaRPr>
          </a:p>
        </p:txBody>
      </p:sp>
      <p:sp>
        <p:nvSpPr>
          <p:cNvPr id="5" name="AutoShape 17">
            <a:extLst>
              <a:ext uri="{FF2B5EF4-FFF2-40B4-BE49-F238E27FC236}">
                <a16:creationId xmlns:a16="http://schemas.microsoft.com/office/drawing/2014/main" id="{4E4788FF-3844-9520-6483-EE341A1509FF}"/>
              </a:ext>
            </a:extLst>
          </p:cNvPr>
          <p:cNvSpPr/>
          <p:nvPr/>
        </p:nvSpPr>
        <p:spPr>
          <a:xfrm>
            <a:off x="6223000" y="1427046"/>
            <a:ext cx="5207000" cy="1990356"/>
          </a:xfrm>
          <a:prstGeom prst="roundRect">
            <a:avLst>
              <a:gd name="adj" fmla="val 13333"/>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sz="2400">
              <a:latin typeface="+mj-ea"/>
              <a:ea typeface="+mj-ea"/>
            </a:endParaRPr>
          </a:p>
        </p:txBody>
      </p:sp>
      <p:sp>
        <p:nvSpPr>
          <p:cNvPr id="4" name="AutoShape 17">
            <a:extLst>
              <a:ext uri="{FF2B5EF4-FFF2-40B4-BE49-F238E27FC236}">
                <a16:creationId xmlns:a16="http://schemas.microsoft.com/office/drawing/2014/main" id="{C642BD8E-E9B6-8772-EAE3-F452C8DA0A71}"/>
              </a:ext>
            </a:extLst>
          </p:cNvPr>
          <p:cNvSpPr/>
          <p:nvPr/>
        </p:nvSpPr>
        <p:spPr>
          <a:xfrm>
            <a:off x="762000" y="1438644"/>
            <a:ext cx="5207000" cy="1990356"/>
          </a:xfrm>
          <a:prstGeom prst="roundRect">
            <a:avLst>
              <a:gd name="adj" fmla="val 13333"/>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sz="2400">
              <a:latin typeface="+mj-ea"/>
              <a:ea typeface="+mj-ea"/>
            </a:endParaRPr>
          </a:p>
        </p:txBody>
      </p:sp>
      <p:sp>
        <p:nvSpPr>
          <p:cNvPr id="3" name="AutoShape 3">
            <a:extLst>
              <a:ext uri="{FF2B5EF4-FFF2-40B4-BE49-F238E27FC236}">
                <a16:creationId xmlns:a16="http://schemas.microsoft.com/office/drawing/2014/main" id="{7C093121-4F29-DA3A-8644-A298E9C851AC}"/>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zh-CN" altLang="en-US" sz="3200" b="1" dirty="0">
                <a:solidFill>
                  <a:srgbClr val="007AFF"/>
                </a:solidFill>
                <a:latin typeface="Noto Sans SC"/>
                <a:ea typeface="Noto Sans SC"/>
                <a:sym typeface="Noto Sans SC"/>
              </a:rPr>
              <a:t>二、项目介绍：创新特色概述</a:t>
            </a:r>
            <a:endParaRPr lang="zh-CN" altLang="zh-CN" sz="3200" b="1" kern="1200" dirty="0">
              <a:solidFill>
                <a:schemeClr val="tx1"/>
              </a:solidFill>
            </a:endParaRPr>
          </a:p>
        </p:txBody>
      </p:sp>
      <p:pic>
        <p:nvPicPr>
          <p:cNvPr id="28" name="图片 27">
            <a:extLst>
              <a:ext uri="{FF2B5EF4-FFF2-40B4-BE49-F238E27FC236}">
                <a16:creationId xmlns:a16="http://schemas.microsoft.com/office/drawing/2014/main" id="{CD7C061C-5DE4-5CA6-F0BF-4F45627525E6}"/>
              </a:ext>
            </a:extLst>
          </p:cNvPr>
          <p:cNvPicPr>
            <a:picLocks noChangeAspect="1"/>
          </p:cNvPicPr>
          <p:nvPr/>
        </p:nvPicPr>
        <p:blipFill>
          <a:blip r:embed="rId4"/>
          <a:stretch>
            <a:fillRect/>
          </a:stretch>
        </p:blipFill>
        <p:spPr>
          <a:xfrm>
            <a:off x="8472588" y="-147566"/>
            <a:ext cx="3606733" cy="1384112"/>
          </a:xfrm>
          <a:prstGeom prst="rect">
            <a:avLst/>
          </a:prstGeom>
        </p:spPr>
      </p:pic>
      <p:pic>
        <p:nvPicPr>
          <p:cNvPr id="31" name="Picture 5">
            <a:extLst>
              <a:ext uri="{FF2B5EF4-FFF2-40B4-BE49-F238E27FC236}">
                <a16:creationId xmlns:a16="http://schemas.microsoft.com/office/drawing/2014/main" id="{9AFD2F46-2E05-581E-82A7-6BB4E198682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676402"/>
            <a:ext cx="457200" cy="457200"/>
          </a:xfrm>
          <a:prstGeom prst="rect">
            <a:avLst/>
          </a:prstGeom>
        </p:spPr>
      </p:pic>
      <p:sp>
        <p:nvSpPr>
          <p:cNvPr id="32" name="AutoShape 6">
            <a:extLst>
              <a:ext uri="{FF2B5EF4-FFF2-40B4-BE49-F238E27FC236}">
                <a16:creationId xmlns:a16="http://schemas.microsoft.com/office/drawing/2014/main" id="{F5B119A9-793E-43DA-4E84-3AEAABFBCEC9}"/>
              </a:ext>
            </a:extLst>
          </p:cNvPr>
          <p:cNvSpPr/>
          <p:nvPr/>
        </p:nvSpPr>
        <p:spPr>
          <a:xfrm>
            <a:off x="1651000" y="1612902"/>
            <a:ext cx="4203148" cy="1651000"/>
          </a:xfrm>
          <a:prstGeom prst="rect">
            <a:avLst/>
          </a:prstGeom>
          <a:noFill/>
          <a:ln w="12700" cap="flat" cmpd="sng">
            <a:noFill/>
            <a:prstDash val="solid"/>
            <a:round/>
          </a:ln>
        </p:spPr>
        <p:txBody>
          <a:bodyPr vert="horz" wrap="square" lIns="0" tIns="0" rIns="0" bIns="0" rtlCol="0" anchor="ctr" anchorCtr="0"/>
          <a:lstStyle/>
          <a:p>
            <a:pPr lvl="0">
              <a:defRPr/>
            </a:pPr>
            <a:r>
              <a:rPr lang="en-US" altLang="zh-CN" sz="2400" b="1" dirty="0" err="1">
                <a:solidFill>
                  <a:srgbClr val="1F2937"/>
                </a:solidFill>
                <a:latin typeface="Noto Sans SC"/>
                <a:ea typeface="Noto Sans SC"/>
                <a:cs typeface="Noto Sans SC"/>
              </a:rPr>
              <a:t>质量维度更全面</a:t>
            </a:r>
            <a:endParaRPr lang="en-US" altLang="zh-CN" sz="2400" b="1" dirty="0">
              <a:solidFill>
                <a:srgbClr val="1F2937"/>
              </a:solidFill>
              <a:latin typeface="Noto Sans SC"/>
              <a:ea typeface="Noto Sans SC"/>
              <a:cs typeface="Noto Sans SC"/>
            </a:endParaRPr>
          </a:p>
          <a:p>
            <a:pPr lvl="0"/>
            <a:r>
              <a:rPr lang="en-US" altLang="zh-CN" sz="2400" kern="1200" dirty="0" err="1">
                <a:solidFill>
                  <a:schemeClr val="tx1"/>
                </a:solidFill>
                <a:latin typeface="+mj-ea"/>
                <a:ea typeface="+mj-ea"/>
              </a:rPr>
              <a:t>从传统缺失、重复扩展到分布偏差、鲁棒性风险和物理一致性</a:t>
            </a:r>
            <a:r>
              <a:rPr lang="en-US" altLang="zh-CN" sz="2400" kern="1200" dirty="0">
                <a:solidFill>
                  <a:schemeClr val="tx1"/>
                </a:solidFill>
                <a:latin typeface="+mj-ea"/>
                <a:ea typeface="+mj-ea"/>
              </a:rPr>
              <a:t>。</a:t>
            </a:r>
            <a:endParaRPr lang="zh-CN" altLang="zh-CN" sz="2400" kern="1200" dirty="0">
              <a:solidFill>
                <a:schemeClr val="tx1"/>
              </a:solidFill>
              <a:latin typeface="+mj-ea"/>
              <a:ea typeface="+mj-ea"/>
            </a:endParaRPr>
          </a:p>
        </p:txBody>
      </p:sp>
      <p:pic>
        <p:nvPicPr>
          <p:cNvPr id="34" name="Picture 8">
            <a:extLst>
              <a:ext uri="{FF2B5EF4-FFF2-40B4-BE49-F238E27FC236}">
                <a16:creationId xmlns:a16="http://schemas.microsoft.com/office/drawing/2014/main" id="{8F60FA83-6516-D37A-6F88-AAABBE258B5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1676402"/>
            <a:ext cx="457200" cy="457200"/>
          </a:xfrm>
          <a:prstGeom prst="rect">
            <a:avLst/>
          </a:prstGeom>
        </p:spPr>
      </p:pic>
      <p:sp>
        <p:nvSpPr>
          <p:cNvPr id="35" name="AutoShape 9">
            <a:extLst>
              <a:ext uri="{FF2B5EF4-FFF2-40B4-BE49-F238E27FC236}">
                <a16:creationId xmlns:a16="http://schemas.microsoft.com/office/drawing/2014/main" id="{98691AD8-D16E-03DA-02FF-2351AD719919}"/>
              </a:ext>
            </a:extLst>
          </p:cNvPr>
          <p:cNvSpPr/>
          <p:nvPr/>
        </p:nvSpPr>
        <p:spPr>
          <a:xfrm>
            <a:off x="7112000" y="1612902"/>
            <a:ext cx="4064000" cy="1651000"/>
          </a:xfrm>
          <a:prstGeom prst="rect">
            <a:avLst/>
          </a:prstGeom>
          <a:noFill/>
          <a:ln w="12700" cap="flat" cmpd="sng">
            <a:noFill/>
            <a:prstDash val="solid"/>
            <a:round/>
          </a:ln>
        </p:spPr>
        <p:txBody>
          <a:bodyPr vert="horz" wrap="square" lIns="0" tIns="0" rIns="0" bIns="0" rtlCol="0" anchor="ctr" anchorCtr="0"/>
          <a:lstStyle/>
          <a:p>
            <a:pPr>
              <a:defRPr/>
            </a:pPr>
            <a:r>
              <a:rPr lang="en-US" altLang="zh-CN" sz="2400" b="1" dirty="0" err="1">
                <a:solidFill>
                  <a:srgbClr val="1F2937"/>
                </a:solidFill>
                <a:latin typeface="Noto Sans SC"/>
                <a:ea typeface="Noto Sans SC"/>
                <a:cs typeface="Noto Sans SC"/>
              </a:rPr>
              <a:t>系统设计可扩展</a:t>
            </a:r>
            <a:endParaRPr lang="en-US" altLang="zh-CN" sz="2400" b="1" dirty="0">
              <a:solidFill>
                <a:srgbClr val="1F2937"/>
              </a:solidFill>
              <a:latin typeface="Noto Sans SC"/>
              <a:ea typeface="Noto Sans SC"/>
              <a:cs typeface="Noto Sans SC"/>
            </a:endParaRPr>
          </a:p>
          <a:p>
            <a:pPr lvl="0"/>
            <a:r>
              <a:rPr lang="en-US" altLang="zh-CN" sz="2400" kern="1200" dirty="0" err="1">
                <a:solidFill>
                  <a:schemeClr val="tx1"/>
                </a:solidFill>
                <a:latin typeface="+mj-ea"/>
                <a:ea typeface="+mj-ea"/>
              </a:rPr>
              <a:t>后端统一调度，算法服务独立接入，便于后续替换或新增检测引擎</a:t>
            </a:r>
            <a:r>
              <a:rPr lang="en-US" altLang="zh-CN" sz="2400" kern="1200" dirty="0">
                <a:solidFill>
                  <a:schemeClr val="tx1"/>
                </a:solidFill>
                <a:latin typeface="+mj-ea"/>
                <a:ea typeface="+mj-ea"/>
              </a:rPr>
              <a:t>。</a:t>
            </a:r>
            <a:endParaRPr lang="zh-CN" altLang="zh-CN" sz="2400" kern="1200" dirty="0">
              <a:solidFill>
                <a:schemeClr val="tx1"/>
              </a:solidFill>
              <a:latin typeface="+mj-ea"/>
              <a:ea typeface="+mj-ea"/>
            </a:endParaRPr>
          </a:p>
        </p:txBody>
      </p:sp>
      <p:pic>
        <p:nvPicPr>
          <p:cNvPr id="37" name="Picture 11">
            <a:extLst>
              <a:ext uri="{FF2B5EF4-FFF2-40B4-BE49-F238E27FC236}">
                <a16:creationId xmlns:a16="http://schemas.microsoft.com/office/drawing/2014/main" id="{E03DF87C-9FDA-24B6-B5B0-4459053F085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962402"/>
            <a:ext cx="457200" cy="457200"/>
          </a:xfrm>
          <a:prstGeom prst="rect">
            <a:avLst/>
          </a:prstGeom>
        </p:spPr>
      </p:pic>
      <p:sp>
        <p:nvSpPr>
          <p:cNvPr id="38" name="AutoShape 12">
            <a:extLst>
              <a:ext uri="{FF2B5EF4-FFF2-40B4-BE49-F238E27FC236}">
                <a16:creationId xmlns:a16="http://schemas.microsoft.com/office/drawing/2014/main" id="{955E34EB-6300-346A-4ED0-6E4C44BBE8F0}"/>
              </a:ext>
            </a:extLst>
          </p:cNvPr>
          <p:cNvSpPr/>
          <p:nvPr/>
        </p:nvSpPr>
        <p:spPr>
          <a:xfrm>
            <a:off x="1651000" y="3749817"/>
            <a:ext cx="3904974" cy="1651000"/>
          </a:xfrm>
          <a:prstGeom prst="rect">
            <a:avLst/>
          </a:prstGeom>
          <a:noFill/>
          <a:ln w="12700" cap="flat" cmpd="sng">
            <a:noFill/>
            <a:prstDash val="solid"/>
            <a:round/>
          </a:ln>
        </p:spPr>
        <p:txBody>
          <a:bodyPr vert="horz" wrap="square" lIns="0" tIns="0" rIns="0" bIns="0" rtlCol="0" anchor="ctr" anchorCtr="0"/>
          <a:lstStyle/>
          <a:p>
            <a:pPr lvl="0">
              <a:defRPr/>
            </a:pPr>
            <a:r>
              <a:rPr lang="en-US" altLang="zh-CN" sz="2400" b="1" dirty="0" err="1">
                <a:solidFill>
                  <a:srgbClr val="1F2937"/>
                </a:solidFill>
                <a:latin typeface="Noto Sans SC"/>
                <a:ea typeface="Noto Sans SC"/>
                <a:cs typeface="Noto Sans SC"/>
              </a:rPr>
              <a:t>面向多模态数据</a:t>
            </a:r>
            <a:endParaRPr lang="en-US" altLang="zh-CN" sz="2400" b="1" dirty="0">
              <a:solidFill>
                <a:srgbClr val="1F2937"/>
              </a:solidFill>
              <a:latin typeface="Noto Sans SC"/>
              <a:ea typeface="Noto Sans SC"/>
              <a:cs typeface="Noto Sans SC"/>
            </a:endParaRPr>
          </a:p>
          <a:p>
            <a:pPr lvl="0"/>
            <a:r>
              <a:rPr lang="en-US" altLang="zh-CN" sz="2400" kern="1200" dirty="0" err="1">
                <a:solidFill>
                  <a:schemeClr val="tx1"/>
                </a:solidFill>
                <a:latin typeface="+mj-ea"/>
                <a:ea typeface="+mj-ea"/>
              </a:rPr>
              <a:t>同时考虑结构化表格、文本、时序和图像数据的质量风险</a:t>
            </a:r>
            <a:r>
              <a:rPr lang="en-US" altLang="zh-CN" sz="2400" kern="1200" dirty="0">
                <a:solidFill>
                  <a:schemeClr val="tx1"/>
                </a:solidFill>
                <a:latin typeface="+mj-ea"/>
                <a:ea typeface="+mj-ea"/>
              </a:rPr>
              <a:t>。</a:t>
            </a:r>
            <a:endParaRPr lang="zh-CN" altLang="zh-CN" sz="2400" kern="1200" dirty="0">
              <a:solidFill>
                <a:schemeClr val="tx1"/>
              </a:solidFill>
              <a:latin typeface="+mj-ea"/>
              <a:ea typeface="+mj-ea"/>
            </a:endParaRPr>
          </a:p>
        </p:txBody>
      </p:sp>
      <p:pic>
        <p:nvPicPr>
          <p:cNvPr id="40" name="Picture 14">
            <a:extLst>
              <a:ext uri="{FF2B5EF4-FFF2-40B4-BE49-F238E27FC236}">
                <a16:creationId xmlns:a16="http://schemas.microsoft.com/office/drawing/2014/main" id="{09B43DFA-A1DF-9904-E456-E6D4B6625E0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3962402"/>
            <a:ext cx="457200" cy="457200"/>
          </a:xfrm>
          <a:prstGeom prst="rect">
            <a:avLst/>
          </a:prstGeom>
        </p:spPr>
      </p:pic>
      <p:sp>
        <p:nvSpPr>
          <p:cNvPr id="41" name="AutoShape 15">
            <a:extLst>
              <a:ext uri="{FF2B5EF4-FFF2-40B4-BE49-F238E27FC236}">
                <a16:creationId xmlns:a16="http://schemas.microsoft.com/office/drawing/2014/main" id="{FFA3C1D8-661E-5756-73FB-353693A37257}"/>
              </a:ext>
            </a:extLst>
          </p:cNvPr>
          <p:cNvSpPr/>
          <p:nvPr/>
        </p:nvSpPr>
        <p:spPr>
          <a:xfrm>
            <a:off x="7052366" y="3898902"/>
            <a:ext cx="4123634" cy="1651000"/>
          </a:xfrm>
          <a:prstGeom prst="rect">
            <a:avLst/>
          </a:prstGeom>
          <a:noFill/>
          <a:ln w="12700" cap="flat" cmpd="sng">
            <a:noFill/>
            <a:prstDash val="solid"/>
            <a:round/>
          </a:ln>
        </p:spPr>
        <p:txBody>
          <a:bodyPr vert="horz" wrap="square" lIns="0" tIns="0" rIns="0" bIns="0" rtlCol="0" anchor="ctr" anchorCtr="0"/>
          <a:lstStyle/>
          <a:p>
            <a:pPr>
              <a:defRPr/>
            </a:pPr>
            <a:r>
              <a:rPr lang="en-US" altLang="zh-CN" sz="2400" b="1" dirty="0" err="1">
                <a:solidFill>
                  <a:srgbClr val="1F2937"/>
                </a:solidFill>
                <a:latin typeface="Noto Sans SC"/>
                <a:ea typeface="Noto Sans SC"/>
                <a:cs typeface="Noto Sans SC"/>
              </a:rPr>
              <a:t>输出可解释</a:t>
            </a:r>
            <a:endParaRPr lang="en-US" altLang="zh-CN" sz="2400" b="1" dirty="0">
              <a:solidFill>
                <a:srgbClr val="1F2937"/>
              </a:solidFill>
              <a:latin typeface="Noto Sans SC"/>
              <a:ea typeface="Noto Sans SC"/>
              <a:cs typeface="Noto Sans SC"/>
            </a:endParaRPr>
          </a:p>
          <a:p>
            <a:pPr lvl="0"/>
            <a:r>
              <a:rPr lang="en-US" altLang="zh-CN" sz="2400" kern="1200" dirty="0" err="1">
                <a:solidFill>
                  <a:schemeClr val="tx1"/>
                </a:solidFill>
                <a:latin typeface="+mj-ea"/>
                <a:ea typeface="+mj-ea"/>
              </a:rPr>
              <a:t>每类引擎均输出指标、问题类型、样本列表、图表数据和整改建议</a:t>
            </a:r>
            <a:r>
              <a:rPr lang="en-US" altLang="zh-CN" sz="2400" kern="1200" dirty="0">
                <a:solidFill>
                  <a:schemeClr val="tx1"/>
                </a:solidFill>
                <a:latin typeface="+mj-ea"/>
                <a:ea typeface="+mj-ea"/>
              </a:rPr>
              <a:t>。</a:t>
            </a:r>
            <a:endParaRPr lang="zh-CN" altLang="zh-CN" sz="2400" kern="1200" dirty="0">
              <a:solidFill>
                <a:schemeClr val="tx1"/>
              </a:solidFill>
              <a:latin typeface="+mj-ea"/>
              <a:ea typeface="+mj-ea"/>
            </a:endParaRPr>
          </a:p>
        </p:txBody>
      </p:sp>
    </p:spTree>
    <p:extLst>
      <p:ext uri="{BB962C8B-B14F-4D97-AF65-F5344CB8AC3E}">
        <p14:creationId xmlns:p14="http://schemas.microsoft.com/office/powerpoint/2010/main" val="581361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5" grpId="0" animBg="1"/>
      <p:bldP spid="4" grpId="0" animBg="1"/>
      <p:bldP spid="32" grpId="0"/>
      <p:bldP spid="35" grpId="0"/>
      <p:bldP spid="38" grpId="0"/>
      <p:bldP spid="41"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2E999E0-9F0B-D53E-9805-0B03DF91BAC0}"/>
            </a:ext>
          </a:extLst>
        </p:cNvPr>
        <p:cNvGrpSpPr/>
        <p:nvPr/>
      </p:nvGrpSpPr>
      <p:grpSpPr>
        <a:xfrm>
          <a:off x="0" y="0"/>
          <a:ext cx="0" cy="0"/>
          <a:chOff x="0" y="0"/>
          <a:chExt cx="0" cy="0"/>
        </a:xfrm>
      </p:grpSpPr>
      <p:sp>
        <p:nvSpPr>
          <p:cNvPr id="3" name="AutoShape 3">
            <a:extLst>
              <a:ext uri="{FF2B5EF4-FFF2-40B4-BE49-F238E27FC236}">
                <a16:creationId xmlns:a16="http://schemas.microsoft.com/office/drawing/2014/main" id="{B7B22F30-A211-D241-8499-644BD4F97B14}"/>
              </a:ext>
            </a:extLst>
          </p:cNvPr>
          <p:cNvSpPr/>
          <p:nvPr/>
        </p:nvSpPr>
        <p:spPr>
          <a:xfrm>
            <a:off x="762000" y="635000"/>
            <a:ext cx="90678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dirty="0">
                <a:solidFill>
                  <a:srgbClr val="007AFF"/>
                </a:solidFill>
                <a:latin typeface="Noto Sans SC"/>
                <a:ea typeface="Noto Sans SC"/>
                <a:sym typeface="Noto Sans SC"/>
              </a:rPr>
              <a:t>三、当前项目进度</a:t>
            </a:r>
            <a:endParaRPr lang="en-US" sz="1100" dirty="0"/>
          </a:p>
        </p:txBody>
      </p:sp>
      <p:pic>
        <p:nvPicPr>
          <p:cNvPr id="20" name="图片 19">
            <a:extLst>
              <a:ext uri="{FF2B5EF4-FFF2-40B4-BE49-F238E27FC236}">
                <a16:creationId xmlns:a16="http://schemas.microsoft.com/office/drawing/2014/main" id="{39E6DC7A-6F68-71DD-242E-AA9B10E4ED5E}"/>
              </a:ext>
            </a:extLst>
          </p:cNvPr>
          <p:cNvPicPr>
            <a:picLocks noChangeAspect="1"/>
          </p:cNvPicPr>
          <p:nvPr/>
        </p:nvPicPr>
        <p:blipFill>
          <a:blip r:embed="rId4"/>
          <a:stretch>
            <a:fillRect/>
          </a:stretch>
        </p:blipFill>
        <p:spPr>
          <a:xfrm>
            <a:off x="8472588" y="-147566"/>
            <a:ext cx="3606733" cy="1384112"/>
          </a:xfrm>
          <a:prstGeom prst="rect">
            <a:avLst/>
          </a:prstGeom>
        </p:spPr>
      </p:pic>
      <p:sp>
        <p:nvSpPr>
          <p:cNvPr id="22" name="AutoShape 4">
            <a:extLst>
              <a:ext uri="{FF2B5EF4-FFF2-40B4-BE49-F238E27FC236}">
                <a16:creationId xmlns:a16="http://schemas.microsoft.com/office/drawing/2014/main" id="{AA1FA2E0-329A-56EB-C647-19021D6A28B0}"/>
              </a:ext>
            </a:extLst>
          </p:cNvPr>
          <p:cNvSpPr/>
          <p:nvPr/>
        </p:nvSpPr>
        <p:spPr>
          <a:xfrm>
            <a:off x="762000" y="1236546"/>
            <a:ext cx="5207000" cy="2688308"/>
          </a:xfrm>
          <a:prstGeom prst="roundRect">
            <a:avLst>
              <a:gd name="adj" fmla="val 63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23" name="Picture 5">
            <a:extLst>
              <a:ext uri="{FF2B5EF4-FFF2-40B4-BE49-F238E27FC236}">
                <a16:creationId xmlns:a16="http://schemas.microsoft.com/office/drawing/2014/main" id="{DFC7C0A0-824F-185F-F14B-1CE9E402420E}"/>
              </a:ext>
            </a:extLst>
          </p:cNvPr>
          <p:cNvPicPr>
            <a:picLocks noChangeAspect="1"/>
          </p:cNvPicPr>
          <p:nvPr/>
        </p:nvPicPr>
        <p:blipFill>
          <a:blip r:embed="rId5"/>
          <a:srcRect l="23809" r="23809"/>
          <a:stretch>
            <a:fillRect/>
          </a:stretch>
        </p:blipFill>
        <p:spPr>
          <a:xfrm>
            <a:off x="1016000" y="2083354"/>
            <a:ext cx="1143000" cy="1143000"/>
          </a:xfrm>
          <a:prstGeom prst="rect">
            <a:avLst/>
          </a:prstGeom>
          <a:noFill/>
          <a:ln w="25400" cap="flat" cmpd="sng">
            <a:noFill/>
            <a:prstDash val="solid"/>
            <a:round/>
          </a:ln>
        </p:spPr>
      </p:pic>
      <p:sp>
        <p:nvSpPr>
          <p:cNvPr id="24" name="AutoShape 6">
            <a:extLst>
              <a:ext uri="{FF2B5EF4-FFF2-40B4-BE49-F238E27FC236}">
                <a16:creationId xmlns:a16="http://schemas.microsoft.com/office/drawing/2014/main" id="{7778A5AC-E023-E85C-BE9B-105CA8DED8E0}"/>
              </a:ext>
            </a:extLst>
          </p:cNvPr>
          <p:cNvSpPr/>
          <p:nvPr/>
        </p:nvSpPr>
        <p:spPr>
          <a:xfrm>
            <a:off x="2305878" y="1602964"/>
            <a:ext cx="3409122" cy="203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34D399"/>
                </a:solidFill>
                <a:latin typeface="Noto Sans SC"/>
                <a:ea typeface="Noto Sans SC"/>
                <a:cs typeface="Noto Sans SC"/>
                <a:sym typeface="Noto Sans SC"/>
              </a:rPr>
              <a:t>▍</a:t>
            </a:r>
            <a:r>
              <a:rPr lang="en-US" sz="1800" b="1" i="0" u="none" strike="noStrike" dirty="0" err="1">
                <a:solidFill>
                  <a:srgbClr val="1F2937"/>
                </a:solidFill>
                <a:latin typeface="Noto Sans SC"/>
                <a:ea typeface="Noto Sans SC"/>
                <a:cs typeface="Noto Sans SC"/>
                <a:sym typeface="Noto Sans SC"/>
              </a:rPr>
              <a:t>后端服务骨架</a:t>
            </a:r>
            <a:endParaRPr lang="en-US" sz="1800" dirty="0"/>
          </a:p>
          <a:p>
            <a:pPr indent="0" algn="l">
              <a:lnSpc>
                <a:spcPct val="108333"/>
              </a:lnSpc>
              <a:spcBef>
                <a:spcPts val="800"/>
              </a:spcBef>
            </a:pPr>
            <a:r>
              <a:rPr lang="en-US" sz="1800" b="1" i="0" u="none" strike="noStrike" dirty="0" err="1">
                <a:solidFill>
                  <a:srgbClr val="4B5563"/>
                </a:solidFill>
                <a:latin typeface="Noto Sans SC"/>
                <a:ea typeface="Noto Sans SC"/>
                <a:cs typeface="Noto Sans SC"/>
                <a:sym typeface="Noto Sans SC"/>
              </a:rPr>
              <a:t>技术栈:</a:t>
            </a:r>
            <a:r>
              <a:rPr lang="en-US" sz="1800" b="0" i="0" u="none" strike="noStrike" dirty="0" err="1">
                <a:solidFill>
                  <a:srgbClr val="6B7280"/>
                </a:solidFill>
                <a:latin typeface="Noto Sans SC"/>
                <a:ea typeface="Noto Sans SC"/>
                <a:cs typeface="Noto Sans SC"/>
                <a:sym typeface="Noto Sans SC"/>
              </a:rPr>
              <a:t>Go语言</a:t>
            </a:r>
            <a:r>
              <a:rPr lang="en-US" sz="1800" b="0" i="0" u="none" strike="noStrike" dirty="0">
                <a:solidFill>
                  <a:srgbClr val="6B7280"/>
                </a:solidFill>
                <a:latin typeface="Noto Sans SC"/>
                <a:ea typeface="Noto Sans SC"/>
                <a:cs typeface="Noto Sans SC"/>
                <a:sym typeface="Noto Sans SC"/>
              </a:rPr>
              <a:t> + </a:t>
            </a:r>
            <a:r>
              <a:rPr lang="en-US" sz="1800" b="0" i="0" u="none" strike="noStrike" dirty="0" err="1">
                <a:solidFill>
                  <a:srgbClr val="6B7280"/>
                </a:solidFill>
                <a:latin typeface="Noto Sans SC"/>
                <a:ea typeface="Noto Sans SC"/>
                <a:cs typeface="Noto Sans SC"/>
                <a:sym typeface="Noto Sans SC"/>
              </a:rPr>
              <a:t>Gin框架，高性能并发处理</a:t>
            </a:r>
            <a:r>
              <a:rPr lang="en-US" sz="1800" b="0" i="0" u="none" strike="noStrike" dirty="0">
                <a:solidFill>
                  <a:srgbClr val="6B7280"/>
                </a:solidFill>
                <a:latin typeface="Noto Sans SC"/>
                <a:ea typeface="Noto Sans SC"/>
                <a:cs typeface="Noto Sans SC"/>
                <a:sym typeface="Noto Sans SC"/>
              </a:rPr>
              <a:t>。</a:t>
            </a:r>
          </a:p>
          <a:p>
            <a:pPr indent="0" algn="l">
              <a:lnSpc>
                <a:spcPct val="108333"/>
              </a:lnSpc>
            </a:pPr>
            <a:r>
              <a:rPr lang="en-US" sz="1800" b="1" i="0" u="none" strike="noStrike" dirty="0" err="1">
                <a:solidFill>
                  <a:srgbClr val="4B5563"/>
                </a:solidFill>
                <a:latin typeface="Noto Sans SC"/>
                <a:ea typeface="Noto Sans SC"/>
                <a:cs typeface="Noto Sans SC"/>
                <a:sym typeface="Noto Sans SC"/>
              </a:rPr>
              <a:t>已完成:</a:t>
            </a:r>
            <a:r>
              <a:rPr lang="en-US" sz="1800" b="0" i="0" u="none" strike="noStrike" dirty="0" err="1">
                <a:solidFill>
                  <a:srgbClr val="6B7280"/>
                </a:solidFill>
                <a:latin typeface="Noto Sans SC"/>
                <a:ea typeface="Noto Sans SC"/>
                <a:cs typeface="Noto Sans SC"/>
                <a:sym typeface="Noto Sans SC"/>
              </a:rPr>
              <a:t>搭建项目目录结构、服务入口、路由分组、配置加载及依赖注入</a:t>
            </a:r>
            <a:r>
              <a:rPr lang="en-US" sz="1800" b="0" i="0" u="none" strike="noStrike" dirty="0">
                <a:solidFill>
                  <a:srgbClr val="6B7280"/>
                </a:solidFill>
                <a:latin typeface="Noto Sans SC"/>
                <a:ea typeface="Noto Sans SC"/>
                <a:cs typeface="Noto Sans SC"/>
                <a:sym typeface="Noto Sans SC"/>
              </a:rPr>
              <a:t>。</a:t>
            </a:r>
          </a:p>
          <a:p>
            <a:pPr indent="0" algn="l">
              <a:lnSpc>
                <a:spcPct val="108333"/>
              </a:lnSpc>
            </a:pPr>
            <a:r>
              <a:rPr lang="en-US" sz="1800" b="1" i="0" u="none" strike="noStrike" dirty="0" err="1">
                <a:solidFill>
                  <a:srgbClr val="4B5563"/>
                </a:solidFill>
                <a:latin typeface="Noto Sans SC"/>
                <a:ea typeface="Noto Sans SC"/>
                <a:cs typeface="Noto Sans SC"/>
                <a:sym typeface="Noto Sans SC"/>
              </a:rPr>
              <a:t>价值:</a:t>
            </a:r>
            <a:r>
              <a:rPr lang="en-US" sz="1800" b="0" i="0" u="none" strike="noStrike" dirty="0" err="1">
                <a:solidFill>
                  <a:srgbClr val="6B7280"/>
                </a:solidFill>
                <a:latin typeface="Noto Sans SC"/>
                <a:ea typeface="Noto Sans SC"/>
                <a:cs typeface="Noto Sans SC"/>
                <a:sym typeface="Noto Sans SC"/>
              </a:rPr>
              <a:t>建立稳定、规范的工程化代码基座，可快速进入开发迭代</a:t>
            </a:r>
            <a:r>
              <a:rPr lang="en-US" sz="1800" b="0" i="0" u="none" strike="noStrike" dirty="0">
                <a:solidFill>
                  <a:srgbClr val="6B7280"/>
                </a:solidFill>
                <a:latin typeface="Noto Sans SC"/>
                <a:ea typeface="Noto Sans SC"/>
                <a:cs typeface="Noto Sans SC"/>
                <a:sym typeface="Noto Sans SC"/>
              </a:rPr>
              <a:t>。</a:t>
            </a:r>
          </a:p>
        </p:txBody>
      </p:sp>
      <p:sp>
        <p:nvSpPr>
          <p:cNvPr id="25" name="AutoShape 7">
            <a:extLst>
              <a:ext uri="{FF2B5EF4-FFF2-40B4-BE49-F238E27FC236}">
                <a16:creationId xmlns:a16="http://schemas.microsoft.com/office/drawing/2014/main" id="{D403745C-18BF-B553-B436-8AA1CBEBDFAF}"/>
              </a:ext>
            </a:extLst>
          </p:cNvPr>
          <p:cNvSpPr/>
          <p:nvPr/>
        </p:nvSpPr>
        <p:spPr>
          <a:xfrm>
            <a:off x="6223000" y="1236546"/>
            <a:ext cx="5207000" cy="2688308"/>
          </a:xfrm>
          <a:prstGeom prst="roundRect">
            <a:avLst>
              <a:gd name="adj" fmla="val 63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1800"/>
          </a:p>
        </p:txBody>
      </p:sp>
      <p:pic>
        <p:nvPicPr>
          <p:cNvPr id="26" name="Picture 8">
            <a:extLst>
              <a:ext uri="{FF2B5EF4-FFF2-40B4-BE49-F238E27FC236}">
                <a16:creationId xmlns:a16="http://schemas.microsoft.com/office/drawing/2014/main" id="{FC69574C-0A15-CD94-46A8-570DA2964FF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2083354"/>
            <a:ext cx="1143000" cy="1143000"/>
          </a:xfrm>
          <a:prstGeom prst="rect">
            <a:avLst/>
          </a:prstGeom>
        </p:spPr>
      </p:pic>
      <p:sp>
        <p:nvSpPr>
          <p:cNvPr id="27" name="AutoShape 9">
            <a:extLst>
              <a:ext uri="{FF2B5EF4-FFF2-40B4-BE49-F238E27FC236}">
                <a16:creationId xmlns:a16="http://schemas.microsoft.com/office/drawing/2014/main" id="{A9A0B038-6A3B-890D-8413-120E329B2A53}"/>
              </a:ext>
            </a:extLst>
          </p:cNvPr>
          <p:cNvSpPr/>
          <p:nvPr/>
        </p:nvSpPr>
        <p:spPr>
          <a:xfrm>
            <a:off x="7772400" y="1523449"/>
            <a:ext cx="3403600" cy="203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34D399"/>
                </a:solidFill>
                <a:latin typeface="Noto Sans SC"/>
                <a:ea typeface="Noto Sans SC"/>
                <a:cs typeface="Noto Sans SC"/>
                <a:sym typeface="Noto Sans SC"/>
              </a:rPr>
              <a:t>▍</a:t>
            </a:r>
            <a:r>
              <a:rPr lang="en-US" sz="1800" b="1" i="0" u="none" strike="noStrike" dirty="0" err="1">
                <a:solidFill>
                  <a:srgbClr val="1F2937"/>
                </a:solidFill>
                <a:latin typeface="Noto Sans SC"/>
                <a:ea typeface="Noto Sans SC"/>
                <a:cs typeface="Noto Sans SC"/>
                <a:sym typeface="Noto Sans SC"/>
              </a:rPr>
              <a:t>核心功能模块</a:t>
            </a:r>
            <a:endParaRPr lang="en-US" sz="1800" dirty="0"/>
          </a:p>
          <a:p>
            <a:pPr indent="0" algn="l">
              <a:lnSpc>
                <a:spcPct val="108333"/>
              </a:lnSpc>
              <a:spcBef>
                <a:spcPts val="800"/>
              </a:spcBef>
            </a:pPr>
            <a:r>
              <a:rPr lang="en-US" sz="1800" b="1" i="0" u="none" strike="noStrike" dirty="0" err="1">
                <a:solidFill>
                  <a:srgbClr val="4B5563"/>
                </a:solidFill>
                <a:latin typeface="Noto Sans SC"/>
                <a:ea typeface="Noto Sans SC"/>
                <a:cs typeface="Noto Sans SC"/>
                <a:sym typeface="Noto Sans SC"/>
              </a:rPr>
              <a:t>数据集管理:</a:t>
            </a:r>
            <a:r>
              <a:rPr lang="en-US" sz="1800" b="0" i="0" u="none" strike="noStrike" dirty="0" err="1">
                <a:solidFill>
                  <a:srgbClr val="6B7280"/>
                </a:solidFill>
                <a:latin typeface="Noto Sans SC"/>
                <a:ea typeface="Noto Sans SC"/>
                <a:cs typeface="Noto Sans SC"/>
                <a:sym typeface="Noto Sans SC"/>
              </a:rPr>
              <a:t>实现增删查改接口，支持数据集全生命周期管理</a:t>
            </a:r>
            <a:r>
              <a:rPr lang="en-US" sz="1800" b="0" i="0" u="none" strike="noStrike" dirty="0">
                <a:solidFill>
                  <a:srgbClr val="6B7280"/>
                </a:solidFill>
                <a:latin typeface="Noto Sans SC"/>
                <a:ea typeface="Noto Sans SC"/>
                <a:cs typeface="Noto Sans SC"/>
                <a:sym typeface="Noto Sans SC"/>
              </a:rPr>
              <a:t>。</a:t>
            </a:r>
          </a:p>
          <a:p>
            <a:pPr indent="0" algn="l">
              <a:lnSpc>
                <a:spcPct val="108333"/>
              </a:lnSpc>
            </a:pPr>
            <a:r>
              <a:rPr lang="en-US" sz="1800" b="1" i="0" u="none" strike="noStrike" dirty="0" err="1">
                <a:solidFill>
                  <a:srgbClr val="4B5563"/>
                </a:solidFill>
                <a:latin typeface="Noto Sans SC"/>
                <a:ea typeface="Noto Sans SC"/>
                <a:cs typeface="Noto Sans SC"/>
                <a:sym typeface="Noto Sans SC"/>
              </a:rPr>
              <a:t>扫描任务:</a:t>
            </a:r>
            <a:r>
              <a:rPr lang="en-US" sz="1800" b="0" i="0" u="none" strike="noStrike" dirty="0" err="1">
                <a:solidFill>
                  <a:srgbClr val="6B7280"/>
                </a:solidFill>
                <a:latin typeface="Noto Sans SC"/>
                <a:ea typeface="Noto Sans SC"/>
                <a:cs typeface="Noto Sans SC"/>
                <a:sym typeface="Noto Sans SC"/>
              </a:rPr>
              <a:t>提供启动扫描接口及状态、结果的实时查询</a:t>
            </a:r>
            <a:r>
              <a:rPr lang="en-US" sz="1800" b="0" i="0" u="none" strike="noStrike" dirty="0">
                <a:solidFill>
                  <a:srgbClr val="6B7280"/>
                </a:solidFill>
                <a:latin typeface="Noto Sans SC"/>
                <a:ea typeface="Noto Sans SC"/>
                <a:cs typeface="Noto Sans SC"/>
                <a:sym typeface="Noto Sans SC"/>
              </a:rPr>
              <a:t>。</a:t>
            </a:r>
          </a:p>
          <a:p>
            <a:pPr indent="0" algn="l">
              <a:lnSpc>
                <a:spcPct val="108333"/>
              </a:lnSpc>
            </a:pPr>
            <a:r>
              <a:rPr lang="en-US" sz="1800" b="1" i="0" u="none" strike="noStrike" dirty="0" err="1">
                <a:solidFill>
                  <a:srgbClr val="4B5563"/>
                </a:solidFill>
                <a:latin typeface="Noto Sans SC"/>
                <a:ea typeface="Noto Sans SC"/>
                <a:cs typeface="Noto Sans SC"/>
                <a:sym typeface="Noto Sans SC"/>
              </a:rPr>
              <a:t>质量报告:</a:t>
            </a:r>
            <a:r>
              <a:rPr lang="en-US" sz="1800" b="0" i="0" u="none" strike="noStrike" dirty="0" err="1">
                <a:solidFill>
                  <a:srgbClr val="6B7280"/>
                </a:solidFill>
                <a:latin typeface="Noto Sans SC"/>
                <a:ea typeface="Noto Sans SC"/>
                <a:cs typeface="Noto Sans SC"/>
                <a:sym typeface="Noto Sans SC"/>
              </a:rPr>
              <a:t>统一数据接口，返回问题统计、图表及样本数据</a:t>
            </a:r>
            <a:r>
              <a:rPr lang="en-US" sz="1800" b="0" i="0" u="none" strike="noStrike" dirty="0">
                <a:solidFill>
                  <a:srgbClr val="6B7280"/>
                </a:solidFill>
                <a:latin typeface="Noto Sans SC"/>
                <a:ea typeface="Noto Sans SC"/>
                <a:cs typeface="Noto Sans SC"/>
                <a:sym typeface="Noto Sans SC"/>
              </a:rPr>
              <a:t>。</a:t>
            </a:r>
          </a:p>
        </p:txBody>
      </p:sp>
      <p:sp>
        <p:nvSpPr>
          <p:cNvPr id="28" name="AutoShape 10">
            <a:extLst>
              <a:ext uri="{FF2B5EF4-FFF2-40B4-BE49-F238E27FC236}">
                <a16:creationId xmlns:a16="http://schemas.microsoft.com/office/drawing/2014/main" id="{5D1B039D-C8B6-E771-ECE0-B148E7318D38}"/>
              </a:ext>
            </a:extLst>
          </p:cNvPr>
          <p:cNvSpPr/>
          <p:nvPr/>
        </p:nvSpPr>
        <p:spPr>
          <a:xfrm>
            <a:off x="762000" y="4051853"/>
            <a:ext cx="5207000" cy="2577545"/>
          </a:xfrm>
          <a:prstGeom prst="roundRect">
            <a:avLst>
              <a:gd name="adj" fmla="val 63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p>
        </p:txBody>
      </p:sp>
      <p:pic>
        <p:nvPicPr>
          <p:cNvPr id="29" name="Picture 11">
            <a:extLst>
              <a:ext uri="{FF2B5EF4-FFF2-40B4-BE49-F238E27FC236}">
                <a16:creationId xmlns:a16="http://schemas.microsoft.com/office/drawing/2014/main" id="{1ABB76EB-3C14-796E-3565-056BC49004C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623354"/>
            <a:ext cx="1143000" cy="1143000"/>
          </a:xfrm>
          <a:prstGeom prst="rect">
            <a:avLst/>
          </a:prstGeom>
        </p:spPr>
      </p:pic>
      <p:sp>
        <p:nvSpPr>
          <p:cNvPr id="30" name="AutoShape 12">
            <a:extLst>
              <a:ext uri="{FF2B5EF4-FFF2-40B4-BE49-F238E27FC236}">
                <a16:creationId xmlns:a16="http://schemas.microsoft.com/office/drawing/2014/main" id="{906FE2DE-BE18-720D-5C17-48F63AF08DCD}"/>
              </a:ext>
            </a:extLst>
          </p:cNvPr>
          <p:cNvSpPr/>
          <p:nvPr/>
        </p:nvSpPr>
        <p:spPr>
          <a:xfrm>
            <a:off x="2305878" y="4331805"/>
            <a:ext cx="3498574" cy="203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34D399"/>
                </a:solidFill>
                <a:latin typeface="Noto Sans SC"/>
                <a:ea typeface="Noto Sans SC"/>
                <a:cs typeface="Noto Sans SC"/>
                <a:sym typeface="Noto Sans SC"/>
              </a:rPr>
              <a:t>▍</a:t>
            </a:r>
            <a:r>
              <a:rPr lang="en-US" sz="1800" b="1" i="0" u="none" strike="noStrike" dirty="0" err="1">
                <a:solidFill>
                  <a:srgbClr val="1F2937"/>
                </a:solidFill>
                <a:latin typeface="Noto Sans SC"/>
                <a:ea typeface="Noto Sans SC"/>
                <a:cs typeface="Noto Sans SC"/>
                <a:sym typeface="Noto Sans SC"/>
              </a:rPr>
              <a:t>前端演示页面</a:t>
            </a:r>
            <a:endParaRPr lang="en-US" sz="1800" dirty="0"/>
          </a:p>
          <a:p>
            <a:pPr indent="0" algn="l">
              <a:lnSpc>
                <a:spcPct val="116666"/>
              </a:lnSpc>
              <a:spcBef>
                <a:spcPts val="1200"/>
              </a:spcBef>
            </a:pPr>
            <a:r>
              <a:rPr lang="en-US" sz="1800" b="1" i="0" u="none" strike="noStrike" dirty="0" err="1">
                <a:solidFill>
                  <a:srgbClr val="4B5563"/>
                </a:solidFill>
                <a:latin typeface="Noto Sans SC"/>
                <a:ea typeface="Noto Sans SC"/>
                <a:cs typeface="Noto Sans SC"/>
                <a:sym typeface="Noto Sans SC"/>
              </a:rPr>
              <a:t>已完成:</a:t>
            </a:r>
            <a:r>
              <a:rPr lang="en-US" sz="1800" b="0" i="0" u="none" strike="noStrike" dirty="0" err="1">
                <a:solidFill>
                  <a:srgbClr val="6B7280"/>
                </a:solidFill>
                <a:latin typeface="Noto Sans SC"/>
                <a:ea typeface="Noto Sans SC"/>
                <a:cs typeface="Noto Sans SC"/>
                <a:sym typeface="Noto Sans SC"/>
              </a:rPr>
              <a:t>开发了单页Web应用，完整整合了数据集管理、扫描引擎配置、任务执行流程及最终的质量报告展示</a:t>
            </a:r>
            <a:r>
              <a:rPr lang="en-US" sz="1800" b="0" i="0" u="none" strike="noStrike" dirty="0">
                <a:solidFill>
                  <a:srgbClr val="6B7280"/>
                </a:solidFill>
                <a:latin typeface="Noto Sans SC"/>
                <a:ea typeface="Noto Sans SC"/>
                <a:cs typeface="Noto Sans SC"/>
                <a:sym typeface="Noto Sans SC"/>
              </a:rPr>
              <a:t>。</a:t>
            </a:r>
          </a:p>
          <a:p>
            <a:pPr indent="0" algn="l">
              <a:lnSpc>
                <a:spcPct val="116666"/>
              </a:lnSpc>
            </a:pPr>
            <a:r>
              <a:rPr lang="en-US" sz="1800" b="1" i="0" u="none" strike="noStrike" dirty="0" err="1">
                <a:solidFill>
                  <a:srgbClr val="4B5563"/>
                </a:solidFill>
                <a:latin typeface="Noto Sans SC"/>
                <a:ea typeface="Noto Sans SC"/>
                <a:cs typeface="Noto Sans SC"/>
                <a:sym typeface="Noto Sans SC"/>
              </a:rPr>
              <a:t>价值:</a:t>
            </a:r>
            <a:r>
              <a:rPr lang="en-US" sz="1800" b="0" i="0" u="none" strike="noStrike" dirty="0" err="1">
                <a:solidFill>
                  <a:srgbClr val="6B7280"/>
                </a:solidFill>
                <a:latin typeface="Noto Sans SC"/>
                <a:ea typeface="Noto Sans SC"/>
                <a:cs typeface="Noto Sans SC"/>
                <a:sym typeface="Noto Sans SC"/>
              </a:rPr>
              <a:t>实现全流程可视化交互，支持端到端功能演示与测试</a:t>
            </a:r>
            <a:r>
              <a:rPr lang="en-US" sz="1800" b="0" i="0" u="none" strike="noStrike" dirty="0">
                <a:solidFill>
                  <a:srgbClr val="6B7280"/>
                </a:solidFill>
                <a:latin typeface="Noto Sans SC"/>
                <a:ea typeface="Noto Sans SC"/>
                <a:cs typeface="Noto Sans SC"/>
                <a:sym typeface="Noto Sans SC"/>
              </a:rPr>
              <a:t>。</a:t>
            </a:r>
          </a:p>
        </p:txBody>
      </p:sp>
      <p:sp>
        <p:nvSpPr>
          <p:cNvPr id="31" name="AutoShape 13">
            <a:extLst>
              <a:ext uri="{FF2B5EF4-FFF2-40B4-BE49-F238E27FC236}">
                <a16:creationId xmlns:a16="http://schemas.microsoft.com/office/drawing/2014/main" id="{503300D8-5AAF-AF6A-77AF-7A6AEA42DFA0}"/>
              </a:ext>
            </a:extLst>
          </p:cNvPr>
          <p:cNvSpPr/>
          <p:nvPr/>
        </p:nvSpPr>
        <p:spPr>
          <a:xfrm>
            <a:off x="6223000" y="4051854"/>
            <a:ext cx="5207000" cy="2577546"/>
          </a:xfrm>
          <a:prstGeom prst="roundRect">
            <a:avLst>
              <a:gd name="adj" fmla="val 63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1800"/>
          </a:p>
        </p:txBody>
      </p:sp>
      <p:pic>
        <p:nvPicPr>
          <p:cNvPr id="32" name="Picture 14">
            <a:extLst>
              <a:ext uri="{FF2B5EF4-FFF2-40B4-BE49-F238E27FC236}">
                <a16:creationId xmlns:a16="http://schemas.microsoft.com/office/drawing/2014/main" id="{EFE753CC-655A-55FE-4041-79709B43FD53}"/>
              </a:ext>
            </a:extLst>
          </p:cNvPr>
          <p:cNvPicPr>
            <a:picLocks noChangeAspect="1"/>
          </p:cNvPicPr>
          <p:nvPr/>
        </p:nvPicPr>
        <p:blipFill>
          <a:blip r:embed="rId8"/>
          <a:srcRect/>
          <a:stretch>
            <a:fillRect/>
          </a:stretch>
        </p:blipFill>
        <p:spPr>
          <a:xfrm>
            <a:off x="6477000" y="4623354"/>
            <a:ext cx="1143000" cy="1143000"/>
          </a:xfrm>
          <a:prstGeom prst="rect">
            <a:avLst/>
          </a:prstGeom>
          <a:noFill/>
          <a:ln w="25400" cap="flat" cmpd="sng">
            <a:noFill/>
            <a:prstDash val="solid"/>
            <a:round/>
          </a:ln>
        </p:spPr>
      </p:pic>
      <p:sp>
        <p:nvSpPr>
          <p:cNvPr id="33" name="AutoShape 15">
            <a:extLst>
              <a:ext uri="{FF2B5EF4-FFF2-40B4-BE49-F238E27FC236}">
                <a16:creationId xmlns:a16="http://schemas.microsoft.com/office/drawing/2014/main" id="{6BDBACDD-D9DC-03E2-134A-59BBAD58AB66}"/>
              </a:ext>
            </a:extLst>
          </p:cNvPr>
          <p:cNvSpPr/>
          <p:nvPr/>
        </p:nvSpPr>
        <p:spPr>
          <a:xfrm>
            <a:off x="7772400" y="4242354"/>
            <a:ext cx="3727173" cy="203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34D399"/>
                </a:solidFill>
                <a:latin typeface="Noto Sans SC"/>
                <a:ea typeface="Noto Sans SC"/>
                <a:cs typeface="Noto Sans SC"/>
                <a:sym typeface="Noto Sans SC"/>
              </a:rPr>
              <a:t>▍</a:t>
            </a:r>
            <a:r>
              <a:rPr lang="en-US" sz="1800" b="1" i="0" u="none" strike="noStrike" dirty="0" err="1">
                <a:solidFill>
                  <a:srgbClr val="1F2937"/>
                </a:solidFill>
                <a:latin typeface="Noto Sans SC"/>
                <a:ea typeface="Noto Sans SC"/>
                <a:cs typeface="Noto Sans SC"/>
                <a:sym typeface="Noto Sans SC"/>
              </a:rPr>
              <a:t>算法服务预留</a:t>
            </a:r>
            <a:endParaRPr lang="en-US" sz="1800" dirty="0"/>
          </a:p>
          <a:p>
            <a:pPr indent="0" algn="l">
              <a:lnSpc>
                <a:spcPct val="116666"/>
              </a:lnSpc>
              <a:spcBef>
                <a:spcPts val="1200"/>
              </a:spcBef>
            </a:pPr>
            <a:r>
              <a:rPr lang="en-US" sz="1800" b="1" i="0" u="none" strike="noStrike" dirty="0" err="1">
                <a:solidFill>
                  <a:srgbClr val="4B5563"/>
                </a:solidFill>
                <a:latin typeface="Noto Sans SC"/>
                <a:ea typeface="Noto Sans SC"/>
                <a:cs typeface="Noto Sans SC"/>
                <a:sym typeface="Noto Sans SC"/>
              </a:rPr>
              <a:t>已完成:</a:t>
            </a:r>
            <a:r>
              <a:rPr lang="en-US" sz="1800" b="0" i="0" u="none" strike="noStrike" dirty="0" err="1">
                <a:solidFill>
                  <a:srgbClr val="6B7280"/>
                </a:solidFill>
                <a:latin typeface="Noto Sans SC"/>
                <a:ea typeface="Noto Sans SC"/>
                <a:cs typeface="Noto Sans SC"/>
                <a:sym typeface="Noto Sans SC"/>
              </a:rPr>
              <a:t>在后端代码层封装并预留了调用Python算法服务的HTTP</a:t>
            </a:r>
            <a:r>
              <a:rPr lang="en-US" sz="1800" b="0" i="0" u="none" strike="noStrike" dirty="0">
                <a:solidFill>
                  <a:srgbClr val="6B7280"/>
                </a:solidFill>
                <a:latin typeface="Noto Sans SC"/>
                <a:ea typeface="Noto Sans SC"/>
                <a:cs typeface="Noto Sans SC"/>
                <a:sym typeface="Noto Sans SC"/>
              </a:rPr>
              <a:t> </a:t>
            </a:r>
            <a:r>
              <a:rPr lang="en-US" sz="1800" b="0" i="0" u="none" strike="noStrike" dirty="0" err="1">
                <a:solidFill>
                  <a:srgbClr val="6B7280"/>
                </a:solidFill>
                <a:latin typeface="Noto Sans SC"/>
                <a:ea typeface="Noto Sans SC"/>
                <a:cs typeface="Noto Sans SC"/>
                <a:sym typeface="Noto Sans SC"/>
              </a:rPr>
              <a:t>Client，定义了清晰的交互协议</a:t>
            </a:r>
            <a:r>
              <a:rPr lang="en-US" sz="1800" b="0" i="0" u="none" strike="noStrike" dirty="0">
                <a:solidFill>
                  <a:srgbClr val="6B7280"/>
                </a:solidFill>
                <a:latin typeface="Noto Sans SC"/>
                <a:ea typeface="Noto Sans SC"/>
                <a:cs typeface="Noto Sans SC"/>
                <a:sym typeface="Noto Sans SC"/>
              </a:rPr>
              <a:t>。</a:t>
            </a:r>
          </a:p>
          <a:p>
            <a:pPr indent="0" algn="l">
              <a:lnSpc>
                <a:spcPct val="116666"/>
              </a:lnSpc>
            </a:pPr>
            <a:r>
              <a:rPr lang="en-US" sz="1800" b="1" i="0" u="none" strike="noStrike" dirty="0" err="1">
                <a:solidFill>
                  <a:srgbClr val="4B5563"/>
                </a:solidFill>
                <a:latin typeface="Noto Sans SC"/>
                <a:ea typeface="Noto Sans SC"/>
                <a:cs typeface="Noto Sans SC"/>
                <a:sym typeface="Noto Sans SC"/>
              </a:rPr>
              <a:t>价值:</a:t>
            </a:r>
            <a:r>
              <a:rPr lang="en-US" sz="1800" b="0" i="0" u="none" strike="noStrike" dirty="0" err="1">
                <a:solidFill>
                  <a:srgbClr val="6B7280"/>
                </a:solidFill>
                <a:latin typeface="Noto Sans SC"/>
                <a:ea typeface="Noto Sans SC"/>
                <a:cs typeface="Noto Sans SC"/>
                <a:sym typeface="Noto Sans SC"/>
              </a:rPr>
              <a:t>实现业务逻辑与算法模型的解耦，支持算法快速迭代与无缝接入</a:t>
            </a:r>
            <a:r>
              <a:rPr lang="en-US" sz="1800" b="0" i="0" u="none" strike="noStrike" dirty="0">
                <a:solidFill>
                  <a:srgbClr val="6B7280"/>
                </a:solidFill>
                <a:latin typeface="Noto Sans SC"/>
                <a:ea typeface="Noto Sans SC"/>
                <a:cs typeface="Noto Sans SC"/>
                <a:sym typeface="Noto Sans SC"/>
              </a:rPr>
              <a:t>。</a:t>
            </a:r>
          </a:p>
        </p:txBody>
      </p:sp>
    </p:spTree>
    <p:extLst>
      <p:ext uri="{BB962C8B-B14F-4D97-AF65-F5344CB8AC3E}">
        <p14:creationId xmlns:p14="http://schemas.microsoft.com/office/powerpoint/2010/main" val="4017107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p:bldP spid="25" grpId="0" animBg="1"/>
      <p:bldP spid="27" grpId="0"/>
      <p:bldP spid="28" grpId="0" animBg="1"/>
      <p:bldP spid="30" grpId="0"/>
      <p:bldP spid="31" grpId="0" animBg="1"/>
      <p:bldP spid="33"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6" name="AutoShape 4">
            <a:extLst>
              <a:ext uri="{FF2B5EF4-FFF2-40B4-BE49-F238E27FC236}">
                <a16:creationId xmlns:a16="http://schemas.microsoft.com/office/drawing/2014/main" id="{C406FAD2-2D15-A046-8713-1B47DD2C3AC3}"/>
              </a:ext>
            </a:extLst>
          </p:cNvPr>
          <p:cNvSpPr/>
          <p:nvPr/>
        </p:nvSpPr>
        <p:spPr>
          <a:xfrm>
            <a:off x="762000" y="1905000"/>
            <a:ext cx="10668000" cy="3562626"/>
          </a:xfrm>
          <a:prstGeom prst="roundRect">
            <a:avLst>
              <a:gd name="adj" fmla="val 10000"/>
            </a:avLst>
          </a:prstGeom>
          <a:solidFill>
            <a:srgbClr val="FFFFFF">
              <a:alpha val="92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j-ea"/>
              <a:ea typeface="+mj-ea"/>
            </a:endParaRPr>
          </a:p>
        </p:txBody>
      </p:sp>
      <p:sp>
        <p:nvSpPr>
          <p:cNvPr id="3" name="AutoShape 3"/>
          <p:cNvSpPr/>
          <p:nvPr/>
        </p:nvSpPr>
        <p:spPr>
          <a:xfrm>
            <a:off x="762000" y="635000"/>
            <a:ext cx="90678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dirty="0">
                <a:solidFill>
                  <a:srgbClr val="007AFF"/>
                </a:solidFill>
                <a:latin typeface="Noto Sans SC"/>
                <a:ea typeface="Noto Sans SC"/>
                <a:sym typeface="Noto Sans SC"/>
              </a:rPr>
              <a:t>三、当前项目进度</a:t>
            </a:r>
            <a:endParaRPr lang="en-US" sz="1100" dirty="0"/>
          </a:p>
        </p:txBody>
      </p:sp>
      <p:pic>
        <p:nvPicPr>
          <p:cNvPr id="20" name="图片 19">
            <a:extLst>
              <a:ext uri="{FF2B5EF4-FFF2-40B4-BE49-F238E27FC236}">
                <a16:creationId xmlns:a16="http://schemas.microsoft.com/office/drawing/2014/main" id="{EBCC392F-D4A1-C9C0-1146-DCC926FA543E}"/>
              </a:ext>
            </a:extLst>
          </p:cNvPr>
          <p:cNvPicPr>
            <a:picLocks noChangeAspect="1"/>
          </p:cNvPicPr>
          <p:nvPr/>
        </p:nvPicPr>
        <p:blipFill>
          <a:blip r:embed="rId4"/>
          <a:stretch>
            <a:fillRect/>
          </a:stretch>
        </p:blipFill>
        <p:spPr>
          <a:xfrm>
            <a:off x="8472588" y="-147566"/>
            <a:ext cx="3606733" cy="1384112"/>
          </a:xfrm>
          <a:prstGeom prst="rect">
            <a:avLst/>
          </a:prstGeom>
        </p:spPr>
      </p:pic>
      <p:sp>
        <p:nvSpPr>
          <p:cNvPr id="35" name="文本框 34">
            <a:extLst>
              <a:ext uri="{FF2B5EF4-FFF2-40B4-BE49-F238E27FC236}">
                <a16:creationId xmlns:a16="http://schemas.microsoft.com/office/drawing/2014/main" id="{04277BE9-20B5-57DD-BC0C-3CD1AFBA7468}"/>
              </a:ext>
            </a:extLst>
          </p:cNvPr>
          <p:cNvSpPr txBox="1"/>
          <p:nvPr/>
        </p:nvSpPr>
        <p:spPr>
          <a:xfrm>
            <a:off x="1707874" y="2367171"/>
            <a:ext cx="8776252" cy="2123658"/>
          </a:xfrm>
          <a:prstGeom prst="rect">
            <a:avLst/>
          </a:prstGeom>
          <a:noFill/>
        </p:spPr>
        <p:txBody>
          <a:bodyPr wrap="square">
            <a:spAutoFit/>
          </a:bodyPr>
          <a:lstStyle/>
          <a:p>
            <a:pPr algn="ctr"/>
            <a:r>
              <a:rPr lang="zh-CN" altLang="en-US" sz="3600" b="1" dirty="0">
                <a:solidFill>
                  <a:schemeClr val="accent5">
                    <a:lumMod val="75000"/>
                  </a:schemeClr>
                </a:solidFill>
                <a:latin typeface="+mj-ea"/>
                <a:ea typeface="+mj-ea"/>
              </a:rPr>
              <a:t>阶段成果</a:t>
            </a:r>
            <a:endParaRPr lang="en-US" altLang="zh-CN" sz="3600" b="1" dirty="0">
              <a:solidFill>
                <a:schemeClr val="accent5">
                  <a:lumMod val="75000"/>
                </a:schemeClr>
              </a:solidFill>
              <a:latin typeface="+mj-ea"/>
              <a:ea typeface="+mj-ea"/>
            </a:endParaRPr>
          </a:p>
          <a:p>
            <a:pPr algn="ctr"/>
            <a:endParaRPr lang="en-US" altLang="zh-CN" sz="2400" dirty="0">
              <a:latin typeface="+mj-ea"/>
              <a:ea typeface="+mj-ea"/>
            </a:endParaRPr>
          </a:p>
          <a:p>
            <a:pPr algn="ctr"/>
            <a:r>
              <a:rPr lang="zh-CN" altLang="en-US" sz="2400" dirty="0">
                <a:latin typeface="+mj-ea"/>
                <a:ea typeface="+mj-ea"/>
              </a:rPr>
              <a:t>目前已完成多模态数据集质量扫描系统的后端骨架、四类扫描引擎定义、统一扫描任务接口、质量报告结构和前端演示页面，并完成了算法论文调研与 Python 算法服务接入方案设计。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2B25CD0-34A0-3229-FE17-09390021F792}"/>
            </a:ext>
          </a:extLst>
        </p:cNvPr>
        <p:cNvGrpSpPr/>
        <p:nvPr/>
      </p:nvGrpSpPr>
      <p:grpSpPr>
        <a:xfrm>
          <a:off x="0" y="0"/>
          <a:ext cx="0" cy="0"/>
          <a:chOff x="0" y="0"/>
          <a:chExt cx="0" cy="0"/>
        </a:xfrm>
      </p:grpSpPr>
      <p:sp>
        <p:nvSpPr>
          <p:cNvPr id="3" name="AutoShape 3">
            <a:extLst>
              <a:ext uri="{FF2B5EF4-FFF2-40B4-BE49-F238E27FC236}">
                <a16:creationId xmlns:a16="http://schemas.microsoft.com/office/drawing/2014/main" id="{807C171B-5B5D-2B7C-18DE-F2C9A71ABE1B}"/>
              </a:ext>
            </a:extLst>
          </p:cNvPr>
          <p:cNvSpPr/>
          <p:nvPr/>
        </p:nvSpPr>
        <p:spPr>
          <a:xfrm>
            <a:off x="762000" y="635000"/>
            <a:ext cx="90678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dirty="0">
                <a:solidFill>
                  <a:srgbClr val="007AFF"/>
                </a:solidFill>
                <a:latin typeface="Noto Sans SC"/>
                <a:ea typeface="Noto Sans SC"/>
                <a:sym typeface="Noto Sans SC"/>
              </a:rPr>
              <a:t>三、当前项目进度：系统功能演示流程</a:t>
            </a:r>
            <a:endParaRPr lang="en-US" sz="1100" dirty="0"/>
          </a:p>
        </p:txBody>
      </p:sp>
      <p:pic>
        <p:nvPicPr>
          <p:cNvPr id="20" name="图片 19">
            <a:extLst>
              <a:ext uri="{FF2B5EF4-FFF2-40B4-BE49-F238E27FC236}">
                <a16:creationId xmlns:a16="http://schemas.microsoft.com/office/drawing/2014/main" id="{89B6E41A-C89B-EDE5-A6D5-15E0B5CCCE07}"/>
              </a:ext>
            </a:extLst>
          </p:cNvPr>
          <p:cNvPicPr>
            <a:picLocks noChangeAspect="1"/>
          </p:cNvPicPr>
          <p:nvPr/>
        </p:nvPicPr>
        <p:blipFill>
          <a:blip r:embed="rId4"/>
          <a:stretch>
            <a:fillRect/>
          </a:stretch>
        </p:blipFill>
        <p:spPr>
          <a:xfrm>
            <a:off x="8472588" y="-147566"/>
            <a:ext cx="3606733" cy="1384112"/>
          </a:xfrm>
          <a:prstGeom prst="rect">
            <a:avLst/>
          </a:prstGeom>
        </p:spPr>
      </p:pic>
      <p:sp>
        <p:nvSpPr>
          <p:cNvPr id="4" name="AutoShape 4">
            <a:extLst>
              <a:ext uri="{FF2B5EF4-FFF2-40B4-BE49-F238E27FC236}">
                <a16:creationId xmlns:a16="http://schemas.microsoft.com/office/drawing/2014/main" id="{6068146B-9CE5-3E99-A3C0-9D0298F65C24}"/>
              </a:ext>
            </a:extLst>
          </p:cNvPr>
          <p:cNvSpPr/>
          <p:nvPr/>
        </p:nvSpPr>
        <p:spPr>
          <a:xfrm>
            <a:off x="587830" y="1778000"/>
            <a:ext cx="2032000" cy="4318000"/>
          </a:xfrm>
          <a:prstGeom prst="roundRect">
            <a:avLst>
              <a:gd name="adj" fmla="val 75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a:extLst>
              <a:ext uri="{FF2B5EF4-FFF2-40B4-BE49-F238E27FC236}">
                <a16:creationId xmlns:a16="http://schemas.microsoft.com/office/drawing/2014/main" id="{88C55432-D28B-FC59-6AAC-C01024B1FE10}"/>
              </a:ext>
            </a:extLst>
          </p:cNvPr>
          <p:cNvSpPr/>
          <p:nvPr/>
        </p:nvSpPr>
        <p:spPr>
          <a:xfrm>
            <a:off x="714830" y="2032000"/>
            <a:ext cx="1778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34D399"/>
                </a:solidFill>
                <a:latin typeface="Noto Sans SC"/>
                <a:ea typeface="Noto Sans SC"/>
                <a:cs typeface="Noto Sans SC"/>
                <a:sym typeface="Noto Sans SC"/>
              </a:rPr>
              <a:t>01</a:t>
            </a:r>
            <a:endParaRPr lang="en-US" sz="1100"/>
          </a:p>
        </p:txBody>
      </p:sp>
      <p:pic>
        <p:nvPicPr>
          <p:cNvPr id="6" name="Picture 6">
            <a:extLst>
              <a:ext uri="{FF2B5EF4-FFF2-40B4-BE49-F238E27FC236}">
                <a16:creationId xmlns:a16="http://schemas.microsoft.com/office/drawing/2014/main" id="{A9A2679D-DE9C-E77B-33D8-2CE356BFC96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6330" y="2921000"/>
            <a:ext cx="609600" cy="609600"/>
          </a:xfrm>
          <a:prstGeom prst="rect">
            <a:avLst/>
          </a:prstGeom>
        </p:spPr>
      </p:pic>
      <p:sp>
        <p:nvSpPr>
          <p:cNvPr id="7" name="AutoShape 7">
            <a:extLst>
              <a:ext uri="{FF2B5EF4-FFF2-40B4-BE49-F238E27FC236}">
                <a16:creationId xmlns:a16="http://schemas.microsoft.com/office/drawing/2014/main" id="{FFB130D9-3BBD-E00C-BEBF-5D361F179876}"/>
              </a:ext>
            </a:extLst>
          </p:cNvPr>
          <p:cNvSpPr/>
          <p:nvPr/>
        </p:nvSpPr>
        <p:spPr>
          <a:xfrm>
            <a:off x="714830" y="3601281"/>
            <a:ext cx="177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dirty="0" err="1">
                <a:solidFill>
                  <a:srgbClr val="1F2937"/>
                </a:solidFill>
                <a:latin typeface="+mj-ea"/>
                <a:ea typeface="+mj-ea"/>
                <a:cs typeface="Noto Sans SC"/>
                <a:sym typeface="Noto Sans SC"/>
              </a:rPr>
              <a:t>打开系统首页</a:t>
            </a:r>
            <a:endParaRPr lang="en-US" sz="1800" dirty="0">
              <a:latin typeface="+mj-ea"/>
              <a:ea typeface="+mj-ea"/>
            </a:endParaRPr>
          </a:p>
        </p:txBody>
      </p:sp>
      <p:sp>
        <p:nvSpPr>
          <p:cNvPr id="8" name="AutoShape 8">
            <a:extLst>
              <a:ext uri="{FF2B5EF4-FFF2-40B4-BE49-F238E27FC236}">
                <a16:creationId xmlns:a16="http://schemas.microsoft.com/office/drawing/2014/main" id="{6E6B430E-920A-D419-B5BB-246653F75620}"/>
              </a:ext>
            </a:extLst>
          </p:cNvPr>
          <p:cNvSpPr/>
          <p:nvPr/>
        </p:nvSpPr>
        <p:spPr>
          <a:xfrm>
            <a:off x="714830" y="4363281"/>
            <a:ext cx="1778000" cy="1397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800" b="0" i="0" u="none" strike="noStrike" dirty="0" err="1">
                <a:solidFill>
                  <a:srgbClr val="4B5563"/>
                </a:solidFill>
                <a:latin typeface="+mj-ea"/>
                <a:ea typeface="+mj-ea"/>
                <a:cs typeface="Noto Sans SC"/>
                <a:sym typeface="Noto Sans SC"/>
              </a:rPr>
              <a:t>展示系统的四大功能区域：数据集管理、扫描引擎、扫描任务、质量报告</a:t>
            </a:r>
            <a:endParaRPr lang="en-US" sz="1800" dirty="0">
              <a:latin typeface="+mj-ea"/>
              <a:ea typeface="+mj-ea"/>
            </a:endParaRPr>
          </a:p>
        </p:txBody>
      </p:sp>
      <p:sp>
        <p:nvSpPr>
          <p:cNvPr id="9" name="AutoShape 9">
            <a:extLst>
              <a:ext uri="{FF2B5EF4-FFF2-40B4-BE49-F238E27FC236}">
                <a16:creationId xmlns:a16="http://schemas.microsoft.com/office/drawing/2014/main" id="{78491880-2A4A-0014-69C6-F0CD79DDB68B}"/>
              </a:ext>
            </a:extLst>
          </p:cNvPr>
          <p:cNvSpPr/>
          <p:nvPr/>
        </p:nvSpPr>
        <p:spPr>
          <a:xfrm>
            <a:off x="2873830" y="1778000"/>
            <a:ext cx="2032000" cy="4318000"/>
          </a:xfrm>
          <a:prstGeom prst="roundRect">
            <a:avLst>
              <a:gd name="adj" fmla="val 75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a:extLst>
              <a:ext uri="{FF2B5EF4-FFF2-40B4-BE49-F238E27FC236}">
                <a16:creationId xmlns:a16="http://schemas.microsoft.com/office/drawing/2014/main" id="{B3F763A9-C371-8CEF-EC35-A0D725722BC6}"/>
              </a:ext>
            </a:extLst>
          </p:cNvPr>
          <p:cNvSpPr/>
          <p:nvPr/>
        </p:nvSpPr>
        <p:spPr>
          <a:xfrm>
            <a:off x="3000830" y="2032000"/>
            <a:ext cx="1778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34D399"/>
                </a:solidFill>
                <a:latin typeface="Noto Sans SC"/>
                <a:ea typeface="Noto Sans SC"/>
                <a:cs typeface="Noto Sans SC"/>
                <a:sym typeface="Noto Sans SC"/>
              </a:rPr>
              <a:t>02</a:t>
            </a:r>
            <a:endParaRPr lang="en-US" sz="1100"/>
          </a:p>
        </p:txBody>
      </p:sp>
      <p:pic>
        <p:nvPicPr>
          <p:cNvPr id="11" name="Picture 11">
            <a:extLst>
              <a:ext uri="{FF2B5EF4-FFF2-40B4-BE49-F238E27FC236}">
                <a16:creationId xmlns:a16="http://schemas.microsoft.com/office/drawing/2014/main" id="{2B420B05-6F77-00CA-079B-356CBAC5D38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72330" y="2921000"/>
            <a:ext cx="609600" cy="609600"/>
          </a:xfrm>
          <a:prstGeom prst="rect">
            <a:avLst/>
          </a:prstGeom>
        </p:spPr>
      </p:pic>
      <p:sp>
        <p:nvSpPr>
          <p:cNvPr id="12" name="AutoShape 12">
            <a:extLst>
              <a:ext uri="{FF2B5EF4-FFF2-40B4-BE49-F238E27FC236}">
                <a16:creationId xmlns:a16="http://schemas.microsoft.com/office/drawing/2014/main" id="{658A9F05-E1A3-DD10-746B-2B8F3B17A893}"/>
              </a:ext>
            </a:extLst>
          </p:cNvPr>
          <p:cNvSpPr/>
          <p:nvPr/>
        </p:nvSpPr>
        <p:spPr>
          <a:xfrm>
            <a:off x="3000830" y="3601281"/>
            <a:ext cx="177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1F2937"/>
                </a:solidFill>
                <a:latin typeface="+mj-ea"/>
                <a:ea typeface="+mj-ea"/>
                <a:cs typeface="Noto Sans SC"/>
                <a:sym typeface="Noto Sans SC"/>
              </a:rPr>
              <a:t>创建示例数据集</a:t>
            </a:r>
            <a:endParaRPr lang="en-US" sz="1800">
              <a:latin typeface="+mj-ea"/>
              <a:ea typeface="+mj-ea"/>
            </a:endParaRPr>
          </a:p>
        </p:txBody>
      </p:sp>
      <p:sp>
        <p:nvSpPr>
          <p:cNvPr id="13" name="AutoShape 13">
            <a:extLst>
              <a:ext uri="{FF2B5EF4-FFF2-40B4-BE49-F238E27FC236}">
                <a16:creationId xmlns:a16="http://schemas.microsoft.com/office/drawing/2014/main" id="{1C4619B4-74EE-B06D-8B3D-B4250DB908EB}"/>
              </a:ext>
            </a:extLst>
          </p:cNvPr>
          <p:cNvSpPr/>
          <p:nvPr/>
        </p:nvSpPr>
        <p:spPr>
          <a:xfrm>
            <a:off x="3000830" y="4363281"/>
            <a:ext cx="1778000" cy="1397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800" b="0" i="0" u="none" strike="noStrike" dirty="0" err="1">
                <a:solidFill>
                  <a:srgbClr val="4B5563"/>
                </a:solidFill>
                <a:latin typeface="+mj-ea"/>
                <a:ea typeface="+mj-ea"/>
                <a:cs typeface="Noto Sans SC"/>
                <a:sym typeface="Noto Sans SC"/>
              </a:rPr>
              <a:t>演示如何在平台上登记新的数据集，强调以统一的数据对象来组织后续的所有扫描任务</a:t>
            </a:r>
            <a:r>
              <a:rPr lang="en-US" sz="1800" b="0" i="0" u="none" strike="noStrike" dirty="0">
                <a:solidFill>
                  <a:srgbClr val="4B5563"/>
                </a:solidFill>
                <a:latin typeface="+mj-ea"/>
                <a:ea typeface="+mj-ea"/>
                <a:cs typeface="Noto Sans SC"/>
                <a:sym typeface="Noto Sans SC"/>
              </a:rPr>
              <a:t>。</a:t>
            </a:r>
            <a:endParaRPr lang="en-US" sz="1800" dirty="0">
              <a:latin typeface="+mj-ea"/>
              <a:ea typeface="+mj-ea"/>
            </a:endParaRPr>
          </a:p>
        </p:txBody>
      </p:sp>
      <p:sp>
        <p:nvSpPr>
          <p:cNvPr id="14" name="AutoShape 14">
            <a:extLst>
              <a:ext uri="{FF2B5EF4-FFF2-40B4-BE49-F238E27FC236}">
                <a16:creationId xmlns:a16="http://schemas.microsoft.com/office/drawing/2014/main" id="{3D6C15AA-239B-DC94-86AC-A603E8F86442}"/>
              </a:ext>
            </a:extLst>
          </p:cNvPr>
          <p:cNvSpPr/>
          <p:nvPr/>
        </p:nvSpPr>
        <p:spPr>
          <a:xfrm>
            <a:off x="5159830" y="1778000"/>
            <a:ext cx="2032000" cy="4318000"/>
          </a:xfrm>
          <a:prstGeom prst="roundRect">
            <a:avLst>
              <a:gd name="adj" fmla="val 75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a:extLst>
              <a:ext uri="{FF2B5EF4-FFF2-40B4-BE49-F238E27FC236}">
                <a16:creationId xmlns:a16="http://schemas.microsoft.com/office/drawing/2014/main" id="{169D3B88-334B-7EF3-9F92-985B5796B347}"/>
              </a:ext>
            </a:extLst>
          </p:cNvPr>
          <p:cNvSpPr/>
          <p:nvPr/>
        </p:nvSpPr>
        <p:spPr>
          <a:xfrm>
            <a:off x="5286830" y="2032000"/>
            <a:ext cx="1778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34D399"/>
                </a:solidFill>
                <a:latin typeface="Noto Sans SC"/>
                <a:ea typeface="Noto Sans SC"/>
                <a:cs typeface="Noto Sans SC"/>
                <a:sym typeface="Noto Sans SC"/>
              </a:rPr>
              <a:t>03</a:t>
            </a:r>
            <a:endParaRPr lang="en-US" sz="1100"/>
          </a:p>
        </p:txBody>
      </p:sp>
      <p:pic>
        <p:nvPicPr>
          <p:cNvPr id="16" name="Picture 16">
            <a:extLst>
              <a:ext uri="{FF2B5EF4-FFF2-40B4-BE49-F238E27FC236}">
                <a16:creationId xmlns:a16="http://schemas.microsoft.com/office/drawing/2014/main" id="{E0631FCD-FAD8-F6DD-3215-15AA5780CF5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58330" y="2921000"/>
            <a:ext cx="609600" cy="609600"/>
          </a:xfrm>
          <a:prstGeom prst="rect">
            <a:avLst/>
          </a:prstGeom>
        </p:spPr>
      </p:pic>
      <p:sp>
        <p:nvSpPr>
          <p:cNvPr id="17" name="AutoShape 17">
            <a:extLst>
              <a:ext uri="{FF2B5EF4-FFF2-40B4-BE49-F238E27FC236}">
                <a16:creationId xmlns:a16="http://schemas.microsoft.com/office/drawing/2014/main" id="{F7984C55-211C-DBE7-2951-BEA899B10A1F}"/>
              </a:ext>
            </a:extLst>
          </p:cNvPr>
          <p:cNvSpPr/>
          <p:nvPr/>
        </p:nvSpPr>
        <p:spPr>
          <a:xfrm>
            <a:off x="5286830" y="3601281"/>
            <a:ext cx="177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1F2937"/>
                </a:solidFill>
                <a:latin typeface="+mj-ea"/>
                <a:ea typeface="+mj-ea"/>
                <a:cs typeface="Noto Sans SC"/>
                <a:sym typeface="Noto Sans SC"/>
              </a:rPr>
              <a:t>选择扫描引擎</a:t>
            </a:r>
            <a:endParaRPr lang="en-US" sz="1800">
              <a:latin typeface="+mj-ea"/>
              <a:ea typeface="+mj-ea"/>
            </a:endParaRPr>
          </a:p>
        </p:txBody>
      </p:sp>
      <p:sp>
        <p:nvSpPr>
          <p:cNvPr id="18" name="AutoShape 18">
            <a:extLst>
              <a:ext uri="{FF2B5EF4-FFF2-40B4-BE49-F238E27FC236}">
                <a16:creationId xmlns:a16="http://schemas.microsoft.com/office/drawing/2014/main" id="{790533B0-F596-6197-FD4C-1D5B64D9BFBC}"/>
              </a:ext>
            </a:extLst>
          </p:cNvPr>
          <p:cNvSpPr/>
          <p:nvPr/>
        </p:nvSpPr>
        <p:spPr>
          <a:xfrm>
            <a:off x="5286830" y="4363281"/>
            <a:ext cx="1778000" cy="1397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800" b="0" i="0" u="none" strike="noStrike" dirty="0" err="1">
                <a:solidFill>
                  <a:srgbClr val="4B5563"/>
                </a:solidFill>
                <a:latin typeface="+mj-ea"/>
                <a:ea typeface="+mj-ea"/>
                <a:cs typeface="Noto Sans SC"/>
                <a:sym typeface="Noto Sans SC"/>
              </a:rPr>
              <a:t>展示并解释已定义的四类扫描引擎：分布偏差、脏数据、对抗脆弱性、物理保真度</a:t>
            </a:r>
            <a:endParaRPr lang="en-US" sz="1800" dirty="0">
              <a:latin typeface="+mj-ea"/>
              <a:ea typeface="+mj-ea"/>
            </a:endParaRPr>
          </a:p>
        </p:txBody>
      </p:sp>
      <p:sp>
        <p:nvSpPr>
          <p:cNvPr id="19" name="AutoShape 19">
            <a:extLst>
              <a:ext uri="{FF2B5EF4-FFF2-40B4-BE49-F238E27FC236}">
                <a16:creationId xmlns:a16="http://schemas.microsoft.com/office/drawing/2014/main" id="{979F5770-F249-7160-7D03-A174E0A5FF20}"/>
              </a:ext>
            </a:extLst>
          </p:cNvPr>
          <p:cNvSpPr/>
          <p:nvPr/>
        </p:nvSpPr>
        <p:spPr>
          <a:xfrm>
            <a:off x="7445830" y="1778000"/>
            <a:ext cx="2032000" cy="4318000"/>
          </a:xfrm>
          <a:prstGeom prst="roundRect">
            <a:avLst>
              <a:gd name="adj" fmla="val 75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1" name="AutoShape 20">
            <a:extLst>
              <a:ext uri="{FF2B5EF4-FFF2-40B4-BE49-F238E27FC236}">
                <a16:creationId xmlns:a16="http://schemas.microsoft.com/office/drawing/2014/main" id="{039AEF10-6092-94BF-7CA7-5FE3B5616BA2}"/>
              </a:ext>
            </a:extLst>
          </p:cNvPr>
          <p:cNvSpPr/>
          <p:nvPr/>
        </p:nvSpPr>
        <p:spPr>
          <a:xfrm>
            <a:off x="7572830" y="2032000"/>
            <a:ext cx="1778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34D399"/>
                </a:solidFill>
                <a:latin typeface="Noto Sans SC"/>
                <a:ea typeface="Noto Sans SC"/>
                <a:cs typeface="Noto Sans SC"/>
                <a:sym typeface="Noto Sans SC"/>
              </a:rPr>
              <a:t>04</a:t>
            </a:r>
            <a:endParaRPr lang="en-US" sz="1100"/>
          </a:p>
        </p:txBody>
      </p:sp>
      <p:pic>
        <p:nvPicPr>
          <p:cNvPr id="34" name="Picture 21">
            <a:extLst>
              <a:ext uri="{FF2B5EF4-FFF2-40B4-BE49-F238E27FC236}">
                <a16:creationId xmlns:a16="http://schemas.microsoft.com/office/drawing/2014/main" id="{75C5AE83-5A31-BC05-CBF8-108AFF33B9A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44330" y="2921000"/>
            <a:ext cx="609600" cy="609600"/>
          </a:xfrm>
          <a:prstGeom prst="rect">
            <a:avLst/>
          </a:prstGeom>
        </p:spPr>
      </p:pic>
      <p:sp>
        <p:nvSpPr>
          <p:cNvPr id="35" name="AutoShape 22">
            <a:extLst>
              <a:ext uri="{FF2B5EF4-FFF2-40B4-BE49-F238E27FC236}">
                <a16:creationId xmlns:a16="http://schemas.microsoft.com/office/drawing/2014/main" id="{044D2E05-B9A2-1D1D-0FFB-CA258A46B6BE}"/>
              </a:ext>
            </a:extLst>
          </p:cNvPr>
          <p:cNvSpPr/>
          <p:nvPr/>
        </p:nvSpPr>
        <p:spPr>
          <a:xfrm>
            <a:off x="7572830" y="3601281"/>
            <a:ext cx="177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dirty="0" err="1">
                <a:solidFill>
                  <a:srgbClr val="1F2937"/>
                </a:solidFill>
                <a:latin typeface="+mj-ea"/>
                <a:ea typeface="+mj-ea"/>
                <a:cs typeface="Noto Sans SC"/>
                <a:sym typeface="Noto Sans SC"/>
              </a:rPr>
              <a:t>启动扫描任务</a:t>
            </a:r>
            <a:endParaRPr lang="en-US" sz="1800" dirty="0">
              <a:latin typeface="+mj-ea"/>
              <a:ea typeface="+mj-ea"/>
            </a:endParaRPr>
          </a:p>
        </p:txBody>
      </p:sp>
      <p:sp>
        <p:nvSpPr>
          <p:cNvPr id="36" name="AutoShape 23">
            <a:extLst>
              <a:ext uri="{FF2B5EF4-FFF2-40B4-BE49-F238E27FC236}">
                <a16:creationId xmlns:a16="http://schemas.microsoft.com/office/drawing/2014/main" id="{F1FCB0CA-C758-978C-A176-8A40D43D0306}"/>
              </a:ext>
            </a:extLst>
          </p:cNvPr>
          <p:cNvSpPr/>
          <p:nvPr/>
        </p:nvSpPr>
        <p:spPr>
          <a:xfrm>
            <a:off x="7572830" y="4363281"/>
            <a:ext cx="1778000" cy="1397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800" b="0" i="0" u="none" strike="noStrike">
                <a:solidFill>
                  <a:srgbClr val="4B5563"/>
                </a:solidFill>
                <a:latin typeface="+mj-ea"/>
                <a:ea typeface="+mj-ea"/>
                <a:cs typeface="Noto Sans SC"/>
                <a:sym typeface="Noto Sans SC"/>
              </a:rPr>
              <a:t>选择一个或多个扫描引擎，启动扫描任务，并完整演示任务状态的变化过程。</a:t>
            </a:r>
            <a:endParaRPr lang="en-US" sz="1800">
              <a:latin typeface="+mj-ea"/>
              <a:ea typeface="+mj-ea"/>
            </a:endParaRPr>
          </a:p>
        </p:txBody>
      </p:sp>
      <p:sp>
        <p:nvSpPr>
          <p:cNvPr id="37" name="AutoShape 24">
            <a:extLst>
              <a:ext uri="{FF2B5EF4-FFF2-40B4-BE49-F238E27FC236}">
                <a16:creationId xmlns:a16="http://schemas.microsoft.com/office/drawing/2014/main" id="{6862BB64-5CE0-F63C-91CD-26CB70B8BE91}"/>
              </a:ext>
            </a:extLst>
          </p:cNvPr>
          <p:cNvSpPr/>
          <p:nvPr/>
        </p:nvSpPr>
        <p:spPr>
          <a:xfrm>
            <a:off x="9782630" y="1778000"/>
            <a:ext cx="2032000" cy="4318000"/>
          </a:xfrm>
          <a:prstGeom prst="roundRect">
            <a:avLst>
              <a:gd name="adj" fmla="val 75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38" name="AutoShape 25">
            <a:extLst>
              <a:ext uri="{FF2B5EF4-FFF2-40B4-BE49-F238E27FC236}">
                <a16:creationId xmlns:a16="http://schemas.microsoft.com/office/drawing/2014/main" id="{75589C7A-646A-B9CA-B4D0-8C90AD94B80B}"/>
              </a:ext>
            </a:extLst>
          </p:cNvPr>
          <p:cNvSpPr/>
          <p:nvPr/>
        </p:nvSpPr>
        <p:spPr>
          <a:xfrm>
            <a:off x="9909630" y="2032000"/>
            <a:ext cx="1778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34D399"/>
                </a:solidFill>
                <a:latin typeface="Noto Sans SC"/>
                <a:ea typeface="Noto Sans SC"/>
                <a:cs typeface="Noto Sans SC"/>
                <a:sym typeface="Noto Sans SC"/>
              </a:rPr>
              <a:t>05</a:t>
            </a:r>
            <a:endParaRPr lang="en-US" sz="1100"/>
          </a:p>
        </p:txBody>
      </p:sp>
      <p:pic>
        <p:nvPicPr>
          <p:cNvPr id="39" name="Picture 26">
            <a:extLst>
              <a:ext uri="{FF2B5EF4-FFF2-40B4-BE49-F238E27FC236}">
                <a16:creationId xmlns:a16="http://schemas.microsoft.com/office/drawing/2014/main" id="{CBE632F8-82A1-5CDB-53EB-5E8B443F765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481130" y="2921000"/>
            <a:ext cx="609600" cy="609600"/>
          </a:xfrm>
          <a:prstGeom prst="rect">
            <a:avLst/>
          </a:prstGeom>
        </p:spPr>
      </p:pic>
      <p:sp>
        <p:nvSpPr>
          <p:cNvPr id="40" name="AutoShape 27">
            <a:extLst>
              <a:ext uri="{FF2B5EF4-FFF2-40B4-BE49-F238E27FC236}">
                <a16:creationId xmlns:a16="http://schemas.microsoft.com/office/drawing/2014/main" id="{225E7C2A-15E0-6D9E-51E9-889A37D33619}"/>
              </a:ext>
            </a:extLst>
          </p:cNvPr>
          <p:cNvSpPr/>
          <p:nvPr/>
        </p:nvSpPr>
        <p:spPr>
          <a:xfrm>
            <a:off x="9909630" y="3601281"/>
            <a:ext cx="177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1F2937"/>
                </a:solidFill>
                <a:latin typeface="+mj-ea"/>
                <a:ea typeface="+mj-ea"/>
                <a:cs typeface="Noto Sans SC"/>
                <a:sym typeface="Noto Sans SC"/>
              </a:rPr>
              <a:t>查看质量报告</a:t>
            </a:r>
            <a:endParaRPr lang="en-US" sz="1800">
              <a:latin typeface="+mj-ea"/>
              <a:ea typeface="+mj-ea"/>
            </a:endParaRPr>
          </a:p>
        </p:txBody>
      </p:sp>
      <p:sp>
        <p:nvSpPr>
          <p:cNvPr id="41" name="AutoShape 28">
            <a:extLst>
              <a:ext uri="{FF2B5EF4-FFF2-40B4-BE49-F238E27FC236}">
                <a16:creationId xmlns:a16="http://schemas.microsoft.com/office/drawing/2014/main" id="{5DA3069E-6A6E-B23B-DB90-CE97890F5F0C}"/>
              </a:ext>
            </a:extLst>
          </p:cNvPr>
          <p:cNvSpPr/>
          <p:nvPr/>
        </p:nvSpPr>
        <p:spPr>
          <a:xfrm>
            <a:off x="9909630" y="4363281"/>
            <a:ext cx="1778000" cy="1397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800" b="0" i="0" u="none" strike="noStrike" dirty="0" err="1">
                <a:solidFill>
                  <a:srgbClr val="4B5563"/>
                </a:solidFill>
                <a:latin typeface="+mj-ea"/>
                <a:ea typeface="+mj-ea"/>
                <a:cs typeface="Noto Sans SC"/>
                <a:sym typeface="Noto Sans SC"/>
              </a:rPr>
              <a:t>任务完成后展示结构化报告</a:t>
            </a:r>
            <a:r>
              <a:rPr lang="en-US" sz="1800" b="0" i="0" u="none" strike="noStrike" dirty="0">
                <a:solidFill>
                  <a:srgbClr val="4B5563"/>
                </a:solidFill>
                <a:latin typeface="+mj-ea"/>
                <a:ea typeface="+mj-ea"/>
                <a:cs typeface="Noto Sans SC"/>
                <a:sym typeface="Noto Sans SC"/>
              </a:rPr>
              <a:t>。</a:t>
            </a:r>
            <a:endParaRPr lang="en-US" sz="1800" b="0" i="0" u="none" strike="noStrike" dirty="0">
              <a:solidFill>
                <a:srgbClr val="1F2329"/>
              </a:solidFill>
              <a:latin typeface="+mj-ea"/>
              <a:ea typeface="+mj-ea"/>
              <a:cs typeface="Noto Sans SC"/>
              <a:sym typeface="Noto Sans SC"/>
            </a:endParaRPr>
          </a:p>
          <a:p>
            <a:pPr indent="0" algn="ctr">
              <a:lnSpc>
                <a:spcPct val="108333"/>
              </a:lnSpc>
              <a:defRPr/>
            </a:pPr>
            <a:r>
              <a:rPr lang="en-US" altLang="zh-CN" sz="1600" b="1" dirty="0" err="1">
                <a:solidFill>
                  <a:srgbClr val="DC2626"/>
                </a:solidFill>
                <a:latin typeface="+mj-ea"/>
                <a:ea typeface="+mj-ea"/>
                <a:cs typeface="Noto Sans SC"/>
                <a:sym typeface="Noto Sans SC"/>
              </a:rPr>
              <a:t>注：当前为占位符数据，但结构已确定，接入真实算法后前端无需重构</a:t>
            </a:r>
            <a:r>
              <a:rPr lang="en-US" altLang="zh-CN" sz="1600" b="1" dirty="0">
                <a:solidFill>
                  <a:srgbClr val="DC2626"/>
                </a:solidFill>
                <a:latin typeface="+mj-ea"/>
                <a:ea typeface="+mj-ea"/>
                <a:cs typeface="Noto Sans SC"/>
                <a:sym typeface="Noto Sans SC"/>
              </a:rPr>
              <a:t>。</a:t>
            </a:r>
            <a:endParaRPr lang="en-US" sz="1600" dirty="0">
              <a:latin typeface="+mj-ea"/>
              <a:ea typeface="+mj-ea"/>
            </a:endParaRPr>
          </a:p>
        </p:txBody>
      </p:sp>
    </p:spTree>
    <p:extLst>
      <p:ext uri="{BB962C8B-B14F-4D97-AF65-F5344CB8AC3E}">
        <p14:creationId xmlns:p14="http://schemas.microsoft.com/office/powerpoint/2010/main" val="469621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7" grpId="0"/>
      <p:bldP spid="8" grpId="0"/>
      <p:bldP spid="9" grpId="0" animBg="1"/>
      <p:bldP spid="10" grpId="0"/>
      <p:bldP spid="12" grpId="0"/>
      <p:bldP spid="13" grpId="0"/>
      <p:bldP spid="14" grpId="0" animBg="1"/>
      <p:bldP spid="15" grpId="0"/>
      <p:bldP spid="17" grpId="0"/>
      <p:bldP spid="18" grpId="0"/>
      <p:bldP spid="19" grpId="0" animBg="1"/>
      <p:bldP spid="21" grpId="0"/>
      <p:bldP spid="35" grpId="0"/>
      <p:bldP spid="36" grpId="0"/>
      <p:bldP spid="37" grpId="0" animBg="1"/>
      <p:bldP spid="38" grpId="0"/>
      <p:bldP spid="40" grpId="0"/>
      <p:bldP spid="41"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E56DBEB-8FBF-E0D3-EC7C-868B3F80FA59}"/>
            </a:ext>
          </a:extLst>
        </p:cNvPr>
        <p:cNvGrpSpPr/>
        <p:nvPr/>
      </p:nvGrpSpPr>
      <p:grpSpPr>
        <a:xfrm>
          <a:off x="0" y="0"/>
          <a:ext cx="0" cy="0"/>
          <a:chOff x="0" y="0"/>
          <a:chExt cx="0" cy="0"/>
        </a:xfrm>
      </p:grpSpPr>
      <p:sp>
        <p:nvSpPr>
          <p:cNvPr id="21" name="AutoShape 8">
            <a:extLst>
              <a:ext uri="{FF2B5EF4-FFF2-40B4-BE49-F238E27FC236}">
                <a16:creationId xmlns:a16="http://schemas.microsoft.com/office/drawing/2014/main" id="{E4AAF89C-B7DA-5E07-DB03-6B4DF064DE11}"/>
              </a:ext>
            </a:extLst>
          </p:cNvPr>
          <p:cNvSpPr/>
          <p:nvPr/>
        </p:nvSpPr>
        <p:spPr>
          <a:xfrm>
            <a:off x="6408524" y="1550505"/>
            <a:ext cx="5160621" cy="4672495"/>
          </a:xfrm>
          <a:prstGeom prst="roundRect">
            <a:avLst>
              <a:gd name="adj" fmla="val 4000"/>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j-ea"/>
              <a:ea typeface="+mj-ea"/>
            </a:endParaRPr>
          </a:p>
        </p:txBody>
      </p:sp>
      <p:sp>
        <p:nvSpPr>
          <p:cNvPr id="2" name="AutoShape 4">
            <a:extLst>
              <a:ext uri="{FF2B5EF4-FFF2-40B4-BE49-F238E27FC236}">
                <a16:creationId xmlns:a16="http://schemas.microsoft.com/office/drawing/2014/main" id="{D0C023B3-4AF6-FD72-EF94-5C6FDAB14F1F}"/>
              </a:ext>
            </a:extLst>
          </p:cNvPr>
          <p:cNvSpPr/>
          <p:nvPr/>
        </p:nvSpPr>
        <p:spPr>
          <a:xfrm>
            <a:off x="533401" y="1550505"/>
            <a:ext cx="5160621" cy="4672495"/>
          </a:xfrm>
          <a:prstGeom prst="roundRect">
            <a:avLst>
              <a:gd name="adj" fmla="val 4000"/>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dirty="0">
              <a:latin typeface="+mj-ea"/>
              <a:ea typeface="+mj-ea"/>
            </a:endParaRPr>
          </a:p>
        </p:txBody>
      </p:sp>
      <p:sp>
        <p:nvSpPr>
          <p:cNvPr id="3" name="AutoShape 3">
            <a:extLst>
              <a:ext uri="{FF2B5EF4-FFF2-40B4-BE49-F238E27FC236}">
                <a16:creationId xmlns:a16="http://schemas.microsoft.com/office/drawing/2014/main" id="{DB35F1D8-B6C5-9E07-D626-8A5A5D39DEFF}"/>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dirty="0">
                <a:solidFill>
                  <a:srgbClr val="007AFF"/>
                </a:solidFill>
                <a:latin typeface="Noto Sans SC"/>
                <a:ea typeface="Noto Sans SC"/>
                <a:cs typeface="Noto Sans SC"/>
                <a:sym typeface="Noto Sans SC"/>
              </a:rPr>
              <a:t>四、</a:t>
            </a:r>
            <a:r>
              <a:rPr lang="en-US" sz="3200" b="1" i="0" u="none" strike="noStrike" dirty="0" err="1">
                <a:solidFill>
                  <a:srgbClr val="007AFF"/>
                </a:solidFill>
                <a:latin typeface="Noto Sans SC"/>
                <a:ea typeface="Noto Sans SC"/>
                <a:cs typeface="Noto Sans SC"/>
                <a:sym typeface="Noto Sans SC"/>
              </a:rPr>
              <a:t>四大引擎</a:t>
            </a:r>
            <a:r>
              <a:rPr lang="zh-CN" altLang="en-US" sz="3200" b="1" dirty="0">
                <a:solidFill>
                  <a:srgbClr val="007AFF"/>
                </a:solidFill>
                <a:latin typeface="Noto Sans SC"/>
                <a:ea typeface="Noto Sans SC"/>
                <a:cs typeface="Noto Sans SC"/>
                <a:sym typeface="Noto Sans SC"/>
              </a:rPr>
              <a:t>算法线路</a:t>
            </a:r>
            <a:endParaRPr lang="en-US" sz="1100" dirty="0"/>
          </a:p>
        </p:txBody>
      </p:sp>
      <p:sp>
        <p:nvSpPr>
          <p:cNvPr id="6" name="AutoShape 6">
            <a:extLst>
              <a:ext uri="{FF2B5EF4-FFF2-40B4-BE49-F238E27FC236}">
                <a16:creationId xmlns:a16="http://schemas.microsoft.com/office/drawing/2014/main" id="{E9656CFB-7D42-4B63-D464-B41F38058DEE}"/>
              </a:ext>
            </a:extLst>
          </p:cNvPr>
          <p:cNvSpPr/>
          <p:nvPr/>
        </p:nvSpPr>
        <p:spPr>
          <a:xfrm>
            <a:off x="1231902" y="1721012"/>
            <a:ext cx="3354404" cy="51584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dirty="0" err="1">
                <a:solidFill>
                  <a:srgbClr val="111827"/>
                </a:solidFill>
                <a:latin typeface="Noto Sans SC"/>
                <a:ea typeface="Noto Sans SC"/>
                <a:cs typeface="Noto Sans SC"/>
                <a:sym typeface="Noto Sans SC"/>
              </a:rPr>
              <a:t>分布偏差扫描</a:t>
            </a:r>
            <a:endParaRPr lang="en-US" sz="2800" dirty="0"/>
          </a:p>
        </p:txBody>
      </p:sp>
      <p:sp>
        <p:nvSpPr>
          <p:cNvPr id="7" name="AutoShape 7">
            <a:extLst>
              <a:ext uri="{FF2B5EF4-FFF2-40B4-BE49-F238E27FC236}">
                <a16:creationId xmlns:a16="http://schemas.microsoft.com/office/drawing/2014/main" id="{3CA8FD62-2B9B-9132-B40B-B317F2196BE6}"/>
              </a:ext>
            </a:extLst>
          </p:cNvPr>
          <p:cNvSpPr/>
          <p:nvPr/>
        </p:nvSpPr>
        <p:spPr>
          <a:xfrm>
            <a:off x="954157" y="2357094"/>
            <a:ext cx="4412973" cy="3715715"/>
          </a:xfrm>
          <a:prstGeom prst="rect">
            <a:avLst/>
          </a:prstGeom>
          <a:noFill/>
          <a:ln w="12700" cap="flat" cmpd="sng">
            <a:noFill/>
            <a:prstDash val="solid"/>
            <a:round/>
          </a:ln>
        </p:spPr>
        <p:txBody>
          <a:bodyPr vert="horz" wrap="square" lIns="0" tIns="0" rIns="0" bIns="0" rtlCol="0" anchor="ctr" anchorCtr="0"/>
          <a:lstStyle/>
          <a:p>
            <a:pPr indent="0" algn="l">
              <a:lnSpc>
                <a:spcPct val="100000"/>
              </a:lnSpc>
              <a:spcBef>
                <a:spcPts val="400"/>
              </a:spcBef>
              <a:defRPr/>
            </a:pPr>
            <a:r>
              <a:rPr lang="en-US" sz="2000" b="1" i="0" u="none" strike="noStrike" dirty="0">
                <a:solidFill>
                  <a:srgbClr val="007AFF"/>
                </a:solidFill>
                <a:latin typeface="+mj-ea"/>
                <a:ea typeface="+mj-ea"/>
                <a:cs typeface="Noto Sans SC"/>
                <a:sym typeface="Noto Sans SC"/>
              </a:rPr>
              <a:t>🎯 </a:t>
            </a:r>
            <a:r>
              <a:rPr lang="en-US" sz="2000" b="1" i="0" u="none" strike="noStrike" dirty="0" err="1">
                <a:solidFill>
                  <a:srgbClr val="007AFF"/>
                </a:solidFill>
                <a:latin typeface="+mj-ea"/>
                <a:ea typeface="+mj-ea"/>
                <a:cs typeface="Noto Sans SC"/>
                <a:sym typeface="Noto Sans SC"/>
              </a:rPr>
              <a:t>检测目标</a:t>
            </a:r>
            <a:endParaRPr lang="en-US" sz="2000" dirty="0">
              <a:latin typeface="+mj-ea"/>
              <a:ea typeface="+mj-ea"/>
            </a:endParaRPr>
          </a:p>
          <a:p>
            <a:pPr>
              <a:spcBef>
                <a:spcPts val="200"/>
              </a:spcBef>
            </a:pPr>
            <a:r>
              <a:rPr lang="en-US" sz="2000" b="0" i="0" u="none" strike="noStrike"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类别比例、长尾覆盖、特征分布漂移、图像颜色</a:t>
            </a:r>
            <a:r>
              <a:rPr lang="en-US" altLang="zh-CN" sz="2000"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亮度分布、文本词频</a:t>
            </a:r>
            <a:r>
              <a:rPr lang="en-US" altLang="zh-CN" sz="2000"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主题分布、时序采样频率。</a:t>
            </a:r>
            <a:endParaRPr lang="en-US" sz="2000" b="0" i="0" u="none" strike="noStrike" dirty="0">
              <a:solidFill>
                <a:srgbClr val="374151"/>
              </a:solidFill>
              <a:latin typeface="+mj-ea"/>
              <a:ea typeface="+mj-ea"/>
              <a:cs typeface="Noto Sans SC"/>
              <a:sym typeface="Noto Sans SC"/>
            </a:endParaRPr>
          </a:p>
          <a:p>
            <a:pPr indent="0" algn="l">
              <a:lnSpc>
                <a:spcPct val="100000"/>
              </a:lnSpc>
              <a:spcBef>
                <a:spcPts val="800"/>
              </a:spcBef>
            </a:pPr>
            <a:r>
              <a:rPr lang="en-US" sz="2000" b="1" i="0" u="none" strike="noStrike" dirty="0">
                <a:solidFill>
                  <a:srgbClr val="007AFF"/>
                </a:solidFill>
                <a:latin typeface="+mj-ea"/>
                <a:ea typeface="+mj-ea"/>
                <a:cs typeface="Noto Sans SC"/>
                <a:sym typeface="Noto Sans SC"/>
              </a:rPr>
              <a:t>🧠 </a:t>
            </a:r>
            <a:r>
              <a:rPr lang="en-US" sz="2000" b="1" i="0" u="none" strike="noStrike" dirty="0" err="1">
                <a:solidFill>
                  <a:srgbClr val="007AFF"/>
                </a:solidFill>
                <a:latin typeface="+mj-ea"/>
                <a:ea typeface="+mj-ea"/>
                <a:cs typeface="Noto Sans SC"/>
                <a:sym typeface="Noto Sans SC"/>
              </a:rPr>
              <a:t>核心算法</a:t>
            </a:r>
            <a:endParaRPr lang="en-US" sz="2000" b="1" i="0" u="none" strike="noStrike" dirty="0">
              <a:solidFill>
                <a:srgbClr val="007AFF"/>
              </a:solidFill>
              <a:latin typeface="+mj-ea"/>
              <a:ea typeface="+mj-ea"/>
              <a:cs typeface="Noto Sans SC"/>
              <a:sym typeface="Noto Sans SC"/>
            </a:endParaRPr>
          </a:p>
          <a:p>
            <a:pPr>
              <a:spcBef>
                <a:spcPts val="200"/>
              </a:spcBef>
            </a:pPr>
            <a:r>
              <a:rPr lang="en-US" sz="2000" b="0" i="0" u="none" strike="noStrike"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频次统计、</a:t>
            </a:r>
            <a:r>
              <a:rPr lang="en-US" altLang="zh-CN" sz="2000" dirty="0">
                <a:solidFill>
                  <a:srgbClr val="374151"/>
                </a:solidFill>
                <a:latin typeface="+mj-ea"/>
                <a:ea typeface="+mj-ea"/>
                <a:cs typeface="Noto Sans SC"/>
                <a:sym typeface="Noto Sans SC"/>
              </a:rPr>
              <a:t>KL/JS</a:t>
            </a:r>
            <a:r>
              <a:rPr lang="zh-CN" altLang="en-US" sz="2000" dirty="0">
                <a:solidFill>
                  <a:srgbClr val="374151"/>
                </a:solidFill>
                <a:latin typeface="+mj-ea"/>
                <a:ea typeface="+mj-ea"/>
                <a:cs typeface="Noto Sans SC"/>
                <a:sym typeface="Noto Sans SC"/>
              </a:rPr>
              <a:t>散度、</a:t>
            </a:r>
            <a:r>
              <a:rPr lang="en-US" altLang="zh-CN" sz="2000" dirty="0">
                <a:solidFill>
                  <a:srgbClr val="374151"/>
                </a:solidFill>
                <a:latin typeface="+mj-ea"/>
                <a:ea typeface="+mj-ea"/>
                <a:cs typeface="Noto Sans SC"/>
                <a:sym typeface="Noto Sans SC"/>
              </a:rPr>
              <a:t>PSI</a:t>
            </a:r>
            <a:r>
              <a:rPr lang="zh-CN" altLang="en-US" sz="2000" dirty="0">
                <a:solidFill>
                  <a:srgbClr val="374151"/>
                </a:solidFill>
                <a:latin typeface="+mj-ea"/>
                <a:ea typeface="+mj-ea"/>
                <a:cs typeface="Noto Sans SC"/>
                <a:sym typeface="Noto Sans SC"/>
              </a:rPr>
              <a:t>、</a:t>
            </a:r>
            <a:r>
              <a:rPr lang="en-US" altLang="zh-CN" sz="2000" dirty="0">
                <a:solidFill>
                  <a:srgbClr val="374151"/>
                </a:solidFill>
                <a:latin typeface="+mj-ea"/>
                <a:ea typeface="+mj-ea"/>
                <a:cs typeface="Noto Sans SC"/>
                <a:sym typeface="Noto Sans SC"/>
              </a:rPr>
              <a:t>MMD</a:t>
            </a:r>
            <a:r>
              <a:rPr lang="zh-CN" altLang="en-US" sz="2000" dirty="0">
                <a:solidFill>
                  <a:srgbClr val="374151"/>
                </a:solidFill>
                <a:latin typeface="+mj-ea"/>
                <a:ea typeface="+mj-ea"/>
                <a:cs typeface="Noto Sans SC"/>
                <a:sym typeface="Noto Sans SC"/>
              </a:rPr>
              <a:t>、概念覆盖统计、可视化分布图。 </a:t>
            </a:r>
            <a:endParaRPr lang="en-US" altLang="zh-CN" sz="2000" dirty="0">
              <a:solidFill>
                <a:srgbClr val="374151"/>
              </a:solidFill>
              <a:latin typeface="+mj-ea"/>
              <a:ea typeface="+mj-ea"/>
              <a:cs typeface="Noto Sans SC"/>
              <a:sym typeface="Noto Sans SC"/>
            </a:endParaRPr>
          </a:p>
          <a:p>
            <a:pPr>
              <a:spcBef>
                <a:spcPts val="200"/>
              </a:spcBef>
            </a:pPr>
            <a:r>
              <a:rPr lang="en-US" sz="2000" b="1" i="0" u="none" strike="noStrike" dirty="0">
                <a:solidFill>
                  <a:srgbClr val="007AFF"/>
                </a:solidFill>
                <a:latin typeface="+mj-ea"/>
                <a:ea typeface="+mj-ea"/>
                <a:cs typeface="Noto Sans SC"/>
                <a:sym typeface="Noto Sans SC"/>
              </a:rPr>
              <a:t>📊 </a:t>
            </a:r>
            <a:r>
              <a:rPr lang="en-US" sz="2000" b="1" i="0" u="none" strike="noStrike" dirty="0" err="1">
                <a:solidFill>
                  <a:srgbClr val="007AFF"/>
                </a:solidFill>
                <a:latin typeface="+mj-ea"/>
                <a:ea typeface="+mj-ea"/>
                <a:cs typeface="Noto Sans SC"/>
                <a:sym typeface="Noto Sans SC"/>
              </a:rPr>
              <a:t>关键输出</a:t>
            </a:r>
            <a:endParaRPr lang="en-US" sz="2000" b="1" i="0" u="none" strike="noStrike" dirty="0">
              <a:solidFill>
                <a:srgbClr val="007AFF"/>
              </a:solidFill>
              <a:latin typeface="+mj-ea"/>
              <a:ea typeface="+mj-ea"/>
              <a:cs typeface="Noto Sans SC"/>
              <a:sym typeface="Noto Sans SC"/>
            </a:endParaRPr>
          </a:p>
          <a:p>
            <a:pPr>
              <a:spcBef>
                <a:spcPts val="200"/>
              </a:spcBef>
            </a:pPr>
            <a:r>
              <a:rPr lang="en-US" sz="2000" b="0" i="0" u="none" strike="noStrike"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类别</a:t>
            </a:r>
            <a:r>
              <a:rPr lang="en-US" altLang="zh-CN" sz="2000"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特征分布统计、偏差问题列表、分布图表数据。</a:t>
            </a:r>
            <a:endParaRPr lang="en-US" sz="2000" b="0" i="0" u="none" strike="noStrike" dirty="0">
              <a:solidFill>
                <a:srgbClr val="374151"/>
              </a:solidFill>
              <a:latin typeface="+mj-ea"/>
              <a:ea typeface="+mj-ea"/>
              <a:cs typeface="Noto Sans SC"/>
              <a:sym typeface="Noto Sans SC"/>
            </a:endParaRPr>
          </a:p>
        </p:txBody>
      </p:sp>
      <p:sp>
        <p:nvSpPr>
          <p:cNvPr id="10" name="AutoShape 10">
            <a:extLst>
              <a:ext uri="{FF2B5EF4-FFF2-40B4-BE49-F238E27FC236}">
                <a16:creationId xmlns:a16="http://schemas.microsoft.com/office/drawing/2014/main" id="{919EEE44-389F-398D-EC8B-87E5178781F2}"/>
              </a:ext>
            </a:extLst>
          </p:cNvPr>
          <p:cNvSpPr/>
          <p:nvPr/>
        </p:nvSpPr>
        <p:spPr>
          <a:xfrm>
            <a:off x="7295866" y="1721012"/>
            <a:ext cx="3354404" cy="51584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dirty="0" err="1">
                <a:solidFill>
                  <a:srgbClr val="111827"/>
                </a:solidFill>
                <a:latin typeface="Noto Sans SC"/>
                <a:ea typeface="Noto Sans SC"/>
                <a:cs typeface="Noto Sans SC"/>
                <a:sym typeface="Noto Sans SC"/>
              </a:rPr>
              <a:t>脏数据扫描</a:t>
            </a:r>
            <a:endParaRPr lang="en-US" sz="2800" dirty="0"/>
          </a:p>
        </p:txBody>
      </p:sp>
      <p:sp>
        <p:nvSpPr>
          <p:cNvPr id="11" name="AutoShape 11">
            <a:extLst>
              <a:ext uri="{FF2B5EF4-FFF2-40B4-BE49-F238E27FC236}">
                <a16:creationId xmlns:a16="http://schemas.microsoft.com/office/drawing/2014/main" id="{73FA2F48-4726-B3E5-A786-B8E6100172F4}"/>
              </a:ext>
            </a:extLst>
          </p:cNvPr>
          <p:cNvSpPr/>
          <p:nvPr/>
        </p:nvSpPr>
        <p:spPr>
          <a:xfrm>
            <a:off x="6768548" y="2631504"/>
            <a:ext cx="4469295" cy="3341914"/>
          </a:xfrm>
          <a:prstGeom prst="rect">
            <a:avLst/>
          </a:prstGeom>
          <a:noFill/>
          <a:ln w="12700" cap="flat" cmpd="sng">
            <a:noFill/>
            <a:prstDash val="solid"/>
            <a:round/>
          </a:ln>
        </p:spPr>
        <p:txBody>
          <a:bodyPr vert="horz" wrap="square" lIns="0" tIns="0" rIns="0" bIns="0" rtlCol="0" anchor="ctr" anchorCtr="0"/>
          <a:lstStyle/>
          <a:p>
            <a:pPr indent="0" algn="l">
              <a:lnSpc>
                <a:spcPct val="100000"/>
              </a:lnSpc>
              <a:spcBef>
                <a:spcPts val="400"/>
              </a:spcBef>
              <a:defRPr/>
            </a:pPr>
            <a:r>
              <a:rPr lang="en-US" sz="2000" b="1" i="0" u="none" strike="noStrike" dirty="0">
                <a:solidFill>
                  <a:srgbClr val="007AFF"/>
                </a:solidFill>
                <a:latin typeface="+mj-ea"/>
                <a:ea typeface="+mj-ea"/>
                <a:cs typeface="Noto Sans SC"/>
                <a:sym typeface="Noto Sans SC"/>
              </a:rPr>
              <a:t>🎯 </a:t>
            </a:r>
            <a:r>
              <a:rPr lang="en-US" sz="2000" b="1" i="0" u="none" strike="noStrike" dirty="0" err="1">
                <a:solidFill>
                  <a:srgbClr val="007AFF"/>
                </a:solidFill>
                <a:latin typeface="+mj-ea"/>
                <a:ea typeface="+mj-ea"/>
                <a:cs typeface="Noto Sans SC"/>
                <a:sym typeface="Noto Sans SC"/>
              </a:rPr>
              <a:t>检测目标</a:t>
            </a:r>
            <a:endParaRPr lang="en-US" sz="2000" dirty="0">
              <a:latin typeface="+mj-ea"/>
              <a:ea typeface="+mj-ea"/>
            </a:endParaRPr>
          </a:p>
          <a:p>
            <a:pPr>
              <a:spcBef>
                <a:spcPts val="200"/>
              </a:spcBef>
            </a:pPr>
            <a:r>
              <a:rPr lang="en-US" sz="2000" b="0" i="0" u="none" strike="noStrike"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缺失值、重复值、格式错误、乱码、标签错误、图像模糊</a:t>
            </a:r>
            <a:r>
              <a:rPr lang="en-US" altLang="zh-CN" sz="2000"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过曝</a:t>
            </a:r>
            <a:r>
              <a:rPr lang="en-US" altLang="zh-CN" sz="2000"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截断、字段范围异常。</a:t>
            </a:r>
            <a:endParaRPr lang="en-US" sz="2000" b="0" i="0" u="none" strike="noStrike" dirty="0">
              <a:solidFill>
                <a:srgbClr val="374151"/>
              </a:solidFill>
              <a:latin typeface="+mj-ea"/>
              <a:ea typeface="+mj-ea"/>
              <a:cs typeface="Noto Sans SC"/>
              <a:sym typeface="Noto Sans SC"/>
            </a:endParaRPr>
          </a:p>
          <a:p>
            <a:pPr indent="0" algn="l">
              <a:lnSpc>
                <a:spcPct val="100000"/>
              </a:lnSpc>
              <a:spcBef>
                <a:spcPts val="800"/>
              </a:spcBef>
            </a:pPr>
            <a:r>
              <a:rPr lang="en-US" sz="2000" b="1" i="0" u="none" strike="noStrike" dirty="0">
                <a:solidFill>
                  <a:srgbClr val="007AFF"/>
                </a:solidFill>
                <a:latin typeface="+mj-ea"/>
                <a:ea typeface="+mj-ea"/>
                <a:cs typeface="Noto Sans SC"/>
                <a:sym typeface="Noto Sans SC"/>
              </a:rPr>
              <a:t>🧠 </a:t>
            </a:r>
            <a:r>
              <a:rPr lang="en-US" sz="2000" b="1" i="0" u="none" strike="noStrike" dirty="0" err="1">
                <a:solidFill>
                  <a:srgbClr val="007AFF"/>
                </a:solidFill>
                <a:latin typeface="+mj-ea"/>
                <a:ea typeface="+mj-ea"/>
                <a:cs typeface="Noto Sans SC"/>
                <a:sym typeface="Noto Sans SC"/>
              </a:rPr>
              <a:t>核心算法</a:t>
            </a:r>
            <a:endParaRPr lang="en-US" sz="2000" b="1" i="0" u="none" strike="noStrike" dirty="0">
              <a:solidFill>
                <a:srgbClr val="007AFF"/>
              </a:solidFill>
              <a:latin typeface="+mj-ea"/>
              <a:ea typeface="+mj-ea"/>
              <a:cs typeface="Noto Sans SC"/>
              <a:sym typeface="Noto Sans SC"/>
            </a:endParaRPr>
          </a:p>
          <a:p>
            <a:pPr>
              <a:spcBef>
                <a:spcPts val="200"/>
              </a:spcBef>
            </a:pPr>
            <a:r>
              <a:rPr lang="en-US" sz="2000" b="0" i="0" u="none" strike="noStrike" dirty="0">
                <a:solidFill>
                  <a:srgbClr val="374151"/>
                </a:solidFill>
                <a:latin typeface="+mj-ea"/>
                <a:ea typeface="+mj-ea"/>
                <a:cs typeface="Noto Sans SC"/>
                <a:sym typeface="Noto Sans SC"/>
              </a:rPr>
              <a:t>• </a:t>
            </a:r>
            <a:r>
              <a:rPr lang="en-US" altLang="zh-CN" sz="2000" dirty="0">
                <a:solidFill>
                  <a:srgbClr val="374151"/>
                </a:solidFill>
                <a:latin typeface="+mj-ea"/>
                <a:ea typeface="+mj-ea"/>
                <a:cs typeface="Noto Sans SC"/>
                <a:sym typeface="Noto Sans SC"/>
              </a:rPr>
              <a:t>Schema</a:t>
            </a:r>
            <a:r>
              <a:rPr lang="zh-CN" altLang="en-US" sz="2000" dirty="0">
                <a:solidFill>
                  <a:srgbClr val="374151"/>
                </a:solidFill>
                <a:latin typeface="+mj-ea"/>
                <a:ea typeface="+mj-ea"/>
                <a:cs typeface="Noto Sans SC"/>
                <a:sym typeface="Noto Sans SC"/>
              </a:rPr>
              <a:t>校验、规则约束、重复检测、置信学习、基础无参考图像质量评估。</a:t>
            </a:r>
            <a:endParaRPr lang="en-US" sz="2000" b="0" i="0" u="none" strike="noStrike" dirty="0">
              <a:solidFill>
                <a:srgbClr val="374151"/>
              </a:solidFill>
              <a:latin typeface="+mj-ea"/>
              <a:ea typeface="+mj-ea"/>
              <a:cs typeface="Noto Sans SC"/>
              <a:sym typeface="Noto Sans SC"/>
            </a:endParaRPr>
          </a:p>
          <a:p>
            <a:pPr indent="0" algn="l">
              <a:lnSpc>
                <a:spcPct val="100000"/>
              </a:lnSpc>
              <a:spcBef>
                <a:spcPts val="800"/>
              </a:spcBef>
            </a:pPr>
            <a:r>
              <a:rPr lang="en-US" sz="2000" b="1" i="0" u="none" strike="noStrike" dirty="0">
                <a:solidFill>
                  <a:srgbClr val="007AFF"/>
                </a:solidFill>
                <a:latin typeface="+mj-ea"/>
                <a:ea typeface="+mj-ea"/>
                <a:cs typeface="Noto Sans SC"/>
                <a:sym typeface="Noto Sans SC"/>
              </a:rPr>
              <a:t>📊 </a:t>
            </a:r>
            <a:r>
              <a:rPr lang="en-US" sz="2000" b="1" i="0" u="none" strike="noStrike" dirty="0" err="1">
                <a:solidFill>
                  <a:srgbClr val="007AFF"/>
                </a:solidFill>
                <a:latin typeface="+mj-ea"/>
                <a:ea typeface="+mj-ea"/>
                <a:cs typeface="Noto Sans SC"/>
                <a:sym typeface="Noto Sans SC"/>
              </a:rPr>
              <a:t>关键输出</a:t>
            </a:r>
            <a:endParaRPr lang="en-US" sz="2000" b="1" i="0" u="none" strike="noStrike" dirty="0">
              <a:solidFill>
                <a:srgbClr val="007AFF"/>
              </a:solidFill>
              <a:latin typeface="+mj-ea"/>
              <a:ea typeface="+mj-ea"/>
              <a:cs typeface="Noto Sans SC"/>
              <a:sym typeface="Noto Sans SC"/>
            </a:endParaRPr>
          </a:p>
          <a:p>
            <a:pPr>
              <a:spcBef>
                <a:spcPts val="200"/>
              </a:spcBef>
            </a:pPr>
            <a:r>
              <a:rPr lang="en-US" sz="2000" b="0" i="0" u="none" strike="noStrike"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异常统计、疑似标签错误样本、基础质量问题样本列表。</a:t>
            </a:r>
            <a:endParaRPr lang="en-US" sz="2000" b="0" i="0" u="none" strike="noStrike" dirty="0">
              <a:solidFill>
                <a:srgbClr val="374151"/>
              </a:solidFill>
              <a:latin typeface="+mj-ea"/>
              <a:ea typeface="+mj-ea"/>
              <a:cs typeface="Noto Sans SC"/>
              <a:sym typeface="Noto Sans SC"/>
            </a:endParaRPr>
          </a:p>
        </p:txBody>
      </p:sp>
      <p:pic>
        <p:nvPicPr>
          <p:cNvPr id="20" name="图片 19">
            <a:extLst>
              <a:ext uri="{FF2B5EF4-FFF2-40B4-BE49-F238E27FC236}">
                <a16:creationId xmlns:a16="http://schemas.microsoft.com/office/drawing/2014/main" id="{223AFE3F-D4ED-ADC6-8414-DB272CCD96EF}"/>
              </a:ext>
            </a:extLst>
          </p:cNvPr>
          <p:cNvPicPr>
            <a:picLocks noChangeAspect="1"/>
          </p:cNvPicPr>
          <p:nvPr/>
        </p:nvPicPr>
        <p:blipFill>
          <a:blip r:embed="rId4"/>
          <a:stretch>
            <a:fillRect/>
          </a:stretch>
        </p:blipFill>
        <p:spPr>
          <a:xfrm>
            <a:off x="8472588" y="-147566"/>
            <a:ext cx="3606733" cy="1384112"/>
          </a:xfrm>
          <a:prstGeom prst="rect">
            <a:avLst/>
          </a:prstGeom>
        </p:spPr>
      </p:pic>
    </p:spTree>
    <p:extLst>
      <p:ext uri="{BB962C8B-B14F-4D97-AF65-F5344CB8AC3E}">
        <p14:creationId xmlns:p14="http://schemas.microsoft.com/office/powerpoint/2010/main" val="615502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 grpId="0" animBg="1"/>
      <p:bldP spid="6" grpId="0"/>
      <p:bldP spid="7" grpId="0"/>
      <p:bldP spid="10"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CA38438-EF9C-BACB-A8E9-9B312A9B6B7D}"/>
            </a:ext>
          </a:extLst>
        </p:cNvPr>
        <p:cNvGrpSpPr/>
        <p:nvPr/>
      </p:nvGrpSpPr>
      <p:grpSpPr>
        <a:xfrm>
          <a:off x="0" y="0"/>
          <a:ext cx="0" cy="0"/>
          <a:chOff x="0" y="0"/>
          <a:chExt cx="0" cy="0"/>
        </a:xfrm>
      </p:grpSpPr>
      <p:sp>
        <p:nvSpPr>
          <p:cNvPr id="3" name="AutoShape 3">
            <a:extLst>
              <a:ext uri="{FF2B5EF4-FFF2-40B4-BE49-F238E27FC236}">
                <a16:creationId xmlns:a16="http://schemas.microsoft.com/office/drawing/2014/main" id="{3495C75F-F25D-F9AE-998C-66A316117E08}"/>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dirty="0">
                <a:solidFill>
                  <a:srgbClr val="007AFF"/>
                </a:solidFill>
                <a:latin typeface="Noto Sans SC"/>
                <a:ea typeface="Noto Sans SC"/>
                <a:cs typeface="Noto Sans SC"/>
                <a:sym typeface="Noto Sans SC"/>
              </a:rPr>
              <a:t>四、</a:t>
            </a:r>
            <a:r>
              <a:rPr lang="en-US" sz="3200" b="1" i="0" u="none" strike="noStrike" dirty="0" err="1">
                <a:solidFill>
                  <a:srgbClr val="007AFF"/>
                </a:solidFill>
                <a:latin typeface="Noto Sans SC"/>
                <a:ea typeface="Noto Sans SC"/>
                <a:cs typeface="Noto Sans SC"/>
                <a:sym typeface="Noto Sans SC"/>
              </a:rPr>
              <a:t>四大引擎</a:t>
            </a:r>
            <a:r>
              <a:rPr lang="zh-CN" altLang="en-US" sz="3200" b="1" dirty="0">
                <a:solidFill>
                  <a:srgbClr val="007AFF"/>
                </a:solidFill>
                <a:latin typeface="Noto Sans SC"/>
                <a:ea typeface="Noto Sans SC"/>
                <a:cs typeface="Noto Sans SC"/>
                <a:sym typeface="Noto Sans SC"/>
              </a:rPr>
              <a:t>算法线路</a:t>
            </a:r>
            <a:endParaRPr lang="en-US" sz="1100" dirty="0"/>
          </a:p>
        </p:txBody>
      </p:sp>
      <p:sp>
        <p:nvSpPr>
          <p:cNvPr id="4" name="AutoShape 4">
            <a:extLst>
              <a:ext uri="{FF2B5EF4-FFF2-40B4-BE49-F238E27FC236}">
                <a16:creationId xmlns:a16="http://schemas.microsoft.com/office/drawing/2014/main" id="{A5D98054-6AC8-3386-D7F8-C1DCA06DA2A2}"/>
              </a:ext>
            </a:extLst>
          </p:cNvPr>
          <p:cNvSpPr/>
          <p:nvPr/>
        </p:nvSpPr>
        <p:spPr>
          <a:xfrm>
            <a:off x="533401" y="1550505"/>
            <a:ext cx="5160621" cy="4672495"/>
          </a:xfrm>
          <a:prstGeom prst="roundRect">
            <a:avLst>
              <a:gd name="adj" fmla="val 4000"/>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dirty="0">
              <a:latin typeface="+mj-ea"/>
              <a:ea typeface="+mj-ea"/>
            </a:endParaRPr>
          </a:p>
        </p:txBody>
      </p:sp>
      <p:sp>
        <p:nvSpPr>
          <p:cNvPr id="8" name="AutoShape 8">
            <a:extLst>
              <a:ext uri="{FF2B5EF4-FFF2-40B4-BE49-F238E27FC236}">
                <a16:creationId xmlns:a16="http://schemas.microsoft.com/office/drawing/2014/main" id="{E42292B9-09BB-8C90-DCA9-3358A1976037}"/>
              </a:ext>
            </a:extLst>
          </p:cNvPr>
          <p:cNvSpPr/>
          <p:nvPr/>
        </p:nvSpPr>
        <p:spPr>
          <a:xfrm>
            <a:off x="6408524" y="1550505"/>
            <a:ext cx="5160621" cy="4672495"/>
          </a:xfrm>
          <a:prstGeom prst="roundRect">
            <a:avLst>
              <a:gd name="adj" fmla="val 4000"/>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j-ea"/>
              <a:ea typeface="+mj-ea"/>
            </a:endParaRPr>
          </a:p>
        </p:txBody>
      </p:sp>
      <p:pic>
        <p:nvPicPr>
          <p:cNvPr id="20" name="图片 19">
            <a:extLst>
              <a:ext uri="{FF2B5EF4-FFF2-40B4-BE49-F238E27FC236}">
                <a16:creationId xmlns:a16="http://schemas.microsoft.com/office/drawing/2014/main" id="{1510F104-7FC0-32C5-4073-8A8D0B9FE2F8}"/>
              </a:ext>
            </a:extLst>
          </p:cNvPr>
          <p:cNvPicPr>
            <a:picLocks noChangeAspect="1"/>
          </p:cNvPicPr>
          <p:nvPr/>
        </p:nvPicPr>
        <p:blipFill>
          <a:blip r:embed="rId4"/>
          <a:stretch>
            <a:fillRect/>
          </a:stretch>
        </p:blipFill>
        <p:spPr>
          <a:xfrm>
            <a:off x="8472588" y="-147566"/>
            <a:ext cx="3606733" cy="1384112"/>
          </a:xfrm>
          <a:prstGeom prst="rect">
            <a:avLst/>
          </a:prstGeom>
        </p:spPr>
      </p:pic>
      <p:sp>
        <p:nvSpPr>
          <p:cNvPr id="14" name="AutoShape 14">
            <a:extLst>
              <a:ext uri="{FF2B5EF4-FFF2-40B4-BE49-F238E27FC236}">
                <a16:creationId xmlns:a16="http://schemas.microsoft.com/office/drawing/2014/main" id="{4A6735CD-966E-E1D1-A7CF-7B36B38B2840}"/>
              </a:ext>
            </a:extLst>
          </p:cNvPr>
          <p:cNvSpPr/>
          <p:nvPr/>
        </p:nvSpPr>
        <p:spPr>
          <a:xfrm>
            <a:off x="1522356" y="1730951"/>
            <a:ext cx="3179244" cy="467249"/>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dirty="0" err="1">
                <a:solidFill>
                  <a:srgbClr val="111827"/>
                </a:solidFill>
                <a:latin typeface="+mj-ea"/>
                <a:ea typeface="+mj-ea"/>
                <a:cs typeface="Noto Sans SC"/>
                <a:sym typeface="Noto Sans SC"/>
              </a:rPr>
              <a:t>对抗脆弱性扫描</a:t>
            </a:r>
            <a:endParaRPr lang="en-US" sz="2800" dirty="0">
              <a:latin typeface="+mj-ea"/>
              <a:ea typeface="+mj-ea"/>
            </a:endParaRPr>
          </a:p>
        </p:txBody>
      </p:sp>
      <p:sp>
        <p:nvSpPr>
          <p:cNvPr id="15" name="AutoShape 15">
            <a:extLst>
              <a:ext uri="{FF2B5EF4-FFF2-40B4-BE49-F238E27FC236}">
                <a16:creationId xmlns:a16="http://schemas.microsoft.com/office/drawing/2014/main" id="{37B66B23-ED13-98DC-E943-3F1153BC99AD}"/>
              </a:ext>
            </a:extLst>
          </p:cNvPr>
          <p:cNvSpPr/>
          <p:nvPr/>
        </p:nvSpPr>
        <p:spPr>
          <a:xfrm>
            <a:off x="950855" y="2432723"/>
            <a:ext cx="4565361" cy="3337496"/>
          </a:xfrm>
          <a:prstGeom prst="rect">
            <a:avLst/>
          </a:prstGeom>
          <a:noFill/>
          <a:ln w="12700" cap="flat" cmpd="sng">
            <a:noFill/>
            <a:prstDash val="solid"/>
            <a:round/>
          </a:ln>
        </p:spPr>
        <p:txBody>
          <a:bodyPr vert="horz" wrap="square" lIns="0" tIns="0" rIns="0" bIns="0" rtlCol="0" anchor="ctr" anchorCtr="0"/>
          <a:lstStyle/>
          <a:p>
            <a:pPr indent="0" algn="l">
              <a:lnSpc>
                <a:spcPct val="100000"/>
              </a:lnSpc>
              <a:spcBef>
                <a:spcPts val="400"/>
              </a:spcBef>
              <a:defRPr/>
            </a:pPr>
            <a:r>
              <a:rPr lang="en-US" sz="2000" b="1" i="0" u="none" strike="noStrike" dirty="0">
                <a:solidFill>
                  <a:srgbClr val="007AFF"/>
                </a:solidFill>
                <a:latin typeface="+mj-ea"/>
                <a:ea typeface="+mj-ea"/>
                <a:cs typeface="Noto Sans SC"/>
                <a:sym typeface="Noto Sans SC"/>
              </a:rPr>
              <a:t>🎯 </a:t>
            </a:r>
            <a:r>
              <a:rPr lang="en-US" sz="2000" b="1" i="0" u="none" strike="noStrike" dirty="0" err="1">
                <a:solidFill>
                  <a:srgbClr val="007AFF"/>
                </a:solidFill>
                <a:latin typeface="+mj-ea"/>
                <a:ea typeface="+mj-ea"/>
                <a:cs typeface="Noto Sans SC"/>
                <a:sym typeface="Noto Sans SC"/>
              </a:rPr>
              <a:t>检测目标</a:t>
            </a:r>
            <a:endParaRPr lang="en-US" sz="2000" dirty="0">
              <a:latin typeface="+mj-ea"/>
              <a:ea typeface="+mj-ea"/>
            </a:endParaRPr>
          </a:p>
          <a:p>
            <a:pPr>
              <a:spcBef>
                <a:spcPts val="200"/>
              </a:spcBef>
            </a:pPr>
            <a:r>
              <a:rPr lang="en-US" sz="2000" b="0" i="0" u="none" strike="noStrike"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对微小扰动高度敏感、预测不稳定、</a:t>
            </a:r>
            <a:r>
              <a:rPr lang="en-US" altLang="zh-CN" sz="2000" dirty="0">
                <a:solidFill>
                  <a:srgbClr val="374151"/>
                </a:solidFill>
                <a:latin typeface="+mj-ea"/>
                <a:ea typeface="+mj-ea"/>
                <a:cs typeface="Noto Sans SC"/>
                <a:sym typeface="Noto Sans SC"/>
              </a:rPr>
              <a:t>FGSM/PGD</a:t>
            </a:r>
            <a:r>
              <a:rPr lang="zh-CN" altLang="en-US" sz="2000" dirty="0">
                <a:solidFill>
                  <a:srgbClr val="374151"/>
                </a:solidFill>
                <a:latin typeface="+mj-ea"/>
                <a:ea typeface="+mj-ea"/>
                <a:cs typeface="Noto Sans SC"/>
                <a:sym typeface="Noto Sans SC"/>
              </a:rPr>
              <a:t>攻击下置信度或类别变化明显的样本。</a:t>
            </a:r>
            <a:endParaRPr lang="en-US" sz="2000" b="0" i="0" u="none" strike="noStrike" dirty="0">
              <a:solidFill>
                <a:srgbClr val="374151"/>
              </a:solidFill>
              <a:latin typeface="+mj-ea"/>
              <a:ea typeface="+mj-ea"/>
              <a:cs typeface="Noto Sans SC"/>
              <a:sym typeface="Noto Sans SC"/>
            </a:endParaRPr>
          </a:p>
          <a:p>
            <a:pPr indent="0" algn="l">
              <a:lnSpc>
                <a:spcPct val="100000"/>
              </a:lnSpc>
              <a:spcBef>
                <a:spcPts val="800"/>
              </a:spcBef>
            </a:pPr>
            <a:r>
              <a:rPr lang="en-US" sz="2000" b="1" i="0" u="none" strike="noStrike" dirty="0">
                <a:solidFill>
                  <a:srgbClr val="007AFF"/>
                </a:solidFill>
                <a:latin typeface="+mj-ea"/>
                <a:ea typeface="+mj-ea"/>
                <a:cs typeface="Noto Sans SC"/>
                <a:sym typeface="Noto Sans SC"/>
              </a:rPr>
              <a:t>🧠 </a:t>
            </a:r>
            <a:r>
              <a:rPr lang="en-US" sz="2000" b="1" i="0" u="none" strike="noStrike" dirty="0" err="1">
                <a:solidFill>
                  <a:srgbClr val="007AFF"/>
                </a:solidFill>
                <a:latin typeface="+mj-ea"/>
                <a:ea typeface="+mj-ea"/>
                <a:cs typeface="Noto Sans SC"/>
                <a:sym typeface="Noto Sans SC"/>
              </a:rPr>
              <a:t>核心算法</a:t>
            </a:r>
            <a:endParaRPr lang="en-US" sz="2000" b="1" i="0" u="none" strike="noStrike" dirty="0">
              <a:solidFill>
                <a:srgbClr val="007AFF"/>
              </a:solidFill>
              <a:latin typeface="+mj-ea"/>
              <a:ea typeface="+mj-ea"/>
              <a:cs typeface="Noto Sans SC"/>
              <a:sym typeface="Noto Sans SC"/>
            </a:endParaRPr>
          </a:p>
          <a:p>
            <a:pPr>
              <a:spcBef>
                <a:spcPts val="200"/>
              </a:spcBef>
            </a:pPr>
            <a:r>
              <a:rPr lang="en-US" sz="2000" b="0" i="0" u="none" strike="noStrike" dirty="0">
                <a:solidFill>
                  <a:srgbClr val="374151"/>
                </a:solidFill>
                <a:latin typeface="+mj-ea"/>
                <a:ea typeface="+mj-ea"/>
                <a:cs typeface="Noto Sans SC"/>
                <a:sym typeface="Noto Sans SC"/>
              </a:rPr>
              <a:t>• </a:t>
            </a:r>
            <a:r>
              <a:rPr lang="en-US" altLang="zh-CN" sz="2000" dirty="0">
                <a:solidFill>
                  <a:srgbClr val="374151"/>
                </a:solidFill>
                <a:latin typeface="+mj-ea"/>
                <a:ea typeface="+mj-ea"/>
                <a:cs typeface="Noto Sans SC"/>
                <a:sym typeface="Noto Sans SC"/>
              </a:rPr>
              <a:t>FGSM</a:t>
            </a:r>
            <a:r>
              <a:rPr lang="zh-CN" altLang="en-US" sz="2000" dirty="0">
                <a:solidFill>
                  <a:srgbClr val="374151"/>
                </a:solidFill>
                <a:latin typeface="+mj-ea"/>
                <a:ea typeface="+mj-ea"/>
                <a:cs typeface="Noto Sans SC"/>
                <a:sym typeface="Noto Sans SC"/>
              </a:rPr>
              <a:t>快速探针、</a:t>
            </a:r>
            <a:r>
              <a:rPr lang="en-US" altLang="zh-CN" sz="2000" dirty="0">
                <a:solidFill>
                  <a:srgbClr val="374151"/>
                </a:solidFill>
                <a:latin typeface="+mj-ea"/>
                <a:ea typeface="+mj-ea"/>
                <a:cs typeface="Noto Sans SC"/>
                <a:sym typeface="Noto Sans SC"/>
              </a:rPr>
              <a:t>PGD</a:t>
            </a:r>
            <a:r>
              <a:rPr lang="zh-CN" altLang="en-US" sz="2000" dirty="0">
                <a:solidFill>
                  <a:srgbClr val="374151"/>
                </a:solidFill>
                <a:latin typeface="+mj-ea"/>
                <a:ea typeface="+mj-ea"/>
                <a:cs typeface="Noto Sans SC"/>
                <a:sym typeface="Noto Sans SC"/>
              </a:rPr>
              <a:t>迭代探针、扰动前后置信度差、稳定性得分。</a:t>
            </a:r>
            <a:endParaRPr lang="en-US" altLang="zh-CN" sz="2000" dirty="0">
              <a:solidFill>
                <a:srgbClr val="374151"/>
              </a:solidFill>
              <a:latin typeface="+mj-ea"/>
              <a:ea typeface="+mj-ea"/>
              <a:cs typeface="Noto Sans SC"/>
              <a:sym typeface="Noto Sans SC"/>
            </a:endParaRPr>
          </a:p>
          <a:p>
            <a:pPr>
              <a:spcBef>
                <a:spcPts val="200"/>
              </a:spcBef>
            </a:pPr>
            <a:r>
              <a:rPr lang="zh-CN" altLang="en-US" sz="2000" dirty="0">
                <a:solidFill>
                  <a:srgbClr val="374151"/>
                </a:solidFill>
                <a:latin typeface="+mj-ea"/>
                <a:ea typeface="+mj-ea"/>
                <a:cs typeface="Noto Sans SC"/>
                <a:sym typeface="Noto Sans SC"/>
              </a:rPr>
              <a:t> </a:t>
            </a:r>
            <a:r>
              <a:rPr lang="en-US" sz="2000" b="1" i="0" u="none" strike="noStrike" dirty="0">
                <a:solidFill>
                  <a:srgbClr val="007AFF"/>
                </a:solidFill>
                <a:latin typeface="+mj-ea"/>
                <a:ea typeface="+mj-ea"/>
                <a:cs typeface="Noto Sans SC"/>
                <a:sym typeface="Noto Sans SC"/>
              </a:rPr>
              <a:t>📊 </a:t>
            </a:r>
            <a:r>
              <a:rPr lang="en-US" sz="2000" b="1" i="0" u="none" strike="noStrike" dirty="0" err="1">
                <a:solidFill>
                  <a:srgbClr val="007AFF"/>
                </a:solidFill>
                <a:latin typeface="+mj-ea"/>
                <a:ea typeface="+mj-ea"/>
                <a:cs typeface="Noto Sans SC"/>
                <a:sym typeface="Noto Sans SC"/>
              </a:rPr>
              <a:t>关键输出</a:t>
            </a:r>
            <a:endParaRPr lang="en-US" sz="2000" b="1" i="0" u="none" strike="noStrike" dirty="0">
              <a:solidFill>
                <a:srgbClr val="007AFF"/>
              </a:solidFill>
              <a:latin typeface="+mj-ea"/>
              <a:ea typeface="+mj-ea"/>
              <a:cs typeface="Noto Sans SC"/>
              <a:sym typeface="Noto Sans SC"/>
            </a:endParaRPr>
          </a:p>
          <a:p>
            <a:pPr>
              <a:spcBef>
                <a:spcPts val="200"/>
              </a:spcBef>
            </a:pPr>
            <a:r>
              <a:rPr lang="en-US" sz="2000" b="0" i="0" u="none" strike="noStrike"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对抗脆弱样本列表、预测稳定性指标、安全风险等级。</a:t>
            </a:r>
            <a:endParaRPr lang="en-US" sz="2000" b="0" i="0" u="none" strike="noStrike" dirty="0">
              <a:solidFill>
                <a:srgbClr val="374151"/>
              </a:solidFill>
              <a:latin typeface="+mj-ea"/>
              <a:ea typeface="+mj-ea"/>
              <a:cs typeface="Noto Sans SC"/>
              <a:sym typeface="Noto Sans SC"/>
            </a:endParaRPr>
          </a:p>
        </p:txBody>
      </p:sp>
      <p:sp>
        <p:nvSpPr>
          <p:cNvPr id="18" name="AutoShape 18">
            <a:extLst>
              <a:ext uri="{FF2B5EF4-FFF2-40B4-BE49-F238E27FC236}">
                <a16:creationId xmlns:a16="http://schemas.microsoft.com/office/drawing/2014/main" id="{DF089FA6-1997-3C4B-6833-4A1821E1F544}"/>
              </a:ext>
            </a:extLst>
          </p:cNvPr>
          <p:cNvSpPr/>
          <p:nvPr/>
        </p:nvSpPr>
        <p:spPr>
          <a:xfrm>
            <a:off x="7741975" y="1730951"/>
            <a:ext cx="3385983" cy="467249"/>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dirty="0" err="1">
                <a:solidFill>
                  <a:srgbClr val="111827"/>
                </a:solidFill>
                <a:latin typeface="+mj-ea"/>
                <a:ea typeface="+mj-ea"/>
                <a:cs typeface="Noto Sans SC"/>
                <a:sym typeface="Noto Sans SC"/>
              </a:rPr>
              <a:t>物理保真度扫描</a:t>
            </a:r>
            <a:endParaRPr lang="en-US" sz="2800" dirty="0">
              <a:latin typeface="+mj-ea"/>
              <a:ea typeface="+mj-ea"/>
            </a:endParaRPr>
          </a:p>
        </p:txBody>
      </p:sp>
      <p:sp>
        <p:nvSpPr>
          <p:cNvPr id="19" name="AutoShape 19">
            <a:extLst>
              <a:ext uri="{FF2B5EF4-FFF2-40B4-BE49-F238E27FC236}">
                <a16:creationId xmlns:a16="http://schemas.microsoft.com/office/drawing/2014/main" id="{545B91FB-2C14-A659-FFBD-15E95DCCED50}"/>
              </a:ext>
            </a:extLst>
          </p:cNvPr>
          <p:cNvSpPr/>
          <p:nvPr/>
        </p:nvSpPr>
        <p:spPr>
          <a:xfrm>
            <a:off x="6652265" y="2432723"/>
            <a:ext cx="4767796" cy="3337496"/>
          </a:xfrm>
          <a:prstGeom prst="rect">
            <a:avLst/>
          </a:prstGeom>
          <a:noFill/>
          <a:ln w="12700" cap="flat" cmpd="sng">
            <a:noFill/>
            <a:prstDash val="solid"/>
            <a:round/>
          </a:ln>
        </p:spPr>
        <p:txBody>
          <a:bodyPr vert="horz" wrap="square" lIns="0" tIns="0" rIns="0" bIns="0" rtlCol="0" anchor="ctr" anchorCtr="0"/>
          <a:lstStyle/>
          <a:p>
            <a:pPr indent="0" algn="l">
              <a:lnSpc>
                <a:spcPct val="100000"/>
              </a:lnSpc>
              <a:spcBef>
                <a:spcPts val="400"/>
              </a:spcBef>
              <a:defRPr/>
            </a:pPr>
            <a:r>
              <a:rPr lang="en-US" sz="2000" b="1" i="0" u="none" strike="noStrike" dirty="0">
                <a:solidFill>
                  <a:srgbClr val="007AFF"/>
                </a:solidFill>
                <a:latin typeface="+mj-ea"/>
                <a:ea typeface="+mj-ea"/>
                <a:cs typeface="Noto Sans SC"/>
                <a:sym typeface="Noto Sans SC"/>
              </a:rPr>
              <a:t>🎯 </a:t>
            </a:r>
            <a:r>
              <a:rPr lang="en-US" sz="2000" b="1" i="0" u="none" strike="noStrike" dirty="0" err="1">
                <a:solidFill>
                  <a:srgbClr val="007AFF"/>
                </a:solidFill>
                <a:latin typeface="+mj-ea"/>
                <a:ea typeface="+mj-ea"/>
                <a:cs typeface="Noto Sans SC"/>
                <a:sym typeface="Noto Sans SC"/>
              </a:rPr>
              <a:t>检测目标</a:t>
            </a:r>
            <a:endParaRPr lang="en-US" sz="2000" dirty="0">
              <a:latin typeface="+mj-ea"/>
              <a:ea typeface="+mj-ea"/>
            </a:endParaRPr>
          </a:p>
          <a:p>
            <a:pPr>
              <a:spcBef>
                <a:spcPts val="200"/>
              </a:spcBef>
            </a:pPr>
            <a:r>
              <a:rPr lang="en-US" sz="2000" b="0" i="0" u="none" strike="noStrike"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图像透视</a:t>
            </a:r>
            <a:r>
              <a:rPr lang="en-US" altLang="zh-CN" sz="2000"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光照</a:t>
            </a:r>
            <a:r>
              <a:rPr lang="en-US" altLang="zh-CN" sz="2000"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遮挡不合理，时序因果冲突，表格量纲范围异常，业务逻辑约束冲突。</a:t>
            </a:r>
            <a:endParaRPr lang="en-US" altLang="zh-CN" sz="2000" dirty="0">
              <a:solidFill>
                <a:srgbClr val="374151"/>
              </a:solidFill>
              <a:latin typeface="+mj-ea"/>
              <a:ea typeface="+mj-ea"/>
              <a:cs typeface="Noto Sans SC"/>
              <a:sym typeface="Noto Sans SC"/>
            </a:endParaRPr>
          </a:p>
          <a:p>
            <a:pPr>
              <a:spcBef>
                <a:spcPts val="200"/>
              </a:spcBef>
            </a:pPr>
            <a:r>
              <a:rPr lang="en-US" sz="2000" b="1" i="0" u="none" strike="noStrike" dirty="0">
                <a:solidFill>
                  <a:srgbClr val="007AFF"/>
                </a:solidFill>
                <a:latin typeface="+mj-ea"/>
                <a:ea typeface="+mj-ea"/>
                <a:cs typeface="Noto Sans SC"/>
                <a:sym typeface="Noto Sans SC"/>
              </a:rPr>
              <a:t>🧠 </a:t>
            </a:r>
            <a:r>
              <a:rPr lang="en-US" sz="2000" b="1" i="0" u="none" strike="noStrike" dirty="0" err="1">
                <a:solidFill>
                  <a:srgbClr val="007AFF"/>
                </a:solidFill>
                <a:latin typeface="+mj-ea"/>
                <a:ea typeface="+mj-ea"/>
                <a:cs typeface="Noto Sans SC"/>
                <a:sym typeface="Noto Sans SC"/>
              </a:rPr>
              <a:t>核心算法</a:t>
            </a:r>
            <a:endParaRPr lang="en-US" sz="2000" b="1" i="0" u="none" strike="noStrike" dirty="0">
              <a:solidFill>
                <a:srgbClr val="007AFF"/>
              </a:solidFill>
              <a:latin typeface="+mj-ea"/>
              <a:ea typeface="+mj-ea"/>
              <a:cs typeface="Noto Sans SC"/>
              <a:sym typeface="Noto Sans SC"/>
            </a:endParaRPr>
          </a:p>
          <a:p>
            <a:pPr>
              <a:spcBef>
                <a:spcPts val="200"/>
              </a:spcBef>
            </a:pPr>
            <a:r>
              <a:rPr lang="en-US" sz="2000" b="0" i="0" u="none" strike="noStrike"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规则约束、时间顺序检查、单位</a:t>
            </a:r>
            <a:r>
              <a:rPr lang="en-US" altLang="zh-CN" sz="2000"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范围校验、视觉物理常识检测、</a:t>
            </a:r>
            <a:r>
              <a:rPr lang="en-US" altLang="zh-CN" sz="2000" dirty="0">
                <a:solidFill>
                  <a:srgbClr val="374151"/>
                </a:solidFill>
                <a:latin typeface="+mj-ea"/>
                <a:ea typeface="+mj-ea"/>
                <a:cs typeface="Noto Sans SC"/>
                <a:sym typeface="Noto Sans SC"/>
              </a:rPr>
              <a:t>VLM</a:t>
            </a:r>
            <a:r>
              <a:rPr lang="zh-CN" altLang="en-US" sz="2000" dirty="0">
                <a:solidFill>
                  <a:srgbClr val="374151"/>
                </a:solidFill>
                <a:latin typeface="+mj-ea"/>
                <a:ea typeface="+mj-ea"/>
                <a:cs typeface="Noto Sans SC"/>
                <a:sym typeface="Noto Sans SC"/>
              </a:rPr>
              <a:t>辅助复核。</a:t>
            </a:r>
            <a:endParaRPr lang="en-US" sz="2000" b="0" i="0" u="none" strike="noStrike" dirty="0">
              <a:solidFill>
                <a:srgbClr val="374151"/>
              </a:solidFill>
              <a:latin typeface="+mj-ea"/>
              <a:ea typeface="+mj-ea"/>
              <a:cs typeface="Noto Sans SC"/>
              <a:sym typeface="Noto Sans SC"/>
            </a:endParaRPr>
          </a:p>
          <a:p>
            <a:pPr indent="0" algn="l">
              <a:lnSpc>
                <a:spcPct val="100000"/>
              </a:lnSpc>
              <a:spcBef>
                <a:spcPts val="800"/>
              </a:spcBef>
            </a:pPr>
            <a:r>
              <a:rPr lang="en-US" sz="2000" b="1" i="0" u="none" strike="noStrike" dirty="0">
                <a:solidFill>
                  <a:srgbClr val="007AFF"/>
                </a:solidFill>
                <a:latin typeface="+mj-ea"/>
                <a:ea typeface="+mj-ea"/>
                <a:cs typeface="Noto Sans SC"/>
                <a:sym typeface="Noto Sans SC"/>
              </a:rPr>
              <a:t>📊 </a:t>
            </a:r>
            <a:r>
              <a:rPr lang="en-US" sz="2000" b="1" i="0" u="none" strike="noStrike" dirty="0" err="1">
                <a:solidFill>
                  <a:srgbClr val="007AFF"/>
                </a:solidFill>
                <a:latin typeface="+mj-ea"/>
                <a:ea typeface="+mj-ea"/>
                <a:cs typeface="Noto Sans SC"/>
                <a:sym typeface="Noto Sans SC"/>
              </a:rPr>
              <a:t>关键输出</a:t>
            </a:r>
            <a:endParaRPr lang="en-US" sz="2000" b="1" i="0" u="none" strike="noStrike" dirty="0">
              <a:solidFill>
                <a:srgbClr val="007AFF"/>
              </a:solidFill>
              <a:latin typeface="+mj-ea"/>
              <a:ea typeface="+mj-ea"/>
              <a:cs typeface="Noto Sans SC"/>
              <a:sym typeface="Noto Sans SC"/>
            </a:endParaRPr>
          </a:p>
          <a:p>
            <a:pPr>
              <a:spcBef>
                <a:spcPts val="200"/>
              </a:spcBef>
            </a:pPr>
            <a:r>
              <a:rPr lang="en-US" sz="2000" b="0" i="0" u="none" strike="noStrike"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物理约束违反样本、逻辑</a:t>
            </a:r>
            <a:r>
              <a:rPr lang="en-US" altLang="zh-CN" sz="2000"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量纲异常统计、风险说明。</a:t>
            </a:r>
            <a:endParaRPr lang="en-US" sz="2000" b="0" i="0" u="none" strike="noStrike" dirty="0">
              <a:solidFill>
                <a:srgbClr val="374151"/>
              </a:solidFill>
              <a:latin typeface="+mj-ea"/>
              <a:ea typeface="+mj-ea"/>
              <a:cs typeface="Noto Sans SC"/>
              <a:sym typeface="Noto Sans SC"/>
            </a:endParaRPr>
          </a:p>
        </p:txBody>
      </p:sp>
    </p:spTree>
    <p:extLst>
      <p:ext uri="{BB962C8B-B14F-4D97-AF65-F5344CB8AC3E}">
        <p14:creationId xmlns:p14="http://schemas.microsoft.com/office/powerpoint/2010/main" val="2535132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4" grpId="0"/>
      <p:bldP spid="15" grpId="0"/>
      <p:bldP spid="18" grpId="0"/>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6D12215-EBE3-FEB4-626F-2B5368D39D0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0F0E3F8-F8CA-D9DB-C19F-988F5753792A}"/>
              </a:ext>
            </a:extLst>
          </p:cNvPr>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a:extLst>
              <a:ext uri="{FF2B5EF4-FFF2-40B4-BE49-F238E27FC236}">
                <a16:creationId xmlns:a16="http://schemas.microsoft.com/office/drawing/2014/main" id="{3D77097A-778C-206B-B100-E14243B86818}"/>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dirty="0">
                <a:solidFill>
                  <a:srgbClr val="007AFF"/>
                </a:solidFill>
                <a:latin typeface="Noto Sans SC"/>
                <a:ea typeface="Noto Sans SC"/>
                <a:sym typeface="Noto Sans SC"/>
              </a:rPr>
              <a:t>五、后续项目开展计划</a:t>
            </a:r>
            <a:endParaRPr lang="en-US" sz="1100" dirty="0"/>
          </a:p>
        </p:txBody>
      </p:sp>
      <p:graphicFrame>
        <p:nvGraphicFramePr>
          <p:cNvPr id="21" name="表格 20">
            <a:extLst>
              <a:ext uri="{FF2B5EF4-FFF2-40B4-BE49-F238E27FC236}">
                <a16:creationId xmlns:a16="http://schemas.microsoft.com/office/drawing/2014/main" id="{05B1F01C-D005-64B5-FFD5-F8CF61700CC1}"/>
              </a:ext>
            </a:extLst>
          </p:cNvPr>
          <p:cNvGraphicFramePr>
            <a:graphicFrameLocks noGrp="1"/>
          </p:cNvGraphicFramePr>
          <p:nvPr>
            <p:extLst>
              <p:ext uri="{D42A27DB-BD31-4B8C-83A1-F6EECF244321}">
                <p14:modId xmlns:p14="http://schemas.microsoft.com/office/powerpoint/2010/main" val="1667489945"/>
              </p:ext>
            </p:extLst>
          </p:nvPr>
        </p:nvGraphicFramePr>
        <p:xfrm>
          <a:off x="541682" y="1429690"/>
          <a:ext cx="11108635" cy="5053126"/>
        </p:xfrm>
        <a:graphic>
          <a:graphicData uri="http://schemas.openxmlformats.org/drawingml/2006/table">
            <a:tbl>
              <a:tblPr firstRow="1" firstCol="1" bandRow="1">
                <a:tableStyleId>{5C22544A-7EE6-4342-B048-85BDC9FD1C3A}</a:tableStyleId>
              </a:tblPr>
              <a:tblGrid>
                <a:gridCol w="1623029">
                  <a:extLst>
                    <a:ext uri="{9D8B030D-6E8A-4147-A177-3AD203B41FA5}">
                      <a16:colId xmlns:a16="http://schemas.microsoft.com/office/drawing/2014/main" val="1562028630"/>
                    </a:ext>
                  </a:extLst>
                </a:gridCol>
                <a:gridCol w="6665181">
                  <a:extLst>
                    <a:ext uri="{9D8B030D-6E8A-4147-A177-3AD203B41FA5}">
                      <a16:colId xmlns:a16="http://schemas.microsoft.com/office/drawing/2014/main" val="570655180"/>
                    </a:ext>
                  </a:extLst>
                </a:gridCol>
                <a:gridCol w="2820425">
                  <a:extLst>
                    <a:ext uri="{9D8B030D-6E8A-4147-A177-3AD203B41FA5}">
                      <a16:colId xmlns:a16="http://schemas.microsoft.com/office/drawing/2014/main" val="905729945"/>
                    </a:ext>
                  </a:extLst>
                </a:gridCol>
              </a:tblGrid>
              <a:tr h="739214">
                <a:tc>
                  <a:txBody>
                    <a:bodyPr/>
                    <a:lstStyle/>
                    <a:p>
                      <a:pPr algn="ctr">
                        <a:lnSpc>
                          <a:spcPct val="117000"/>
                        </a:lnSpc>
                        <a:spcAft>
                          <a:spcPts val="500"/>
                        </a:spcAft>
                        <a:buNone/>
                      </a:pPr>
                      <a:r>
                        <a:rPr lang="en-US" sz="2000">
                          <a:effectLst/>
                        </a:rPr>
                        <a:t>时间</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63500" marB="63500"/>
                </a:tc>
                <a:tc>
                  <a:txBody>
                    <a:bodyPr/>
                    <a:lstStyle/>
                    <a:p>
                      <a:pPr algn="ctr">
                        <a:lnSpc>
                          <a:spcPct val="117000"/>
                        </a:lnSpc>
                        <a:spcAft>
                          <a:spcPts val="500"/>
                        </a:spcAft>
                        <a:buNone/>
                      </a:pPr>
                      <a:r>
                        <a:rPr lang="en-US" sz="2000">
                          <a:effectLst/>
                        </a:rPr>
                        <a:t>任务</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63500" marB="63500"/>
                </a:tc>
                <a:tc>
                  <a:txBody>
                    <a:bodyPr/>
                    <a:lstStyle/>
                    <a:p>
                      <a:pPr algn="ctr">
                        <a:lnSpc>
                          <a:spcPct val="117000"/>
                        </a:lnSpc>
                        <a:spcAft>
                          <a:spcPts val="500"/>
                        </a:spcAft>
                        <a:buNone/>
                      </a:pPr>
                      <a:r>
                        <a:rPr lang="en-US" sz="2000" dirty="0" err="1">
                          <a:effectLst/>
                        </a:rPr>
                        <a:t>交付物</a:t>
                      </a:r>
                      <a:endParaRPr lang="zh-CN" sz="20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63500" marB="63500"/>
                </a:tc>
                <a:extLst>
                  <a:ext uri="{0D108BD9-81ED-4DB2-BD59-A6C34878D82A}">
                    <a16:rowId xmlns:a16="http://schemas.microsoft.com/office/drawing/2014/main" val="1719244282"/>
                  </a:ext>
                </a:extLst>
              </a:tr>
              <a:tr h="703274">
                <a:tc>
                  <a:txBody>
                    <a:bodyPr/>
                    <a:lstStyle/>
                    <a:p>
                      <a:pPr algn="ctr">
                        <a:lnSpc>
                          <a:spcPct val="117000"/>
                        </a:lnSpc>
                        <a:spcAft>
                          <a:spcPts val="500"/>
                        </a:spcAft>
                        <a:buNone/>
                      </a:pPr>
                      <a:r>
                        <a:rPr lang="en-US" sz="2000" dirty="0">
                          <a:effectLst/>
                        </a:rPr>
                        <a:t>2026.5-2026.6</a:t>
                      </a:r>
                      <a:endParaRPr lang="zh-CN" sz="20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tc>
                  <a:txBody>
                    <a:bodyPr/>
                    <a:lstStyle/>
                    <a:p>
                      <a:pPr>
                        <a:lnSpc>
                          <a:spcPct val="117000"/>
                        </a:lnSpc>
                        <a:spcAft>
                          <a:spcPts val="500"/>
                        </a:spcAft>
                        <a:buNone/>
                      </a:pPr>
                      <a:r>
                        <a:rPr lang="zh-CN" sz="2000" dirty="0">
                          <a:effectLst/>
                        </a:rPr>
                        <a:t>完善文献调研，确定第一批可演示算法；补充测试数据集和接口联调脚本。</a:t>
                      </a:r>
                      <a:endParaRPr lang="zh-CN" sz="20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tc>
                  <a:txBody>
                    <a:bodyPr/>
                    <a:lstStyle/>
                    <a:p>
                      <a:pPr>
                        <a:lnSpc>
                          <a:spcPct val="117000"/>
                        </a:lnSpc>
                        <a:spcAft>
                          <a:spcPts val="500"/>
                        </a:spcAft>
                        <a:buNone/>
                      </a:pPr>
                      <a:r>
                        <a:rPr lang="zh-CN" sz="2000">
                          <a:effectLst/>
                        </a:rPr>
                        <a:t>算法清单、示例数据、联调说明。</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extLst>
                  <a:ext uri="{0D108BD9-81ED-4DB2-BD59-A6C34878D82A}">
                    <a16:rowId xmlns:a16="http://schemas.microsoft.com/office/drawing/2014/main" val="4244721341"/>
                  </a:ext>
                </a:extLst>
              </a:tr>
              <a:tr h="1120624">
                <a:tc>
                  <a:txBody>
                    <a:bodyPr/>
                    <a:lstStyle/>
                    <a:p>
                      <a:pPr algn="ctr">
                        <a:lnSpc>
                          <a:spcPct val="117000"/>
                        </a:lnSpc>
                        <a:spcAft>
                          <a:spcPts val="500"/>
                        </a:spcAft>
                        <a:buNone/>
                      </a:pPr>
                      <a:r>
                        <a:rPr lang="en-US" sz="2000">
                          <a:effectLst/>
                        </a:rPr>
                        <a:t>2026.6-2026.8</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tc>
                  <a:txBody>
                    <a:bodyPr/>
                    <a:lstStyle/>
                    <a:p>
                      <a:pPr>
                        <a:lnSpc>
                          <a:spcPct val="117000"/>
                        </a:lnSpc>
                        <a:spcAft>
                          <a:spcPts val="500"/>
                        </a:spcAft>
                        <a:buNone/>
                      </a:pPr>
                      <a:r>
                        <a:rPr lang="zh-CN" sz="2000">
                          <a:effectLst/>
                        </a:rPr>
                        <a:t>接入基础规则检测、分布统计、标签错误检测和图像基础质量检测。</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tc>
                  <a:txBody>
                    <a:bodyPr/>
                    <a:lstStyle/>
                    <a:p>
                      <a:pPr>
                        <a:lnSpc>
                          <a:spcPct val="117000"/>
                        </a:lnSpc>
                        <a:spcAft>
                          <a:spcPts val="500"/>
                        </a:spcAft>
                        <a:buNone/>
                      </a:pPr>
                      <a:r>
                        <a:rPr lang="en-US" sz="2000">
                          <a:effectLst/>
                        </a:rPr>
                        <a:t>Python </a:t>
                      </a:r>
                      <a:r>
                        <a:rPr lang="zh-CN" sz="2000">
                          <a:effectLst/>
                        </a:rPr>
                        <a:t>算法服务、真实扫描结果。</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extLst>
                  <a:ext uri="{0D108BD9-81ED-4DB2-BD59-A6C34878D82A}">
                    <a16:rowId xmlns:a16="http://schemas.microsoft.com/office/drawing/2014/main" val="776932556"/>
                  </a:ext>
                </a:extLst>
              </a:tr>
              <a:tr h="703274">
                <a:tc>
                  <a:txBody>
                    <a:bodyPr/>
                    <a:lstStyle/>
                    <a:p>
                      <a:pPr algn="ctr">
                        <a:lnSpc>
                          <a:spcPct val="117000"/>
                        </a:lnSpc>
                        <a:spcAft>
                          <a:spcPts val="500"/>
                        </a:spcAft>
                        <a:buNone/>
                      </a:pPr>
                      <a:r>
                        <a:rPr lang="en-US" sz="2000">
                          <a:effectLst/>
                        </a:rPr>
                        <a:t>2026.9-2026.11</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tc>
                  <a:txBody>
                    <a:bodyPr/>
                    <a:lstStyle/>
                    <a:p>
                      <a:pPr>
                        <a:lnSpc>
                          <a:spcPct val="117000"/>
                        </a:lnSpc>
                        <a:spcAft>
                          <a:spcPts val="500"/>
                        </a:spcAft>
                        <a:buNone/>
                      </a:pPr>
                      <a:r>
                        <a:rPr lang="zh-CN" sz="2000">
                          <a:effectLst/>
                        </a:rPr>
                        <a:t>完善图文一致性、对抗脆弱性和物理一致性检测；优化报告图表。</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tc>
                  <a:txBody>
                    <a:bodyPr/>
                    <a:lstStyle/>
                    <a:p>
                      <a:pPr>
                        <a:lnSpc>
                          <a:spcPct val="117000"/>
                        </a:lnSpc>
                        <a:spcAft>
                          <a:spcPts val="500"/>
                        </a:spcAft>
                        <a:buNone/>
                      </a:pPr>
                      <a:r>
                        <a:rPr lang="zh-CN" sz="2000">
                          <a:effectLst/>
                        </a:rPr>
                        <a:t>多引擎报告、前端可视化。</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extLst>
                  <a:ext uri="{0D108BD9-81ED-4DB2-BD59-A6C34878D82A}">
                    <a16:rowId xmlns:a16="http://schemas.microsoft.com/office/drawing/2014/main" val="3438217160"/>
                  </a:ext>
                </a:extLst>
              </a:tr>
              <a:tr h="703274">
                <a:tc>
                  <a:txBody>
                    <a:bodyPr/>
                    <a:lstStyle/>
                    <a:p>
                      <a:pPr algn="ctr">
                        <a:lnSpc>
                          <a:spcPct val="117000"/>
                        </a:lnSpc>
                        <a:spcAft>
                          <a:spcPts val="500"/>
                        </a:spcAft>
                        <a:buNone/>
                      </a:pPr>
                      <a:r>
                        <a:rPr lang="en-US" sz="2000">
                          <a:effectLst/>
                        </a:rPr>
                        <a:t>2026.12-2027.2</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tc>
                  <a:txBody>
                    <a:bodyPr/>
                    <a:lstStyle/>
                    <a:p>
                      <a:pPr>
                        <a:lnSpc>
                          <a:spcPct val="117000"/>
                        </a:lnSpc>
                        <a:spcAft>
                          <a:spcPts val="500"/>
                        </a:spcAft>
                        <a:buNone/>
                      </a:pPr>
                      <a:r>
                        <a:rPr lang="zh-CN" sz="2000">
                          <a:effectLst/>
                        </a:rPr>
                        <a:t>进行系统测试、性能优化和典型数据集案例分析。</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tc>
                  <a:txBody>
                    <a:bodyPr/>
                    <a:lstStyle/>
                    <a:p>
                      <a:pPr>
                        <a:lnSpc>
                          <a:spcPct val="117000"/>
                        </a:lnSpc>
                        <a:spcAft>
                          <a:spcPts val="500"/>
                        </a:spcAft>
                        <a:buNone/>
                      </a:pPr>
                      <a:r>
                        <a:rPr lang="zh-CN" sz="2000">
                          <a:effectLst/>
                        </a:rPr>
                        <a:t>测试报告、案例报告。</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extLst>
                  <a:ext uri="{0D108BD9-81ED-4DB2-BD59-A6C34878D82A}">
                    <a16:rowId xmlns:a16="http://schemas.microsoft.com/office/drawing/2014/main" val="3829029197"/>
                  </a:ext>
                </a:extLst>
              </a:tr>
              <a:tr h="703274">
                <a:tc>
                  <a:txBody>
                    <a:bodyPr/>
                    <a:lstStyle/>
                    <a:p>
                      <a:pPr algn="ctr">
                        <a:lnSpc>
                          <a:spcPct val="117000"/>
                        </a:lnSpc>
                        <a:spcAft>
                          <a:spcPts val="500"/>
                        </a:spcAft>
                        <a:buNone/>
                      </a:pPr>
                      <a:r>
                        <a:rPr lang="en-US" sz="2000">
                          <a:effectLst/>
                        </a:rPr>
                        <a:t>2027.3-2027.4</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tc>
                  <a:txBody>
                    <a:bodyPr/>
                    <a:lstStyle/>
                    <a:p>
                      <a:pPr>
                        <a:lnSpc>
                          <a:spcPct val="117000"/>
                        </a:lnSpc>
                        <a:spcAft>
                          <a:spcPts val="500"/>
                        </a:spcAft>
                        <a:buNone/>
                      </a:pPr>
                      <a:r>
                        <a:rPr lang="zh-CN" sz="2000">
                          <a:effectLst/>
                        </a:rPr>
                        <a:t>整理结题材料、演示视频和最终成果文档。</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tc>
                  <a:txBody>
                    <a:bodyPr/>
                    <a:lstStyle/>
                    <a:p>
                      <a:pPr>
                        <a:lnSpc>
                          <a:spcPct val="117000"/>
                        </a:lnSpc>
                        <a:spcAft>
                          <a:spcPts val="500"/>
                        </a:spcAft>
                        <a:buNone/>
                      </a:pPr>
                      <a:r>
                        <a:rPr lang="zh-CN" sz="2000" dirty="0">
                          <a:effectLst/>
                        </a:rPr>
                        <a:t>结题报告、</a:t>
                      </a:r>
                      <a:r>
                        <a:rPr lang="en-US" sz="2000" dirty="0">
                          <a:effectLst/>
                        </a:rPr>
                        <a:t>PPT</a:t>
                      </a:r>
                      <a:r>
                        <a:rPr lang="zh-CN" sz="2000" dirty="0">
                          <a:effectLst/>
                        </a:rPr>
                        <a:t>、演示材料。</a:t>
                      </a:r>
                      <a:endParaRPr lang="zh-CN" sz="20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extLst>
                  <a:ext uri="{0D108BD9-81ED-4DB2-BD59-A6C34878D82A}">
                    <a16:rowId xmlns:a16="http://schemas.microsoft.com/office/drawing/2014/main" val="2705012393"/>
                  </a:ext>
                </a:extLst>
              </a:tr>
            </a:tbl>
          </a:graphicData>
        </a:graphic>
      </p:graphicFrame>
      <p:pic>
        <p:nvPicPr>
          <p:cNvPr id="23" name="图片 22">
            <a:extLst>
              <a:ext uri="{FF2B5EF4-FFF2-40B4-BE49-F238E27FC236}">
                <a16:creationId xmlns:a16="http://schemas.microsoft.com/office/drawing/2014/main" id="{19FC87D5-7A91-034C-65EF-8B89B198C552}"/>
              </a:ext>
            </a:extLst>
          </p:cNvPr>
          <p:cNvPicPr>
            <a:picLocks noChangeAspect="1"/>
          </p:cNvPicPr>
          <p:nvPr/>
        </p:nvPicPr>
        <p:blipFill>
          <a:blip r:embed="rId4"/>
          <a:stretch>
            <a:fillRect/>
          </a:stretch>
        </p:blipFill>
        <p:spPr>
          <a:xfrm>
            <a:off x="8472588" y="-147566"/>
            <a:ext cx="3606733" cy="1384112"/>
          </a:xfrm>
          <a:prstGeom prst="rect">
            <a:avLst/>
          </a:prstGeom>
        </p:spPr>
      </p:pic>
    </p:spTree>
    <p:extLst>
      <p:ext uri="{BB962C8B-B14F-4D97-AF65-F5344CB8AC3E}">
        <p14:creationId xmlns:p14="http://schemas.microsoft.com/office/powerpoint/2010/main" val="1106677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A0142DF-620E-FD22-42F6-A82CACAE8A2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EB205FB-81B3-2581-A359-15B460AB309C}"/>
              </a:ext>
            </a:extLst>
          </p:cNvPr>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a:extLst>
              <a:ext uri="{FF2B5EF4-FFF2-40B4-BE49-F238E27FC236}">
                <a16:creationId xmlns:a16="http://schemas.microsoft.com/office/drawing/2014/main" id="{EE743ADC-9677-6AD1-270F-A53441459BF4}"/>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dirty="0">
                <a:solidFill>
                  <a:srgbClr val="007AFF"/>
                </a:solidFill>
                <a:latin typeface="Noto Sans SC"/>
                <a:ea typeface="Noto Sans SC"/>
                <a:sym typeface="Noto Sans SC"/>
              </a:rPr>
              <a:t>五、后续项目开展计划：预期最终成果</a:t>
            </a:r>
            <a:endParaRPr lang="en-US" sz="1100" dirty="0"/>
          </a:p>
        </p:txBody>
      </p:sp>
      <p:pic>
        <p:nvPicPr>
          <p:cNvPr id="23" name="图片 22">
            <a:extLst>
              <a:ext uri="{FF2B5EF4-FFF2-40B4-BE49-F238E27FC236}">
                <a16:creationId xmlns:a16="http://schemas.microsoft.com/office/drawing/2014/main" id="{1634B19D-2D30-7111-308F-4752D7B85D0A}"/>
              </a:ext>
            </a:extLst>
          </p:cNvPr>
          <p:cNvPicPr>
            <a:picLocks noChangeAspect="1"/>
          </p:cNvPicPr>
          <p:nvPr/>
        </p:nvPicPr>
        <p:blipFill>
          <a:blip r:embed="rId4"/>
          <a:stretch>
            <a:fillRect/>
          </a:stretch>
        </p:blipFill>
        <p:spPr>
          <a:xfrm>
            <a:off x="8472588" y="-147566"/>
            <a:ext cx="3606733" cy="1384112"/>
          </a:xfrm>
          <a:prstGeom prst="rect">
            <a:avLst/>
          </a:prstGeom>
        </p:spPr>
      </p:pic>
      <p:sp>
        <p:nvSpPr>
          <p:cNvPr id="5" name="AutoShape 4">
            <a:extLst>
              <a:ext uri="{FF2B5EF4-FFF2-40B4-BE49-F238E27FC236}">
                <a16:creationId xmlns:a16="http://schemas.microsoft.com/office/drawing/2014/main" id="{E1170CF6-7618-23B9-094A-3BB1A08CBD5C}"/>
              </a:ext>
            </a:extLst>
          </p:cNvPr>
          <p:cNvSpPr/>
          <p:nvPr/>
        </p:nvSpPr>
        <p:spPr>
          <a:xfrm>
            <a:off x="762000" y="1407627"/>
            <a:ext cx="3302000" cy="2392434"/>
          </a:xfrm>
          <a:prstGeom prst="roundRect">
            <a:avLst>
              <a:gd name="adj" fmla="val 7500"/>
            </a:avLst>
          </a:prstGeom>
          <a:solidFill>
            <a:srgbClr val="FFFFFF">
              <a:alpha val="100000"/>
            </a:srgbClr>
          </a:solidFill>
          <a:ln w="12700" cap="flat" cmpd="sng">
            <a:solidFill>
              <a:srgbClr val="F3F4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p>
        </p:txBody>
      </p:sp>
      <p:sp>
        <p:nvSpPr>
          <p:cNvPr id="6" name="AutoShape 5">
            <a:extLst>
              <a:ext uri="{FF2B5EF4-FFF2-40B4-BE49-F238E27FC236}">
                <a16:creationId xmlns:a16="http://schemas.microsoft.com/office/drawing/2014/main" id="{BC21BDA9-60A9-2194-1DBB-9298CC6B456F}"/>
              </a:ext>
            </a:extLst>
          </p:cNvPr>
          <p:cNvSpPr/>
          <p:nvPr/>
        </p:nvSpPr>
        <p:spPr>
          <a:xfrm>
            <a:off x="762000" y="1417566"/>
            <a:ext cx="76200" cy="2382495"/>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sz="2000"/>
          </a:p>
        </p:txBody>
      </p:sp>
      <p:pic>
        <p:nvPicPr>
          <p:cNvPr id="7" name="Picture 6">
            <a:extLst>
              <a:ext uri="{FF2B5EF4-FFF2-40B4-BE49-F238E27FC236}">
                <a16:creationId xmlns:a16="http://schemas.microsoft.com/office/drawing/2014/main" id="{408847AC-F516-1FD3-775F-E3818A86E62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2688" y="1837086"/>
            <a:ext cx="457200" cy="457200"/>
          </a:xfrm>
          <a:prstGeom prst="rect">
            <a:avLst/>
          </a:prstGeom>
        </p:spPr>
      </p:pic>
      <p:sp>
        <p:nvSpPr>
          <p:cNvPr id="8" name="AutoShape 7">
            <a:extLst>
              <a:ext uri="{FF2B5EF4-FFF2-40B4-BE49-F238E27FC236}">
                <a16:creationId xmlns:a16="http://schemas.microsoft.com/office/drawing/2014/main" id="{9B5A52A9-0BE2-0DFD-462A-DFFFADE061D6}"/>
              </a:ext>
            </a:extLst>
          </p:cNvPr>
          <p:cNvSpPr/>
          <p:nvPr/>
        </p:nvSpPr>
        <p:spPr>
          <a:xfrm>
            <a:off x="1600200" y="2047461"/>
            <a:ext cx="24130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dirty="0" err="1">
                <a:solidFill>
                  <a:srgbClr val="1F2937"/>
                </a:solidFill>
                <a:latin typeface="Noto Sans SC"/>
                <a:ea typeface="Noto Sans SC"/>
                <a:cs typeface="Noto Sans SC"/>
                <a:sym typeface="Noto Sans SC"/>
              </a:rPr>
              <a:t>可运行平台</a:t>
            </a:r>
            <a:endParaRPr lang="en-US" sz="2000" dirty="0"/>
          </a:p>
          <a:p>
            <a:pPr indent="0" algn="l">
              <a:lnSpc>
                <a:spcPct val="116666"/>
              </a:lnSpc>
              <a:spcBef>
                <a:spcPts val="1000"/>
              </a:spcBef>
            </a:pPr>
            <a:r>
              <a:rPr lang="en-US" sz="2000" b="0" i="0" u="none" strike="noStrike" dirty="0" err="1">
                <a:solidFill>
                  <a:srgbClr val="4B5563"/>
                </a:solidFill>
                <a:latin typeface="Noto Sans SC"/>
                <a:ea typeface="Noto Sans SC"/>
                <a:cs typeface="Noto Sans SC"/>
                <a:sym typeface="Noto Sans SC"/>
              </a:rPr>
              <a:t>一个功能完善的多模态数据集质量扫描系统，具备直观交互与实时扫描能力</a:t>
            </a:r>
            <a:r>
              <a:rPr lang="en-US" sz="2000" b="0" i="0" u="none" strike="noStrike" dirty="0">
                <a:solidFill>
                  <a:srgbClr val="4B5563"/>
                </a:solidFill>
                <a:latin typeface="Noto Sans SC"/>
                <a:ea typeface="Noto Sans SC"/>
                <a:cs typeface="Noto Sans SC"/>
                <a:sym typeface="Noto Sans SC"/>
              </a:rPr>
              <a:t>。</a:t>
            </a:r>
          </a:p>
        </p:txBody>
      </p:sp>
      <p:sp>
        <p:nvSpPr>
          <p:cNvPr id="9" name="AutoShape 8">
            <a:extLst>
              <a:ext uri="{FF2B5EF4-FFF2-40B4-BE49-F238E27FC236}">
                <a16:creationId xmlns:a16="http://schemas.microsoft.com/office/drawing/2014/main" id="{1E541206-FB81-FC06-D887-A2B4F8B0F8DB}"/>
              </a:ext>
            </a:extLst>
          </p:cNvPr>
          <p:cNvSpPr/>
          <p:nvPr/>
        </p:nvSpPr>
        <p:spPr>
          <a:xfrm>
            <a:off x="4445000" y="1407627"/>
            <a:ext cx="3302000" cy="2392434"/>
          </a:xfrm>
          <a:prstGeom prst="roundRect">
            <a:avLst>
              <a:gd name="adj" fmla="val 7500"/>
            </a:avLst>
          </a:prstGeom>
          <a:solidFill>
            <a:srgbClr val="FFFFFF">
              <a:alpha val="100000"/>
            </a:srgbClr>
          </a:solidFill>
          <a:ln w="12700" cap="flat" cmpd="sng">
            <a:solidFill>
              <a:srgbClr val="F3F4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p>
        </p:txBody>
      </p:sp>
      <p:sp>
        <p:nvSpPr>
          <p:cNvPr id="10" name="AutoShape 9">
            <a:extLst>
              <a:ext uri="{FF2B5EF4-FFF2-40B4-BE49-F238E27FC236}">
                <a16:creationId xmlns:a16="http://schemas.microsoft.com/office/drawing/2014/main" id="{765BB55E-3664-3038-379A-E8F292FE8ACB}"/>
              </a:ext>
            </a:extLst>
          </p:cNvPr>
          <p:cNvSpPr/>
          <p:nvPr/>
        </p:nvSpPr>
        <p:spPr>
          <a:xfrm>
            <a:off x="4445000" y="1417566"/>
            <a:ext cx="76200" cy="2382495"/>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sz="2000"/>
          </a:p>
        </p:txBody>
      </p:sp>
      <p:pic>
        <p:nvPicPr>
          <p:cNvPr id="11" name="Picture 10">
            <a:extLst>
              <a:ext uri="{FF2B5EF4-FFF2-40B4-BE49-F238E27FC236}">
                <a16:creationId xmlns:a16="http://schemas.microsoft.com/office/drawing/2014/main" id="{1749373B-759D-A884-5D8F-C925003B251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05627" y="1737695"/>
            <a:ext cx="457200" cy="457200"/>
          </a:xfrm>
          <a:prstGeom prst="rect">
            <a:avLst/>
          </a:prstGeom>
        </p:spPr>
      </p:pic>
      <p:sp>
        <p:nvSpPr>
          <p:cNvPr id="12" name="AutoShape 11">
            <a:extLst>
              <a:ext uri="{FF2B5EF4-FFF2-40B4-BE49-F238E27FC236}">
                <a16:creationId xmlns:a16="http://schemas.microsoft.com/office/drawing/2014/main" id="{B5833FE4-C35F-05E6-0F4C-5AFFA4316187}"/>
              </a:ext>
            </a:extLst>
          </p:cNvPr>
          <p:cNvSpPr/>
          <p:nvPr/>
        </p:nvSpPr>
        <p:spPr>
          <a:xfrm>
            <a:off x="5232400" y="2047461"/>
            <a:ext cx="25146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dirty="0" err="1">
                <a:solidFill>
                  <a:srgbClr val="1F2937"/>
                </a:solidFill>
                <a:latin typeface="Noto Sans SC"/>
                <a:ea typeface="Noto Sans SC"/>
                <a:cs typeface="Noto Sans SC"/>
                <a:sym typeface="Noto Sans SC"/>
              </a:rPr>
              <a:t>算法服务集</a:t>
            </a:r>
            <a:endParaRPr lang="en-US" sz="2000" dirty="0"/>
          </a:p>
          <a:p>
            <a:pPr indent="0" algn="l">
              <a:lnSpc>
                <a:spcPct val="116666"/>
              </a:lnSpc>
              <a:spcBef>
                <a:spcPts val="1000"/>
              </a:spcBef>
            </a:pPr>
            <a:r>
              <a:rPr lang="en-US" sz="2000" b="0" i="0" u="none" strike="noStrike" dirty="0" err="1">
                <a:solidFill>
                  <a:srgbClr val="4B5563"/>
                </a:solidFill>
                <a:latin typeface="Noto Sans SC"/>
                <a:ea typeface="Noto Sans SC"/>
                <a:cs typeface="Noto Sans SC"/>
                <a:sym typeface="Noto Sans SC"/>
              </a:rPr>
              <a:t>封装一套包含四大核心检测引擎的</a:t>
            </a:r>
            <a:r>
              <a:rPr lang="en-US" sz="2000" b="0" i="0" u="none" strike="noStrike" dirty="0">
                <a:solidFill>
                  <a:srgbClr val="4B5563"/>
                </a:solidFill>
                <a:latin typeface="Noto Sans SC"/>
                <a:ea typeface="Noto Sans SC"/>
                <a:cs typeface="Noto Sans SC"/>
                <a:sym typeface="Noto Sans SC"/>
              </a:rPr>
              <a:t> Python </a:t>
            </a:r>
            <a:r>
              <a:rPr lang="en-US" sz="2000" b="0" i="0" u="none" strike="noStrike" dirty="0" err="1">
                <a:solidFill>
                  <a:srgbClr val="4B5563"/>
                </a:solidFill>
                <a:latin typeface="Noto Sans SC"/>
                <a:ea typeface="Noto Sans SC"/>
                <a:cs typeface="Noto Sans SC"/>
                <a:sym typeface="Noto Sans SC"/>
              </a:rPr>
              <a:t>算法服务，支持模块化调用与扩展</a:t>
            </a:r>
            <a:r>
              <a:rPr lang="en-US" sz="2000" b="0" i="0" u="none" strike="noStrike" dirty="0">
                <a:solidFill>
                  <a:srgbClr val="4B5563"/>
                </a:solidFill>
                <a:latin typeface="Noto Sans SC"/>
                <a:ea typeface="Noto Sans SC"/>
                <a:cs typeface="Noto Sans SC"/>
                <a:sym typeface="Noto Sans SC"/>
              </a:rPr>
              <a:t>。</a:t>
            </a:r>
          </a:p>
        </p:txBody>
      </p:sp>
      <p:sp>
        <p:nvSpPr>
          <p:cNvPr id="13" name="AutoShape 12">
            <a:extLst>
              <a:ext uri="{FF2B5EF4-FFF2-40B4-BE49-F238E27FC236}">
                <a16:creationId xmlns:a16="http://schemas.microsoft.com/office/drawing/2014/main" id="{A044E923-77AF-6915-04A7-28F99454B3AD}"/>
              </a:ext>
            </a:extLst>
          </p:cNvPr>
          <p:cNvSpPr/>
          <p:nvPr/>
        </p:nvSpPr>
        <p:spPr>
          <a:xfrm>
            <a:off x="8128000" y="1407627"/>
            <a:ext cx="3302000" cy="2392434"/>
          </a:xfrm>
          <a:prstGeom prst="roundRect">
            <a:avLst>
              <a:gd name="adj" fmla="val 7500"/>
            </a:avLst>
          </a:prstGeom>
          <a:solidFill>
            <a:srgbClr val="FFFFFF">
              <a:alpha val="100000"/>
            </a:srgbClr>
          </a:solidFill>
          <a:ln w="12700" cap="flat" cmpd="sng">
            <a:solidFill>
              <a:srgbClr val="F3F4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p>
        </p:txBody>
      </p:sp>
      <p:sp>
        <p:nvSpPr>
          <p:cNvPr id="14" name="AutoShape 13">
            <a:extLst>
              <a:ext uri="{FF2B5EF4-FFF2-40B4-BE49-F238E27FC236}">
                <a16:creationId xmlns:a16="http://schemas.microsoft.com/office/drawing/2014/main" id="{86055BF5-2D60-93DC-4C50-69BE77B1E690}"/>
              </a:ext>
            </a:extLst>
          </p:cNvPr>
          <p:cNvSpPr/>
          <p:nvPr/>
        </p:nvSpPr>
        <p:spPr>
          <a:xfrm>
            <a:off x="8128000" y="1417566"/>
            <a:ext cx="76200" cy="2382495"/>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sz="2000"/>
          </a:p>
        </p:txBody>
      </p:sp>
      <p:pic>
        <p:nvPicPr>
          <p:cNvPr id="15" name="Picture 14">
            <a:extLst>
              <a:ext uri="{FF2B5EF4-FFF2-40B4-BE49-F238E27FC236}">
                <a16:creationId xmlns:a16="http://schemas.microsoft.com/office/drawing/2014/main" id="{258984CA-ABDB-611F-F075-D138FA8108B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99176" y="1747634"/>
            <a:ext cx="457200" cy="457200"/>
          </a:xfrm>
          <a:prstGeom prst="rect">
            <a:avLst/>
          </a:prstGeom>
        </p:spPr>
      </p:pic>
      <p:sp>
        <p:nvSpPr>
          <p:cNvPr id="16" name="AutoShape 15">
            <a:extLst>
              <a:ext uri="{FF2B5EF4-FFF2-40B4-BE49-F238E27FC236}">
                <a16:creationId xmlns:a16="http://schemas.microsoft.com/office/drawing/2014/main" id="{FE9F0855-21B9-8EC7-3265-4C8DD32D5307}"/>
              </a:ext>
            </a:extLst>
          </p:cNvPr>
          <p:cNvSpPr/>
          <p:nvPr/>
        </p:nvSpPr>
        <p:spPr>
          <a:xfrm>
            <a:off x="8915400" y="2047461"/>
            <a:ext cx="232907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dirty="0" err="1">
                <a:solidFill>
                  <a:srgbClr val="1F2937"/>
                </a:solidFill>
                <a:latin typeface="Noto Sans SC"/>
                <a:ea typeface="Noto Sans SC"/>
                <a:cs typeface="Noto Sans SC"/>
                <a:sym typeface="Noto Sans SC"/>
              </a:rPr>
              <a:t>高质量报告</a:t>
            </a:r>
            <a:endParaRPr lang="en-US" sz="2000" dirty="0"/>
          </a:p>
          <a:p>
            <a:pPr indent="0" algn="l">
              <a:lnSpc>
                <a:spcPct val="116666"/>
              </a:lnSpc>
              <a:spcBef>
                <a:spcPts val="1000"/>
              </a:spcBef>
            </a:pPr>
            <a:r>
              <a:rPr lang="en-US" sz="2000" b="0" i="0" u="none" strike="noStrike" dirty="0" err="1">
                <a:solidFill>
                  <a:srgbClr val="4B5563"/>
                </a:solidFill>
                <a:latin typeface="Noto Sans SC"/>
                <a:ea typeface="Noto Sans SC"/>
                <a:cs typeface="Noto Sans SC"/>
                <a:sym typeface="Noto Sans SC"/>
              </a:rPr>
              <a:t>自动生成包含多维度质量指标分析和丰富可视化图表的专业级质量评估报告</a:t>
            </a:r>
            <a:r>
              <a:rPr lang="en-US" sz="2000" b="0" i="0" u="none" strike="noStrike" dirty="0">
                <a:solidFill>
                  <a:srgbClr val="4B5563"/>
                </a:solidFill>
                <a:latin typeface="Noto Sans SC"/>
                <a:ea typeface="Noto Sans SC"/>
                <a:cs typeface="Noto Sans SC"/>
                <a:sym typeface="Noto Sans SC"/>
              </a:rPr>
              <a:t>。</a:t>
            </a:r>
          </a:p>
        </p:txBody>
      </p:sp>
      <p:sp>
        <p:nvSpPr>
          <p:cNvPr id="17" name="AutoShape 16">
            <a:extLst>
              <a:ext uri="{FF2B5EF4-FFF2-40B4-BE49-F238E27FC236}">
                <a16:creationId xmlns:a16="http://schemas.microsoft.com/office/drawing/2014/main" id="{0A8B9E2E-7295-6615-7E25-696F1D237442}"/>
              </a:ext>
            </a:extLst>
          </p:cNvPr>
          <p:cNvSpPr/>
          <p:nvPr/>
        </p:nvSpPr>
        <p:spPr>
          <a:xfrm>
            <a:off x="1651000" y="4191000"/>
            <a:ext cx="4318000" cy="2174460"/>
          </a:xfrm>
          <a:prstGeom prst="roundRect">
            <a:avLst>
              <a:gd name="adj" fmla="val 7500"/>
            </a:avLst>
          </a:prstGeom>
          <a:solidFill>
            <a:srgbClr val="FFFFFF">
              <a:alpha val="100000"/>
            </a:srgbClr>
          </a:solidFill>
          <a:ln w="12700" cap="flat" cmpd="sng">
            <a:solidFill>
              <a:srgbClr val="F3F4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p>
        </p:txBody>
      </p:sp>
      <p:sp>
        <p:nvSpPr>
          <p:cNvPr id="18" name="AutoShape 17">
            <a:extLst>
              <a:ext uri="{FF2B5EF4-FFF2-40B4-BE49-F238E27FC236}">
                <a16:creationId xmlns:a16="http://schemas.microsoft.com/office/drawing/2014/main" id="{A1745C5C-D9F0-E987-FEFB-B29D4C9282F3}"/>
              </a:ext>
            </a:extLst>
          </p:cNvPr>
          <p:cNvSpPr/>
          <p:nvPr/>
        </p:nvSpPr>
        <p:spPr>
          <a:xfrm>
            <a:off x="1651000" y="4191000"/>
            <a:ext cx="50800" cy="2032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sz="2000"/>
          </a:p>
        </p:txBody>
      </p:sp>
      <p:pic>
        <p:nvPicPr>
          <p:cNvPr id="19" name="Picture 18">
            <a:extLst>
              <a:ext uri="{FF2B5EF4-FFF2-40B4-BE49-F238E27FC236}">
                <a16:creationId xmlns:a16="http://schemas.microsoft.com/office/drawing/2014/main" id="{66747F23-350D-9633-A5B1-D74D518EA1A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32000" y="4387024"/>
            <a:ext cx="508000" cy="508000"/>
          </a:xfrm>
          <a:prstGeom prst="rect">
            <a:avLst/>
          </a:prstGeom>
        </p:spPr>
      </p:pic>
      <p:sp>
        <p:nvSpPr>
          <p:cNvPr id="20" name="AutoShape 19">
            <a:extLst>
              <a:ext uri="{FF2B5EF4-FFF2-40B4-BE49-F238E27FC236}">
                <a16:creationId xmlns:a16="http://schemas.microsoft.com/office/drawing/2014/main" id="{691D10DA-1F30-07BE-F86F-7AC010C3FBD9}"/>
              </a:ext>
            </a:extLst>
          </p:cNvPr>
          <p:cNvSpPr/>
          <p:nvPr/>
        </p:nvSpPr>
        <p:spPr>
          <a:xfrm>
            <a:off x="2667000" y="4588012"/>
            <a:ext cx="31496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dirty="0" err="1">
                <a:solidFill>
                  <a:srgbClr val="1F2937"/>
                </a:solidFill>
                <a:latin typeface="Noto Sans SC"/>
                <a:ea typeface="Noto Sans SC"/>
                <a:cs typeface="Noto Sans SC"/>
                <a:sym typeface="Noto Sans SC"/>
              </a:rPr>
              <a:t>演示数据集</a:t>
            </a:r>
            <a:endParaRPr lang="en-US" sz="2000" dirty="0"/>
          </a:p>
          <a:p>
            <a:pPr indent="0" algn="l">
              <a:lnSpc>
                <a:spcPct val="116666"/>
              </a:lnSpc>
              <a:spcBef>
                <a:spcPts val="1000"/>
              </a:spcBef>
            </a:pPr>
            <a:r>
              <a:rPr lang="en-US" sz="2000" b="0" i="0" u="none" strike="noStrike" dirty="0" err="1">
                <a:solidFill>
                  <a:srgbClr val="4B5563"/>
                </a:solidFill>
                <a:latin typeface="Noto Sans SC"/>
                <a:ea typeface="Noto Sans SC"/>
                <a:cs typeface="Noto Sans SC"/>
                <a:sym typeface="Noto Sans SC"/>
              </a:rPr>
              <a:t>构建并开源一套经过精细标注的、包含各类典型质量问题的多模态示例数据集，用于验证与复现</a:t>
            </a:r>
            <a:r>
              <a:rPr lang="en-US" sz="2000" b="0" i="0" u="none" strike="noStrike" dirty="0">
                <a:solidFill>
                  <a:srgbClr val="4B5563"/>
                </a:solidFill>
                <a:latin typeface="Noto Sans SC"/>
                <a:ea typeface="Noto Sans SC"/>
                <a:cs typeface="Noto Sans SC"/>
                <a:sym typeface="Noto Sans SC"/>
              </a:rPr>
              <a:t>。</a:t>
            </a:r>
          </a:p>
        </p:txBody>
      </p:sp>
      <p:sp>
        <p:nvSpPr>
          <p:cNvPr id="22" name="AutoShape 20">
            <a:extLst>
              <a:ext uri="{FF2B5EF4-FFF2-40B4-BE49-F238E27FC236}">
                <a16:creationId xmlns:a16="http://schemas.microsoft.com/office/drawing/2014/main" id="{C0CEB47B-2E0A-8F8A-C063-6D229911745E}"/>
              </a:ext>
            </a:extLst>
          </p:cNvPr>
          <p:cNvSpPr/>
          <p:nvPr/>
        </p:nvSpPr>
        <p:spPr>
          <a:xfrm>
            <a:off x="6223000" y="4190999"/>
            <a:ext cx="4318000" cy="2179567"/>
          </a:xfrm>
          <a:prstGeom prst="roundRect">
            <a:avLst>
              <a:gd name="adj" fmla="val 7500"/>
            </a:avLst>
          </a:prstGeom>
          <a:solidFill>
            <a:srgbClr val="FFFFFF">
              <a:alpha val="100000"/>
            </a:srgbClr>
          </a:solidFill>
          <a:ln w="12700" cap="flat" cmpd="sng">
            <a:solidFill>
              <a:srgbClr val="F3F4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p>
        </p:txBody>
      </p:sp>
      <p:sp>
        <p:nvSpPr>
          <p:cNvPr id="24" name="AutoShape 21">
            <a:extLst>
              <a:ext uri="{FF2B5EF4-FFF2-40B4-BE49-F238E27FC236}">
                <a16:creationId xmlns:a16="http://schemas.microsoft.com/office/drawing/2014/main" id="{8B940646-5AC0-0E62-A3C1-E85DB0BBB517}"/>
              </a:ext>
            </a:extLst>
          </p:cNvPr>
          <p:cNvSpPr/>
          <p:nvPr/>
        </p:nvSpPr>
        <p:spPr>
          <a:xfrm>
            <a:off x="6223000" y="4191000"/>
            <a:ext cx="50800" cy="217446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sz="2000"/>
          </a:p>
        </p:txBody>
      </p:sp>
      <p:pic>
        <p:nvPicPr>
          <p:cNvPr id="25" name="Picture 22">
            <a:extLst>
              <a:ext uri="{FF2B5EF4-FFF2-40B4-BE49-F238E27FC236}">
                <a16:creationId xmlns:a16="http://schemas.microsoft.com/office/drawing/2014/main" id="{F56AEB23-D92A-51BE-A1D6-3BFCD3730A1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04000" y="4416842"/>
            <a:ext cx="508000" cy="508000"/>
          </a:xfrm>
          <a:prstGeom prst="rect">
            <a:avLst/>
          </a:prstGeom>
        </p:spPr>
      </p:pic>
      <p:sp>
        <p:nvSpPr>
          <p:cNvPr id="26" name="AutoShape 23">
            <a:extLst>
              <a:ext uri="{FF2B5EF4-FFF2-40B4-BE49-F238E27FC236}">
                <a16:creationId xmlns:a16="http://schemas.microsoft.com/office/drawing/2014/main" id="{CD61AA47-7B4D-3C94-1484-681597D502A7}"/>
              </a:ext>
            </a:extLst>
          </p:cNvPr>
          <p:cNvSpPr/>
          <p:nvPr/>
        </p:nvSpPr>
        <p:spPr>
          <a:xfrm>
            <a:off x="7239000" y="4637707"/>
            <a:ext cx="3107635"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dirty="0" err="1">
                <a:solidFill>
                  <a:srgbClr val="1F2937"/>
                </a:solidFill>
                <a:latin typeface="Noto Sans SC"/>
                <a:ea typeface="Noto Sans SC"/>
                <a:cs typeface="Noto Sans SC"/>
                <a:sym typeface="Noto Sans SC"/>
              </a:rPr>
              <a:t>学术成果</a:t>
            </a:r>
            <a:endParaRPr lang="en-US" sz="2000" dirty="0"/>
          </a:p>
          <a:p>
            <a:pPr indent="0" algn="l">
              <a:lnSpc>
                <a:spcPct val="116666"/>
              </a:lnSpc>
              <a:spcBef>
                <a:spcPts val="1000"/>
              </a:spcBef>
            </a:pPr>
            <a:r>
              <a:rPr lang="en-US" sz="2000" b="0" i="0" u="none" strike="noStrike" dirty="0" err="1">
                <a:solidFill>
                  <a:srgbClr val="4B5563"/>
                </a:solidFill>
                <a:latin typeface="Noto Sans SC"/>
                <a:ea typeface="Noto Sans SC"/>
                <a:cs typeface="Noto Sans SC"/>
                <a:sym typeface="Noto Sans SC"/>
              </a:rPr>
              <a:t>产出阶段性技术论文或深度研究报告，系统总结项目的研究方法、关键技术突破与实践发现</a:t>
            </a:r>
            <a:r>
              <a:rPr lang="en-US" sz="2000" b="0" i="0" u="none" strike="noStrike" dirty="0">
                <a:solidFill>
                  <a:srgbClr val="4B5563"/>
                </a:solidFill>
                <a:latin typeface="Noto Sans SC"/>
                <a:ea typeface="Noto Sans SC"/>
                <a:cs typeface="Noto Sans SC"/>
                <a:sym typeface="Noto Sans SC"/>
              </a:rPr>
              <a:t>。</a:t>
            </a:r>
          </a:p>
        </p:txBody>
      </p:sp>
    </p:spTree>
    <p:extLst>
      <p:ext uri="{BB962C8B-B14F-4D97-AF65-F5344CB8AC3E}">
        <p14:creationId xmlns:p14="http://schemas.microsoft.com/office/powerpoint/2010/main" val="722762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P spid="9" grpId="0" animBg="1"/>
      <p:bldP spid="10" grpId="0" animBg="1"/>
      <p:bldP spid="12" grpId="0"/>
      <p:bldP spid="13" grpId="0" animBg="1"/>
      <p:bldP spid="14" grpId="0" animBg="1"/>
      <p:bldP spid="16" grpId="0"/>
      <p:bldP spid="17" grpId="0" animBg="1"/>
      <p:bldP spid="18" grpId="0" animBg="1"/>
      <p:bldP spid="20" grpId="0"/>
      <p:bldP spid="22" grpId="0" animBg="1"/>
      <p:bldP spid="24" grpId="0" animBg="1"/>
      <p:bldP spid="26"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2" name="AutoShape 2">
            <a:extLst>
              <a:ext uri="{FF2B5EF4-FFF2-40B4-BE49-F238E27FC236}">
                <a16:creationId xmlns:a16="http://schemas.microsoft.com/office/drawing/2014/main" id="{AEB2E9FF-56C2-FCE5-444A-11B1AF3AB7EC}"/>
              </a:ext>
            </a:extLst>
          </p:cNvPr>
          <p:cNvSpPr/>
          <p:nvPr/>
        </p:nvSpPr>
        <p:spPr>
          <a:xfrm>
            <a:off x="0" y="0"/>
            <a:ext cx="12192000" cy="6858000"/>
          </a:xfrm>
          <a:prstGeom prst="roundRect">
            <a:avLst>
              <a:gd name="adj" fmla="val 0"/>
            </a:avLst>
          </a:prstGeom>
          <a:solidFill>
            <a:schemeClr val="accent1">
              <a:lumMod val="50000"/>
              <a:alpha val="40000"/>
            </a:schemeClr>
          </a:solidFill>
          <a:ln w="25400" cap="flat" cmpd="sng">
            <a:noFill/>
            <a:prstDash val="solid"/>
            <a:round/>
          </a:ln>
        </p:spPr>
        <p:txBody>
          <a:bodyPr vert="horz" wrap="square" lIns="63500" tIns="63500" rIns="63500" bIns="63500" rtlCol="0" anchor="ctr"/>
          <a:lstStyle/>
          <a:p>
            <a:pPr algn="ctr">
              <a:defRPr/>
            </a:pPr>
            <a:endParaRPr dirty="0">
              <a:latin typeface="+mj-ea"/>
              <a:ea typeface="+mj-ea"/>
            </a:endParaRPr>
          </a:p>
        </p:txBody>
      </p:sp>
      <p:sp>
        <p:nvSpPr>
          <p:cNvPr id="18" name="AutoShape 3">
            <a:extLst>
              <a:ext uri="{FF2B5EF4-FFF2-40B4-BE49-F238E27FC236}">
                <a16:creationId xmlns:a16="http://schemas.microsoft.com/office/drawing/2014/main" id="{3D42A6DB-C251-8461-EDF7-9FB7280F85B5}"/>
              </a:ext>
            </a:extLst>
          </p:cNvPr>
          <p:cNvSpPr/>
          <p:nvPr/>
        </p:nvSpPr>
        <p:spPr>
          <a:xfrm>
            <a:off x="0" y="2379869"/>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6000" b="1" i="0" u="none" strike="noStrike" dirty="0" err="1">
                <a:solidFill>
                  <a:schemeClr val="bg1"/>
                </a:solidFill>
                <a:latin typeface="Noto Sans SC"/>
                <a:ea typeface="Noto Sans SC"/>
                <a:cs typeface="Noto Sans SC"/>
                <a:sym typeface="Noto Sans SC"/>
              </a:rPr>
              <a:t>感谢聆听</a:t>
            </a:r>
            <a:r>
              <a:rPr lang="en-US" sz="6000" b="1" i="0" u="none" strike="noStrike" dirty="0">
                <a:solidFill>
                  <a:schemeClr val="bg1"/>
                </a:solidFill>
                <a:latin typeface="Noto Sans SC"/>
                <a:ea typeface="Noto Sans SC"/>
                <a:cs typeface="Noto Sans SC"/>
                <a:sym typeface="Noto Sans SC"/>
              </a:rPr>
              <a:t>！</a:t>
            </a:r>
            <a:endParaRPr lang="en-US" sz="6000" dirty="0">
              <a:solidFill>
                <a:schemeClr val="bg1"/>
              </a:solidFill>
            </a:endParaRPr>
          </a:p>
        </p:txBody>
      </p:sp>
      <p:sp>
        <p:nvSpPr>
          <p:cNvPr id="19" name="AutoShape 4">
            <a:extLst>
              <a:ext uri="{FF2B5EF4-FFF2-40B4-BE49-F238E27FC236}">
                <a16:creationId xmlns:a16="http://schemas.microsoft.com/office/drawing/2014/main" id="{A88446A3-D724-05E5-0855-5E80514EA510}"/>
              </a:ext>
            </a:extLst>
          </p:cNvPr>
          <p:cNvSpPr/>
          <p:nvPr/>
        </p:nvSpPr>
        <p:spPr>
          <a:xfrm>
            <a:off x="0" y="3776869"/>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6000" b="0" i="0" u="none" strike="noStrike" dirty="0" err="1">
                <a:solidFill>
                  <a:srgbClr val="FFFFFF">
                    <a:alpha val="90196"/>
                  </a:srgbClr>
                </a:solidFill>
                <a:latin typeface="Noto Sans SC"/>
                <a:ea typeface="Noto Sans SC"/>
                <a:cs typeface="Noto Sans SC"/>
                <a:sym typeface="Noto Sans SC"/>
              </a:rPr>
              <a:t>敬请各位老师批评指正</a:t>
            </a:r>
            <a:endParaRPr lang="en-US" sz="6000" dirty="0"/>
          </a:p>
        </p:txBody>
      </p:sp>
      <p:sp>
        <p:nvSpPr>
          <p:cNvPr id="20" name="AutoShape 4">
            <a:extLst>
              <a:ext uri="{FF2B5EF4-FFF2-40B4-BE49-F238E27FC236}">
                <a16:creationId xmlns:a16="http://schemas.microsoft.com/office/drawing/2014/main" id="{AD8CD3C1-5A7A-88EA-1646-05EDF62C07C2}"/>
              </a:ext>
            </a:extLst>
          </p:cNvPr>
          <p:cNvSpPr/>
          <p:nvPr/>
        </p:nvSpPr>
        <p:spPr>
          <a:xfrm>
            <a:off x="2345635" y="4639947"/>
            <a:ext cx="7633252" cy="45719"/>
          </a:xfrm>
          <a:prstGeom prst="roundRect">
            <a:avLst>
              <a:gd name="adj" fmla="val 0"/>
            </a:avLst>
          </a:prstGeom>
          <a:solidFill>
            <a:srgbClr val="007AFF">
              <a:alpha val="100000"/>
            </a:srgbClr>
          </a:solidFill>
          <a:ln w="25400" cap="flat" cmpd="sng">
            <a:noFill/>
            <a:prstDash val="solid"/>
            <a:round/>
          </a:ln>
        </p:spPr>
        <p:txBody>
          <a:bodyPr vert="horz" wrap="square" lIns="0" tIns="0" rIns="0" bIns="0" rtlCol="0" anchor="ctr" anchorCtr="0"/>
          <a:lstStyle/>
          <a:p>
            <a:pPr algn="ctr">
              <a:defRPr/>
            </a:pPr>
            <a:endParaRPr>
              <a:latin typeface="+mj-ea"/>
              <a:ea typeface="+mj-ea"/>
            </a:endParaRPr>
          </a:p>
        </p:txBody>
      </p:sp>
      <p:pic>
        <p:nvPicPr>
          <p:cNvPr id="21" name="图片 20">
            <a:extLst>
              <a:ext uri="{FF2B5EF4-FFF2-40B4-BE49-F238E27FC236}">
                <a16:creationId xmlns:a16="http://schemas.microsoft.com/office/drawing/2014/main" id="{DF9BFAAB-A259-DF82-3C34-0F3F1AA3A359}"/>
              </a:ext>
            </a:extLst>
          </p:cNvPr>
          <p:cNvPicPr>
            <a:picLocks noChangeAspect="1"/>
          </p:cNvPicPr>
          <p:nvPr/>
        </p:nvPicPr>
        <p:blipFill>
          <a:blip r:embed="rId4"/>
          <a:stretch>
            <a:fillRect/>
          </a:stretch>
        </p:blipFill>
        <p:spPr>
          <a:xfrm>
            <a:off x="3170583" y="232565"/>
            <a:ext cx="5332073" cy="2046225"/>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43.39464566929138,&quot;left&quot;:493.0929133858268,&quot;top&quot;:151.3179527559055,&quot;width&quot;:359.1}"/>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43.39464566929138,&quot;left&quot;:493.0929133858268,&quot;top&quot;:151.3179527559055,&quot;width&quot;:359.1}"/>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43.39464566929138,&quot;left&quot;:493.0929133858268,&quot;top&quot;:151.3179527559055,&quot;width&quot;:359.1}"/>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43.39464566929138,&quot;left&quot;:493.0929133858268,&quot;top&quot;:151.3179527559055,&quot;width&quot;:359.1}"/>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43.39464566929138,&quot;left&quot;:493.0929133858268,&quot;top&quot;:151.3179527559055,&quot;width&quot;:359.1}"/>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43.39464566929138,&quot;left&quot;:493.0929133858268,&quot;top&quot;:151.3179527559055,&quot;width&quot;:359.1}"/>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43.39464566929138,&quot;left&quot;:493.0929133858268,&quot;top&quot;:151.3179527559055,&quot;width&quot;:359.1}"/>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43.39464566929138,&quot;left&quot;:493.0929133858268,&quot;top&quot;:151.3179527559055,&quot;width&quot;:359.1}"/>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43.39464566929138,&quot;left&quot;:493.0929133858268,&quot;top&quot;:151.3179527559055,&quot;width&quot;:359.1}"/>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43.39464566929138,&quot;left&quot;:493.0929133858268,&quot;top&quot;:151.3179527559055,&quot;width&quot;:359.1}"/>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994</TotalTime>
  <Words>1533</Words>
  <Application>Microsoft Office PowerPoint</Application>
  <PresentationFormat>宽屏</PresentationFormat>
  <Paragraphs>220</Paragraphs>
  <Slides>16</Slides>
  <Notes>16</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16</vt:i4>
      </vt:variant>
    </vt:vector>
  </HeadingPairs>
  <TitlesOfParts>
    <vt:vector size="22" baseType="lpstr">
      <vt:lpstr>Noto Sans SC</vt:lpstr>
      <vt:lpstr>汉仪正圆-55W</vt:lpstr>
      <vt:lpstr>微软雅黑</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Yuet</dc:creator>
  <cp:lastModifiedBy>Yuet Tsing</cp:lastModifiedBy>
  <cp:revision>21</cp:revision>
  <dcterms:modified xsi:type="dcterms:W3CDTF">2026-05-11T07:44:00Z</dcterms:modified>
</cp:coreProperties>
</file>